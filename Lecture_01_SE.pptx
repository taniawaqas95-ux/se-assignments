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2689" autoAdjust="0"/>
  </p:normalViewPr>
  <p:slideViewPr>
    <p:cSldViewPr snapToGrid="0" snapToObjects="1">
      <p:cViewPr varScale="1">
        <p:scale>
          <a:sx n="60" d="100"/>
          <a:sy n="60" d="100"/>
        </p:scale>
        <p:origin x="114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1579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'Today, I don't want you to think of Software Engineering as simply coding. I want you to understand how software evolved, why engineering became necessary, and how Software Engineering is changing in the age of AI.'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students: If programmers can write code, why do we need Software Engineering? Let students answer. Then say: 'Because writing code is only one part of building successful software.'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 students 60 seconds to list software they used today. Discuss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Software powers all these domains. Software has become infrastructure for modern society.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modern customer-support platform may contain all these layers. AI itself is becoming a software engineering problem.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journey today. We will cover computing history, software evolution, the software crisis, birth of SE, modern SE, and AI-native software.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Software is a collection of: Programs, Data, Configuration, Documentation, Libraries, Services, Interfaces that work together to provide functionality.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Hardware is physical, software is logical. Example: Laptop hardware (CPU, RAM, SSD) runs OS and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program is a set of instructions designed to perform a specific task. Example: a Python function to calculate total price.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Software is broader than a single program. It contains source code, libraries, database, configuration, APIs, documentation, and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software directly provides functionality to users. Examples: Word, WhatsApp, Spotify, Chrome, Photoshop, LMS.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System software manages computer resources. Examples: Windows, Linux, Android, macOS, Device Drivers. Layer model: User → Application → OS → Hardware.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Embedded software is inside physical devices. If car braking software fails, we cannot simply restart. Software quality can become a safety issue.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Modern AI software may include ML models, training pipelines, data pipelines, APIs, vector databases, LLMs, prompt management, evaluation systems, and monitoring.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Computing began with manual calculations, mathematical tables, mechanical calculators, and mechanical computation.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Charles Babbage is associated with the Difference Engine and Analytical Engine. The Analytical Engine introduced ideas related to processing, memory, input, and output.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Ada Lovelace is often recognized as an early computer programmer. She recognized that machines could manipulate symbols beyond arithmetic.</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Examples: ENIAC, EDVAC, UNIVAC. Characteristics: Large, Expensive, Limited, Difficult to program.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ENIAC was one of the earliest general-purpose electronic computers. Discussion: "Imagine developing software when your computer occupies an entire room."</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Early programming involved machine code, switches, punch cards, and low-level instructions. Programming was difficult, error-prone, and time-consuming.</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Assembly introduced symbolic instructions such as MOV, ADD, SUB, JMP. This made programming more understandable than raw machine code.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Examples: FORTRAN, COBOL, BASIC, C, Pascal. Major change: Programming became more abstract and human-readable.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Evolution: Machine Code → Assembly → High-Level Languages → OOP → Web → Mobile → Cloud → AI/ML → Generative AI → Agentic AI</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Early software: Small program, single machine, few users. Modern software: Millions of users, cloud, databases, APIs, distributed systems, AI, multiple services.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Calculator is a simple program. Banking platform requires authentication, authorization, database, transactions, security, logging, backup, monitoring, testing. Complexity created the need for engineering.</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software systems became larger, many projects experienced delays, budget overruns, poor quality, reliability problems, and maintenance difficulties. This became known as the Software Crisis.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Common causes of project failure: Poor requirements, poor planning, increasing complexity, inadequate testing, poor communication, poor project management, changing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Client says build a student portal. Developer starts coding. Then client keeps adding features. What went wrong? Requirements were not properly analyzed and managed.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Suppose a developer says: I can build a banking system in one week. Would you trust it? Because banking requires security, reliability, accuracy, testing, backup, monitoring, compliance.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Software failure can cause financial loss, data loss, security breaches, safety problems, legal problems, reputation damage. AI example: Imagine an AI financial assistant gives incorrect information. Who is responsible?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1968 NATO Software Engineering Conference became an important milestone. The term Software Engineering became strongly associated with addressing the problems of large-scale software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Engineering involves planning, design, standards, measurement, verification, quality, risk management, and maintenance. Software development also needs these principles.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Programming asks: "How do I write this code?" Software Engineering asks: "How do we build and maintain this complete system successfully?"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Software engineering is the application of systematic, disciplined, and measurable approaches to the development, operation, maintenance, and evolution of software. Students should understand this rather than simply memorize it.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Basic lifecycle: Requirements → Planning → Design → Implementation → Testing → Deployment → Maintenance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Requirements phase: What should the system do? Example: University system needs Registration, Attendance, Results, Timetable.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Design phase: How will the system work? Decisions include architecture, database, APIs, components, security, technology.</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Implementation: Developers convert designs into working software. Technologies may include Python, Java, C++, JavaScript, C#, Go.</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Testing: Does the software work correctly? Types: Unit testing, Integration testing, System testing, Acceptance testing.</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Deployment: Software becomes available to users. Examples: Cloud, Web server, Mobile app store, Desktop installation.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After deployment: Bugs are fixed, features evolve, security vulnerabilities are patched, performance is improved. Software is rarely 'finished.'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Continuous evolution: Release → Feedback → Bug Fixes → New Requirements → New Release → Monitoring → Improvement → ...</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Modern software engineering involves: Cloud computing, DevOps, CI/CD, Microservices, APIs, Containers, Observability, Cybersecurity, Data Engineering, AI Engineering.</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Application → Server → Database. Modern: Frontend → API Gateway → Microservices → Databases → Cloud → Containers → CI/CD → Monitoring.</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Modern teams combine Development + Operations = DevOps. Focuses on: Automation, CI/CD, Deployment, Infrastructure, Monitoring, Collaboration.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changing SE in two directions: 1. Building AI-powered software (chatbots, recommendation systems, etc.) 2. Using AI to build software (code generation, debugging, testing, etc.)</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help with: Requirements, Design Assistance, Code Generation, Testing, Debugging, Documentation, Code Review. Important: AI assists the engineer. It does not remove the need for engineering judgment.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Examples: GitHub Copilot, Cursor, Claude Code, OpenAI Codex, Gemini-based coding tools, JetBrains AI tools. Current developer surveys show very high adoption.</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AI coding assistant: 'Complete this function.' AI coding agent: 'Implement this feature, inspect the repository, modify the relevant files, run tests, diagnose failures, and prepare the changes.' Key Difference: Assistant → suggests, Agent → can execute multi-step tasks.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workflow: Human Developer → Problem Definition → AI Coding Agent → Code Generation → Tests → Human Review → CI/CD → Deployment → Monitoring. The engineer's role increasingly shifts from simply writing code toward specification, architecture, validation, review, and system ownership.</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Imagine asking AI: 'Build me a banking system.' AI may generate code. But who decides: Architecture? Security? Requirements? Data privacy? Compliance? Testing strategy? Deployment? Monitoring? Risk? Answer: The engineering team.</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systems can produce: Incorrect information, Incorrect code, Outdated approaches, Security vulnerabilities, Fake APIs, Incorrect assumptions. Example: AI generates authenticate_user_without_password(). Looks fine? Is it secure?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help generate unit tests, test cases, edge cases, test data, regression tests. But engineers still need to verify whether the generated tests are correct.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inspect code for bugs, code smells, security issues, complexity, duplication. But AI output must be reviewed and validated.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help convert customer conversation → requirements → user stories → acceptance criteria. Example: Customer says students should easily register. AI can help turn this into structured requirements. But the human team must confirm them.</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help generate API documentation, README files, architecture explanations, code comments, user guides. Documentation is still part of professional software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traditional application follows predefined rules. An AI application may include: Input → AI Model → Inference → Decision → Action. Example: Fraud detection: Transaction → ML Model → Risk Score → Decision → Alert/Approve/Block.</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Examples: Chatbots, Document analysis, Code assistants, Content generation, AI search, Voice assistants. Example: University AI Assistant: Student Question → Retrieval → University Documents → LLM → Answer.</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RAG: User Question → Retriever → Vector Database → Relevant Documents → LLM → Answer. Software engineering questions: Who designs database, retrieval, API, security, evaluation, monitoring? Software engineers + AI engineers.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agents can: Reason about tasks, Use tools, Access APIs, Retrieve information, Execute actions, Coordinate multiple steps.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system might contain: Manager Agent → Research Agent, Data Agent, Email Agent. SE challenge: Now we must engineer agent communication, state, permissions, error handling, observability, evaluation, security.</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Modern AI systems need standardized ways to interact with tools and data. AI Agent → Tool Interface → MCP/API → Database/Service/Application. Example: Check calendar → create meeting → send email → update task.</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SE is moving from Code Completion to Task-Level Automation. An agent may be given: 'Fix the failing authentication tests.' It may: Inspect repository, Find relevant code, Identify failure, Modify code, Run tests, Fix errors, Prepare changes.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introduces new engineering challenges: Hallucination, Prompt injection, Data leakage, Model bias, Model drift, Unsafe tool use, Excessive permissions, Generated vulnerabilities, Non-deterministic behavior. AI increases the importance of SE; it does not eliminate it.</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future workflow is not simply Human OR AI. It is Human + AI + Engineering Process + Testing + Governance. Core principle: AI generates possibilities; engineering establishes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software should be: Correct, Reliable, Secure, Usable, Maintainable, Efficient, Scalable.</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Correctness: Does the software produce the expected result? AI Example: A loan prediction model should produce predictions according to its defined specification and validation criteria.</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Reliability: Can the software perform consistently? AI Example: An AI customer-support system should not randomly fail during normal operation.</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Protect: User data, Credentials, APIs, Databases, AI models, Sensitive documents AI Example: A RAG chatbot should not reveal confidential HR documents to unauthorized users.</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Maintainability: Can engineers modify the software safely? AI Example: AI-generated code must also be: Understandable, Testable, Structured, Documented.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Scalability: Can the system handle growth? Example: 1,000 → 10,000 → 100,000 → 1,000,000 users. AI Example: LLM application scaling from 10 to 10,000 users. Consider: API limits, Model cost, Latency, Database load, Caching.</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Modern systems need: Logs, Metrics, Traces, Alerts. AI systems additionally need: Model performance, Token usage, Latency, Retrieval quality, Hallucination evaluation, Agent actions.</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AI University Assistant. University wants: "An AI assistant that answers student questions."</a:t>
            </a:r>
          </a:p>
          <a:p>
            <a:r>
              <a:t>What do we need? UI, Backend, Authentication, Database</a:t>
            </a:r>
          </a:p>
          <a:p>
            <a:r>
              <a:t>University documents, RAG, LLM, Monitoring, Security</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AI Hallucination. AI assistant tells a student: "Your final exam is tomorrow."</a:t>
            </a:r>
          </a:p>
          <a:p>
            <a:r>
              <a:t>But the official schedule says next week.</a:t>
            </a:r>
          </a:p>
          <a:p>
            <a:r>
              <a:t>Questions: What went wrong? How can we reduce this?</a:t>
            </a:r>
          </a:p>
          <a:p>
            <a:r>
              <a:t>Should the AI answer without evidence? What role does testing play?</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AI Banking Agent. An AI agent has permission to: Check balance, Transfer money, Send notifications</a:t>
            </a:r>
          </a:p>
          <a:p>
            <a:r>
              <a:t>Question: Should the agent automatically transfer money?</a:t>
            </a:r>
          </a:p>
          <a:p>
            <a:r>
              <a:t>Discussion: Authorization, Human approval, Transaction limits</a:t>
            </a:r>
          </a:p>
          <a:p>
            <a:r>
              <a:t>Audit logs, Security, Confirmation</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AI Coding Agent. An AI coding agent generates 5,000 lines of code.</a:t>
            </a:r>
          </a:p>
          <a:p>
            <a:r>
              <a:t>Developer says: "It works, so deploy it."</a:t>
            </a:r>
          </a:p>
          <a:p>
            <a:r>
              <a:t>Question: Would you deploy immediately?</a:t>
            </a:r>
          </a:p>
          <a:p>
            <a:r>
              <a:t>Need: Code review, Testing, Security scanning, CI/CD, Human approval</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AI Hiring System. A company uses AI to rank job candidates.</a:t>
            </a:r>
          </a:p>
          <a:p>
            <a:r>
              <a:t>What can go wrong? Bias, Incorrect ranking, Lack of transparency</a:t>
            </a:r>
          </a:p>
          <a:p>
            <a:r>
              <a:t>Privacy concerns, Poor data quality</a:t>
            </a:r>
          </a:p>
          <a:p>
            <a:r>
              <a:t>Engineering lesson: AI systems require technical + ethical + governance considerations.</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Activity: Software Around You. Find 10 software systems you used today.</a:t>
            </a:r>
          </a:p>
          <a:p>
            <a:r>
              <a:t>For each: Name, Purpose, Users</a:t>
            </a:r>
          </a:p>
          <a:p>
            <a:r>
              <a:t>One possible failure, One quality attribute</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Activity: Traditional vs AI Software. Compare: Traditional Banking App vs AI Banking Assistant</a:t>
            </a:r>
          </a:p>
          <a:p>
            <a:r>
              <a:t>Students identify: Components, Risks, Data</a:t>
            </a:r>
          </a:p>
          <a:p>
            <a:r>
              <a:t>Security, Testing, Users</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Activity: Design an AI System. Groups select one: University AI Assistant, AI Healthcare, AI E-commerce</a:t>
            </a:r>
          </a:p>
          <a:p>
            <a:r>
              <a:t>AI Agriculture, AI Customer Support, AI Banking</a:t>
            </a:r>
          </a:p>
          <a:p>
            <a:r>
              <a:t>Identify: Problem, Users, Data, AI component, Backend, Database, Security, Testing</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Activity: Should AI Make the Decision?. A: AI recommends a movie. B: AI approves a bank loan.</a:t>
            </a:r>
          </a:p>
          <a:p>
            <a:r>
              <a:t>C: AI diagnoses a disease. D: AI sends an email.</a:t>
            </a:r>
          </a:p>
          <a:p>
            <a:r>
              <a:t>E: AI transfers money.</a:t>
            </a:r>
          </a:p>
          <a:p>
            <a:r>
              <a:t>Ask: Should AI act autonomously or require human approval? Why?</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Mini Project: University AI Student Assistant. Build a conceptual design for an AI-powered university assistant. The assistant should answer questions about: Courses, Timetables, Exams, Policies, Faculty, Departments.</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Architecture: Student → Web/Mobile UI → Backend API → Authentication → RAG Pipeline → Vector Database → LLM → University Knowledge Base.</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Functional: Student can ask questions, System retrieves info, AI generates answer, Student can view history, System records feedback. Non-functional: Secure, Reliable, Scalable, Maintainable, Fast.</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Challenge: You have one semester. What will you do first? Correct: Problem → Stakeholders → Requirements → Architecture → Technology → Implementation → Testing → Deployment → Monitoring → Maintenance. Wrong: Open VS Code → Start Coding.</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Coding asks: 'How do I implement this?' Software Engineering asks: 'What should we build, why should we build it, how should we build it, how do we verify it, and how do we maintain it?'</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Modern SE: Human Problem Understanding → Requirements → Architecture → AI-Assisted Development → Automated Testing → Human Review → CI/CD → Deployment → Monitoring → Continuous Improvement.</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 this alone on the slide: AI can generate code. Engineers must build systems. The ability to generate code is becoming increasingly accessible. The valuable engineering skills are understanding problems, designing systems, evaluating solutions, managing risks, validating AI output, and taking responsibility for the final system.</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should leave knowing: 1. Software is more than source code. 2. Software evolved from small programs to complex systems. 3. Software complexity created the Software Crisis. 4. SE emerged as a disciplined approach. 5. Programming is only one part of SE. 6. Software requires requirements, design, testing and maintenance. 7. Modern software uses cloud, DevOps and distributed systems. 8. AI is becoming part of modern software systems. 9. AI is also changing how software is developed. 10. Engineering discipline becomes even more important when AI becomes more autonomous.</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Exit Quiz: 10 questions covering the main topics of the lecture.</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One-Minute Paper: Before leaving, students write: 1. The most important thing I learned today was... 2. The most interesting AI/software example was... 3. One question I still have is...</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Assignment 01: Select one real-world software system. Analyze: A. Purpose, B. Users, C. Stakeholders, D. 5 Functional Requirements, E. 5 Non-Functional Requirements, F. 3 Risks, G. 3 Quality Attributes, H. Where AI could be used, I. What could go wrong if AI is used incorrectly?</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lecture: Software Process Models. We will study: Waterfall Model, Incremental Model, Evolutionary Model, Spiral Model. Pre-Class Question: Should every software project follow the same development process?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en.wikipedia.org/wiki/UNIVAC"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0"/>
            <a:ext cx="12191695" cy="182880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71600"/>
            <a:ext cx="10058400" cy="1097280"/>
          </a:xfrm>
          <a:prstGeom prst="rect">
            <a:avLst/>
          </a:prstGeom>
          <a:noFill/>
        </p:spPr>
        <p:txBody>
          <a:bodyPr wrap="square">
            <a:spAutoFit/>
          </a:bodyPr>
          <a:lstStyle/>
          <a:p>
            <a:pPr algn="ctr">
              <a:defRPr sz="5600" b="1">
                <a:solidFill>
                  <a:srgbClr val="FFFFFF"/>
                </a:solidFill>
                <a:latin typeface="Calibri"/>
              </a:defRPr>
            </a:pPr>
            <a:r>
              <a:t>Software Engineering</a:t>
            </a:r>
          </a:p>
        </p:txBody>
      </p:sp>
      <p:sp>
        <p:nvSpPr>
          <p:cNvPr id="6" name="TextBox 5"/>
          <p:cNvSpPr txBox="1"/>
          <p:nvPr/>
        </p:nvSpPr>
        <p:spPr>
          <a:xfrm>
            <a:off x="914400" y="2560320"/>
            <a:ext cx="10058400" cy="731520"/>
          </a:xfrm>
          <a:prstGeom prst="rect">
            <a:avLst/>
          </a:prstGeom>
          <a:noFill/>
        </p:spPr>
        <p:txBody>
          <a:bodyPr wrap="square">
            <a:spAutoFit/>
          </a:bodyPr>
          <a:lstStyle/>
          <a:p>
            <a:pPr algn="ctr">
              <a:defRPr sz="4400" b="0">
                <a:solidFill>
                  <a:srgbClr val="00B4D8"/>
                </a:solidFill>
                <a:latin typeface="Calibri"/>
              </a:defRPr>
            </a:pPr>
            <a:r>
              <a:t>Lecture 01</a:t>
            </a:r>
          </a:p>
        </p:txBody>
      </p:sp>
      <p:sp>
        <p:nvSpPr>
          <p:cNvPr id="7" name="TextBox 6"/>
          <p:cNvSpPr txBox="1"/>
          <p:nvPr/>
        </p:nvSpPr>
        <p:spPr>
          <a:xfrm>
            <a:off x="1371600" y="3474720"/>
            <a:ext cx="9144000" cy="731520"/>
          </a:xfrm>
          <a:prstGeom prst="rect">
            <a:avLst/>
          </a:prstGeom>
          <a:noFill/>
        </p:spPr>
        <p:txBody>
          <a:bodyPr wrap="square">
            <a:spAutoFit/>
          </a:bodyPr>
          <a:lstStyle/>
          <a:p>
            <a:pPr algn="ctr">
              <a:defRPr sz="3000" b="1">
                <a:solidFill>
                  <a:srgbClr val="FFFFFF"/>
                </a:solidFill>
                <a:latin typeface="Calibri"/>
              </a:defRPr>
            </a:pPr>
            <a:r>
              <a:t>From Early Programs to AI-Native Software Systems</a:t>
            </a:r>
          </a:p>
        </p:txBody>
      </p:sp>
      <p:sp>
        <p:nvSpPr>
          <p:cNvPr id="8" name="Rounded Rectangle 7"/>
          <p:cNvSpPr/>
          <p:nvPr/>
        </p:nvSpPr>
        <p:spPr>
          <a:xfrm>
            <a:off x="1828800" y="4572000"/>
            <a:ext cx="8229600" cy="10972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4663440"/>
            <a:ext cx="7863840" cy="914400"/>
          </a:xfrm>
          <a:prstGeom prst="rect">
            <a:avLst/>
          </a:prstGeom>
          <a:noFill/>
        </p:spPr>
        <p:txBody>
          <a:bodyPr wrap="square">
            <a:spAutoFit/>
          </a:bodyPr>
          <a:lstStyle/>
          <a:p>
            <a:pPr algn="ctr">
              <a:defRPr sz="2000" b="0">
                <a:solidFill>
                  <a:srgbClr val="FFFFFF"/>
                </a:solidFill>
                <a:latin typeface="Calibri"/>
              </a:defRPr>
            </a:pPr>
            <a:r>
              <a:t>Key Question: How did software evolve from simple programs into today's cloud, AI, and autonomous systems?</a:t>
            </a:r>
          </a:p>
        </p:txBody>
      </p:sp>
      <p:sp>
        <p:nvSpPr>
          <p:cNvPr id="10" name="TextBox 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1 — OPENING &amp; MOTIVATION</a:t>
            </a:r>
          </a:p>
        </p:txBody>
      </p:sp>
      <p:sp>
        <p:nvSpPr>
          <p:cNvPr id="5" name="Oval 4"/>
          <p:cNvSpPr/>
          <p:nvPr/>
        </p:nvSpPr>
        <p:spPr>
          <a:xfrm>
            <a:off x="5303520" y="1645920"/>
            <a:ext cx="1645920" cy="164592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0" y="2057400"/>
            <a:ext cx="1645920" cy="822960"/>
          </a:xfrm>
          <a:prstGeom prst="rect">
            <a:avLst/>
          </a:prstGeom>
          <a:noFill/>
        </p:spPr>
        <p:txBody>
          <a:bodyPr wrap="none">
            <a:spAutoFit/>
          </a:bodyPr>
          <a:lstStyle/>
          <a:p>
            <a:pPr algn="ctr">
              <a:defRPr sz="6000" b="1">
                <a:solidFill>
                  <a:srgbClr val="FFFFFF"/>
                </a:solidFill>
              </a:defRPr>
            </a:pPr>
            <a:r>
              <a:t>?</a:t>
            </a:r>
          </a:p>
        </p:txBody>
      </p:sp>
      <p:sp>
        <p:nvSpPr>
          <p:cNvPr id="7" name="TextBox 6"/>
          <p:cNvSpPr txBox="1"/>
          <p:nvPr/>
        </p:nvSpPr>
        <p:spPr>
          <a:xfrm>
            <a:off x="914400" y="3474720"/>
            <a:ext cx="10058400" cy="731520"/>
          </a:xfrm>
          <a:prstGeom prst="rect">
            <a:avLst/>
          </a:prstGeom>
          <a:noFill/>
        </p:spPr>
        <p:txBody>
          <a:bodyPr wrap="square">
            <a:spAutoFit/>
          </a:bodyPr>
          <a:lstStyle/>
          <a:p>
            <a:pPr algn="ctr">
              <a:defRPr sz="4000" b="1">
                <a:solidFill>
                  <a:srgbClr val="1A3A5C"/>
                </a:solidFill>
                <a:latin typeface="Calibri"/>
              </a:defRPr>
            </a:pPr>
            <a:r>
              <a:t>Why Do We Need Software Engineering?</a:t>
            </a:r>
          </a:p>
        </p:txBody>
      </p:sp>
      <p:sp>
        <p:nvSpPr>
          <p:cNvPr id="8" name="Rounded Rectangle 7"/>
          <p:cNvSpPr/>
          <p:nvPr/>
        </p:nvSpPr>
        <p:spPr>
          <a:xfrm>
            <a:off x="1828800" y="4572000"/>
            <a:ext cx="8229600" cy="164592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03120" y="4754880"/>
            <a:ext cx="7680960" cy="1280160"/>
          </a:xfrm>
          <a:prstGeom prst="rect">
            <a:avLst/>
          </a:prstGeom>
          <a:noFill/>
        </p:spPr>
        <p:txBody>
          <a:bodyPr wrap="square">
            <a:spAutoFit/>
          </a:bodyPr>
          <a:lstStyle/>
          <a:p>
            <a:pPr algn="ctr">
              <a:defRPr sz="2000" b="0">
                <a:solidFill>
                  <a:srgbClr val="1A3A5C"/>
                </a:solidFill>
                <a:latin typeface="Calibri"/>
              </a:defRPr>
            </a:pPr>
            <a:r>
              <a:t>"Writing code is only one part of building successful software. Software Engineering provides the discipline, process, and practices needed to deliver reliable, maintainable, and scalable systems."</a:t>
            </a:r>
          </a:p>
        </p:txBody>
      </p:sp>
      <p:sp>
        <p:nvSpPr>
          <p:cNvPr id="10" name="Rectangle 9"/>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ACTIVITY — Think About Your Morning</a:t>
            </a:r>
          </a:p>
        </p:txBody>
      </p:sp>
      <p:sp>
        <p:nvSpPr>
          <p:cNvPr id="5" name="TextBox 4"/>
          <p:cNvSpPr txBox="1"/>
          <p:nvPr/>
        </p:nvSpPr>
        <p:spPr>
          <a:xfrm>
            <a:off x="914400" y="1371600"/>
            <a:ext cx="10058400" cy="548640"/>
          </a:xfrm>
          <a:prstGeom prst="rect">
            <a:avLst/>
          </a:prstGeom>
          <a:noFill/>
        </p:spPr>
        <p:txBody>
          <a:bodyPr wrap="square">
            <a:spAutoFit/>
          </a:bodyPr>
          <a:lstStyle/>
          <a:p>
            <a:pPr algn="ctr">
              <a:defRPr sz="3200" b="1">
                <a:solidFill>
                  <a:srgbClr val="1A3A5C"/>
                </a:solidFill>
                <a:latin typeface="Calibri"/>
              </a:defRPr>
            </a:pPr>
            <a:r>
              <a:t>How much software have you already used today?</a:t>
            </a:r>
          </a:p>
        </p:txBody>
      </p:sp>
      <p:sp>
        <p:nvSpPr>
          <p:cNvPr id="6" name="Oval 5"/>
          <p:cNvSpPr/>
          <p:nvPr/>
        </p:nvSpPr>
        <p:spPr>
          <a:xfrm>
            <a:off x="1371600" y="2286000"/>
            <a:ext cx="1280160" cy="1280160"/>
          </a:xfrm>
          <a:prstGeom prst="ellipse">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2606040"/>
            <a:ext cx="1280160" cy="640080"/>
          </a:xfrm>
          <a:prstGeom prst="rect">
            <a:avLst/>
          </a:prstGeom>
          <a:noFill/>
        </p:spPr>
        <p:txBody>
          <a:bodyPr wrap="none">
            <a:spAutoFit/>
          </a:bodyPr>
          <a:lstStyle/>
          <a:p>
            <a:pPr algn="ctr">
              <a:defRPr sz="2400" b="1">
                <a:solidFill>
                  <a:srgbClr val="FFFFFF"/>
                </a:solidFill>
              </a:defRPr>
            </a:pPr>
            <a:r>
              <a:t>Sm</a:t>
            </a:r>
          </a:p>
        </p:txBody>
      </p:sp>
      <p:sp>
        <p:nvSpPr>
          <p:cNvPr id="8" name="TextBox 7"/>
          <p:cNvSpPr txBox="1"/>
          <p:nvPr/>
        </p:nvSpPr>
        <p:spPr>
          <a:xfrm>
            <a:off x="1005840" y="3657600"/>
            <a:ext cx="2011680" cy="457200"/>
          </a:xfrm>
          <a:prstGeom prst="rect">
            <a:avLst/>
          </a:prstGeom>
          <a:noFill/>
        </p:spPr>
        <p:txBody>
          <a:bodyPr wrap="square">
            <a:spAutoFit/>
          </a:bodyPr>
          <a:lstStyle/>
          <a:p>
            <a:pPr algn="ctr">
              <a:defRPr sz="1600" b="1">
                <a:solidFill>
                  <a:srgbClr val="1A1A2E"/>
                </a:solidFill>
                <a:latin typeface="Calibri"/>
              </a:defRPr>
            </a:pPr>
            <a:r>
              <a:t>Smartphone</a:t>
            </a:r>
          </a:p>
        </p:txBody>
      </p:sp>
      <p:sp>
        <p:nvSpPr>
          <p:cNvPr id="9" name="Oval 8"/>
          <p:cNvSpPr/>
          <p:nvPr/>
        </p:nvSpPr>
        <p:spPr>
          <a:xfrm>
            <a:off x="3931920" y="2286000"/>
            <a:ext cx="1280160" cy="1280160"/>
          </a:xfrm>
          <a:prstGeom prst="ellipse">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0" y="2606040"/>
            <a:ext cx="1280160" cy="640080"/>
          </a:xfrm>
          <a:prstGeom prst="rect">
            <a:avLst/>
          </a:prstGeom>
          <a:noFill/>
        </p:spPr>
        <p:txBody>
          <a:bodyPr wrap="none">
            <a:spAutoFit/>
          </a:bodyPr>
          <a:lstStyle/>
          <a:p>
            <a:pPr algn="ctr">
              <a:defRPr sz="2400" b="1">
                <a:solidFill>
                  <a:srgbClr val="FFFFFF"/>
                </a:solidFill>
              </a:defRPr>
            </a:pPr>
            <a:r>
              <a:t>Wh</a:t>
            </a:r>
          </a:p>
        </p:txBody>
      </p:sp>
      <p:sp>
        <p:nvSpPr>
          <p:cNvPr id="11" name="TextBox 10"/>
          <p:cNvSpPr txBox="1"/>
          <p:nvPr/>
        </p:nvSpPr>
        <p:spPr>
          <a:xfrm>
            <a:off x="3566160" y="3657600"/>
            <a:ext cx="2011680" cy="457200"/>
          </a:xfrm>
          <a:prstGeom prst="rect">
            <a:avLst/>
          </a:prstGeom>
          <a:noFill/>
        </p:spPr>
        <p:txBody>
          <a:bodyPr wrap="square">
            <a:spAutoFit/>
          </a:bodyPr>
          <a:lstStyle/>
          <a:p>
            <a:pPr algn="ctr">
              <a:defRPr sz="1600" b="1">
                <a:solidFill>
                  <a:srgbClr val="1A1A2E"/>
                </a:solidFill>
                <a:latin typeface="Calibri"/>
              </a:defRPr>
            </a:pPr>
            <a:r>
              <a:t>WhatsApp</a:t>
            </a:r>
          </a:p>
        </p:txBody>
      </p:sp>
      <p:sp>
        <p:nvSpPr>
          <p:cNvPr id="12" name="Oval 11"/>
          <p:cNvSpPr/>
          <p:nvPr/>
        </p:nvSpPr>
        <p:spPr>
          <a:xfrm>
            <a:off x="6492240" y="2286000"/>
            <a:ext cx="1280160" cy="128016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606040"/>
            <a:ext cx="1280160" cy="640080"/>
          </a:xfrm>
          <a:prstGeom prst="rect">
            <a:avLst/>
          </a:prstGeom>
          <a:noFill/>
        </p:spPr>
        <p:txBody>
          <a:bodyPr wrap="none">
            <a:spAutoFit/>
          </a:bodyPr>
          <a:lstStyle/>
          <a:p>
            <a:pPr algn="ctr">
              <a:defRPr sz="2400" b="1">
                <a:solidFill>
                  <a:srgbClr val="FFFFFF"/>
                </a:solidFill>
              </a:defRPr>
            </a:pPr>
            <a:r>
              <a:t>Go</a:t>
            </a:r>
          </a:p>
        </p:txBody>
      </p:sp>
      <p:sp>
        <p:nvSpPr>
          <p:cNvPr id="14" name="TextBox 13"/>
          <p:cNvSpPr txBox="1"/>
          <p:nvPr/>
        </p:nvSpPr>
        <p:spPr>
          <a:xfrm>
            <a:off x="6126480" y="3657600"/>
            <a:ext cx="2011680" cy="457200"/>
          </a:xfrm>
          <a:prstGeom prst="rect">
            <a:avLst/>
          </a:prstGeom>
          <a:noFill/>
        </p:spPr>
        <p:txBody>
          <a:bodyPr wrap="square">
            <a:spAutoFit/>
          </a:bodyPr>
          <a:lstStyle/>
          <a:p>
            <a:pPr algn="ctr">
              <a:defRPr sz="1600" b="1">
                <a:solidFill>
                  <a:srgbClr val="1A1A2E"/>
                </a:solidFill>
                <a:latin typeface="Calibri"/>
              </a:defRPr>
            </a:pPr>
            <a:r>
              <a:t>Google</a:t>
            </a:r>
          </a:p>
        </p:txBody>
      </p:sp>
      <p:sp>
        <p:nvSpPr>
          <p:cNvPr id="15" name="Oval 14"/>
          <p:cNvSpPr/>
          <p:nvPr/>
        </p:nvSpPr>
        <p:spPr>
          <a:xfrm>
            <a:off x="9052559" y="2286000"/>
            <a:ext cx="1280160" cy="128016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52559" y="2606040"/>
            <a:ext cx="1280160" cy="640080"/>
          </a:xfrm>
          <a:prstGeom prst="rect">
            <a:avLst/>
          </a:prstGeom>
          <a:noFill/>
        </p:spPr>
        <p:txBody>
          <a:bodyPr wrap="none">
            <a:spAutoFit/>
          </a:bodyPr>
          <a:lstStyle/>
          <a:p>
            <a:pPr algn="ctr">
              <a:defRPr sz="2400" b="1">
                <a:solidFill>
                  <a:srgbClr val="FFFFFF"/>
                </a:solidFill>
              </a:defRPr>
            </a:pPr>
            <a:r>
              <a:t>Yo</a:t>
            </a:r>
          </a:p>
        </p:txBody>
      </p:sp>
      <p:sp>
        <p:nvSpPr>
          <p:cNvPr id="17" name="TextBox 16"/>
          <p:cNvSpPr txBox="1"/>
          <p:nvPr/>
        </p:nvSpPr>
        <p:spPr>
          <a:xfrm>
            <a:off x="8686799" y="3657600"/>
            <a:ext cx="2011680" cy="457200"/>
          </a:xfrm>
          <a:prstGeom prst="rect">
            <a:avLst/>
          </a:prstGeom>
          <a:noFill/>
        </p:spPr>
        <p:txBody>
          <a:bodyPr wrap="square">
            <a:spAutoFit/>
          </a:bodyPr>
          <a:lstStyle/>
          <a:p>
            <a:pPr algn="ctr">
              <a:defRPr sz="1600" b="1">
                <a:solidFill>
                  <a:srgbClr val="1A1A2E"/>
                </a:solidFill>
                <a:latin typeface="Calibri"/>
              </a:defRPr>
            </a:pPr>
            <a:r>
              <a:t>YouTube</a:t>
            </a:r>
          </a:p>
        </p:txBody>
      </p:sp>
      <p:sp>
        <p:nvSpPr>
          <p:cNvPr id="18" name="Oval 17"/>
          <p:cNvSpPr/>
          <p:nvPr/>
        </p:nvSpPr>
        <p:spPr>
          <a:xfrm>
            <a:off x="1371600" y="4114800"/>
            <a:ext cx="1280160" cy="128016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71600" y="4434840"/>
            <a:ext cx="1280160" cy="640080"/>
          </a:xfrm>
          <a:prstGeom prst="rect">
            <a:avLst/>
          </a:prstGeom>
          <a:noFill/>
        </p:spPr>
        <p:txBody>
          <a:bodyPr wrap="none">
            <a:spAutoFit/>
          </a:bodyPr>
          <a:lstStyle/>
          <a:p>
            <a:pPr algn="ctr">
              <a:defRPr sz="2400" b="1">
                <a:solidFill>
                  <a:srgbClr val="FFFFFF"/>
                </a:solidFill>
              </a:defRPr>
            </a:pPr>
            <a:r>
              <a:t>Ba</a:t>
            </a:r>
          </a:p>
        </p:txBody>
      </p:sp>
      <p:sp>
        <p:nvSpPr>
          <p:cNvPr id="20" name="TextBox 19"/>
          <p:cNvSpPr txBox="1"/>
          <p:nvPr/>
        </p:nvSpPr>
        <p:spPr>
          <a:xfrm>
            <a:off x="1005840" y="5486400"/>
            <a:ext cx="2011680" cy="457200"/>
          </a:xfrm>
          <a:prstGeom prst="rect">
            <a:avLst/>
          </a:prstGeom>
          <a:noFill/>
        </p:spPr>
        <p:txBody>
          <a:bodyPr wrap="square">
            <a:spAutoFit/>
          </a:bodyPr>
          <a:lstStyle/>
          <a:p>
            <a:pPr algn="ctr">
              <a:defRPr sz="1600" b="1">
                <a:solidFill>
                  <a:srgbClr val="1A1A2E"/>
                </a:solidFill>
                <a:latin typeface="Calibri"/>
              </a:defRPr>
            </a:pPr>
            <a:r>
              <a:t>Banking</a:t>
            </a:r>
          </a:p>
        </p:txBody>
      </p:sp>
      <p:sp>
        <p:nvSpPr>
          <p:cNvPr id="21" name="Oval 20"/>
          <p:cNvSpPr/>
          <p:nvPr/>
        </p:nvSpPr>
        <p:spPr>
          <a:xfrm>
            <a:off x="3931920" y="4114800"/>
            <a:ext cx="1280160" cy="128016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931920" y="4434840"/>
            <a:ext cx="1280160" cy="640080"/>
          </a:xfrm>
          <a:prstGeom prst="rect">
            <a:avLst/>
          </a:prstGeom>
          <a:noFill/>
        </p:spPr>
        <p:txBody>
          <a:bodyPr wrap="none">
            <a:spAutoFit/>
          </a:bodyPr>
          <a:lstStyle/>
          <a:p>
            <a:pPr algn="ctr">
              <a:defRPr sz="2400" b="1">
                <a:solidFill>
                  <a:srgbClr val="FFFFFF"/>
                </a:solidFill>
              </a:defRPr>
            </a:pPr>
            <a:r>
              <a:t>GP</a:t>
            </a:r>
          </a:p>
        </p:txBody>
      </p:sp>
      <p:sp>
        <p:nvSpPr>
          <p:cNvPr id="23" name="TextBox 22"/>
          <p:cNvSpPr txBox="1"/>
          <p:nvPr/>
        </p:nvSpPr>
        <p:spPr>
          <a:xfrm>
            <a:off x="3566160" y="5486400"/>
            <a:ext cx="2011680" cy="457200"/>
          </a:xfrm>
          <a:prstGeom prst="rect">
            <a:avLst/>
          </a:prstGeom>
          <a:noFill/>
        </p:spPr>
        <p:txBody>
          <a:bodyPr wrap="square">
            <a:spAutoFit/>
          </a:bodyPr>
          <a:lstStyle/>
          <a:p>
            <a:pPr algn="ctr">
              <a:defRPr sz="1600" b="1">
                <a:solidFill>
                  <a:srgbClr val="1A1A2E"/>
                </a:solidFill>
                <a:latin typeface="Calibri"/>
              </a:defRPr>
            </a:pPr>
            <a:r>
              <a:t>GPS</a:t>
            </a:r>
          </a:p>
        </p:txBody>
      </p:sp>
      <p:sp>
        <p:nvSpPr>
          <p:cNvPr id="24" name="Oval 23"/>
          <p:cNvSpPr/>
          <p:nvPr/>
        </p:nvSpPr>
        <p:spPr>
          <a:xfrm>
            <a:off x="6492240" y="4114800"/>
            <a:ext cx="1280160" cy="128016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92240" y="4434840"/>
            <a:ext cx="1280160" cy="640080"/>
          </a:xfrm>
          <a:prstGeom prst="rect">
            <a:avLst/>
          </a:prstGeom>
          <a:noFill/>
        </p:spPr>
        <p:txBody>
          <a:bodyPr wrap="none">
            <a:spAutoFit/>
          </a:bodyPr>
          <a:lstStyle/>
          <a:p>
            <a:pPr algn="ctr">
              <a:defRPr sz="2400" b="1">
                <a:solidFill>
                  <a:srgbClr val="FFFFFF"/>
                </a:solidFill>
              </a:defRPr>
            </a:pPr>
            <a:r>
              <a:t>AI</a:t>
            </a:r>
          </a:p>
        </p:txBody>
      </p:sp>
      <p:sp>
        <p:nvSpPr>
          <p:cNvPr id="26" name="TextBox 25"/>
          <p:cNvSpPr txBox="1"/>
          <p:nvPr/>
        </p:nvSpPr>
        <p:spPr>
          <a:xfrm>
            <a:off x="6126480" y="5486400"/>
            <a:ext cx="2011680" cy="457200"/>
          </a:xfrm>
          <a:prstGeom prst="rect">
            <a:avLst/>
          </a:prstGeom>
          <a:noFill/>
        </p:spPr>
        <p:txBody>
          <a:bodyPr wrap="square">
            <a:spAutoFit/>
          </a:bodyPr>
          <a:lstStyle/>
          <a:p>
            <a:pPr algn="ctr">
              <a:defRPr sz="1600" b="1">
                <a:solidFill>
                  <a:srgbClr val="1A1A2E"/>
                </a:solidFill>
                <a:latin typeface="Calibri"/>
              </a:defRPr>
            </a:pPr>
            <a:r>
              <a:t>AI Chatbot</a:t>
            </a:r>
          </a:p>
        </p:txBody>
      </p:sp>
      <p:sp>
        <p:nvSpPr>
          <p:cNvPr id="27" name="Oval 26"/>
          <p:cNvSpPr/>
          <p:nvPr/>
        </p:nvSpPr>
        <p:spPr>
          <a:xfrm>
            <a:off x="9052559" y="4114800"/>
            <a:ext cx="1280160" cy="128016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52559" y="4434840"/>
            <a:ext cx="1280160" cy="640080"/>
          </a:xfrm>
          <a:prstGeom prst="rect">
            <a:avLst/>
          </a:prstGeom>
          <a:noFill/>
        </p:spPr>
        <p:txBody>
          <a:bodyPr wrap="none">
            <a:spAutoFit/>
          </a:bodyPr>
          <a:lstStyle/>
          <a:p>
            <a:pPr algn="ctr">
              <a:defRPr sz="2400" b="1">
                <a:solidFill>
                  <a:srgbClr val="FFFFFF"/>
                </a:solidFill>
              </a:defRPr>
            </a:pPr>
            <a:r>
              <a:t>So</a:t>
            </a:r>
          </a:p>
        </p:txBody>
      </p:sp>
      <p:sp>
        <p:nvSpPr>
          <p:cNvPr id="29" name="TextBox 28"/>
          <p:cNvSpPr txBox="1"/>
          <p:nvPr/>
        </p:nvSpPr>
        <p:spPr>
          <a:xfrm>
            <a:off x="8686799" y="5486400"/>
            <a:ext cx="2011680" cy="457200"/>
          </a:xfrm>
          <a:prstGeom prst="rect">
            <a:avLst/>
          </a:prstGeom>
          <a:noFill/>
        </p:spPr>
        <p:txBody>
          <a:bodyPr wrap="square">
            <a:spAutoFit/>
          </a:bodyPr>
          <a:lstStyle/>
          <a:p>
            <a:pPr algn="ctr">
              <a:defRPr sz="1600" b="1">
                <a:solidFill>
                  <a:srgbClr val="1A1A2E"/>
                </a:solidFill>
                <a:latin typeface="Calibri"/>
              </a:defRPr>
            </a:pPr>
            <a:r>
              <a:t>Social Media</a:t>
            </a:r>
          </a:p>
        </p:txBody>
      </p:sp>
      <p:sp>
        <p:nvSpPr>
          <p:cNvPr id="30" name="Rounded Rectangle 29"/>
          <p:cNvSpPr/>
          <p:nvPr/>
        </p:nvSpPr>
        <p:spPr>
          <a:xfrm>
            <a:off x="3200400" y="5806440"/>
            <a:ext cx="5486400" cy="68580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80" y="5795889"/>
            <a:ext cx="5120640" cy="640080"/>
          </a:xfrm>
          <a:prstGeom prst="rect">
            <a:avLst/>
          </a:prstGeom>
          <a:noFill/>
        </p:spPr>
        <p:txBody>
          <a:bodyPr wrap="square">
            <a:spAutoFit/>
          </a:bodyPr>
          <a:lstStyle/>
          <a:p>
            <a:pPr algn="ctr">
              <a:defRPr sz="2200" b="1">
                <a:solidFill>
                  <a:srgbClr val="FFFFFF"/>
                </a:solidFill>
                <a:latin typeface="Calibri"/>
              </a:defRPr>
            </a:pPr>
            <a:r>
              <a:rPr dirty="0"/>
              <a:t>Give students 60 seconds to list software they used today</a:t>
            </a:r>
          </a:p>
        </p:txBody>
      </p:sp>
      <p:sp>
        <p:nvSpPr>
          <p:cNvPr id="32" name="Rectangle 31"/>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Software Is Everywhere</a:t>
            </a:r>
          </a:p>
        </p:txBody>
      </p:sp>
      <p:sp>
        <p:nvSpPr>
          <p:cNvPr id="5" name="Oval 4"/>
          <p:cNvSpPr/>
          <p:nvPr/>
        </p:nvSpPr>
        <p:spPr>
          <a:xfrm>
            <a:off x="1371600" y="1645920"/>
            <a:ext cx="1645920" cy="1645920"/>
          </a:xfrm>
          <a:prstGeom prst="ellipse">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2103120"/>
            <a:ext cx="1645920" cy="640080"/>
          </a:xfrm>
          <a:prstGeom prst="rect">
            <a:avLst/>
          </a:prstGeom>
          <a:noFill/>
        </p:spPr>
        <p:txBody>
          <a:bodyPr wrap="square">
            <a:spAutoFit/>
          </a:bodyPr>
          <a:lstStyle/>
          <a:p>
            <a:pPr algn="ctr">
              <a:defRPr sz="2000" b="1">
                <a:solidFill>
                  <a:srgbClr val="FFFFFF"/>
                </a:solidFill>
                <a:latin typeface="Calibri"/>
              </a:defRPr>
            </a:pPr>
            <a:r>
              <a:t>Education</a:t>
            </a:r>
          </a:p>
        </p:txBody>
      </p:sp>
      <p:sp>
        <p:nvSpPr>
          <p:cNvPr id="7" name="Oval 6"/>
          <p:cNvSpPr/>
          <p:nvPr/>
        </p:nvSpPr>
        <p:spPr>
          <a:xfrm>
            <a:off x="3931920" y="1645920"/>
            <a:ext cx="1645920" cy="1645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931920" y="2103120"/>
            <a:ext cx="1645920" cy="640080"/>
          </a:xfrm>
          <a:prstGeom prst="rect">
            <a:avLst/>
          </a:prstGeom>
          <a:noFill/>
        </p:spPr>
        <p:txBody>
          <a:bodyPr wrap="square">
            <a:spAutoFit/>
          </a:bodyPr>
          <a:lstStyle/>
          <a:p>
            <a:pPr algn="ctr">
              <a:defRPr sz="2000" b="1">
                <a:solidFill>
                  <a:srgbClr val="FFFFFF"/>
                </a:solidFill>
                <a:latin typeface="Calibri"/>
              </a:defRPr>
            </a:pPr>
            <a:r>
              <a:t>Banking</a:t>
            </a:r>
          </a:p>
        </p:txBody>
      </p:sp>
      <p:sp>
        <p:nvSpPr>
          <p:cNvPr id="9" name="Oval 8"/>
          <p:cNvSpPr/>
          <p:nvPr/>
        </p:nvSpPr>
        <p:spPr>
          <a:xfrm>
            <a:off x="6492240" y="1645920"/>
            <a:ext cx="1645920" cy="164592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103120"/>
            <a:ext cx="1645920" cy="640080"/>
          </a:xfrm>
          <a:prstGeom prst="rect">
            <a:avLst/>
          </a:prstGeom>
          <a:noFill/>
        </p:spPr>
        <p:txBody>
          <a:bodyPr wrap="square">
            <a:spAutoFit/>
          </a:bodyPr>
          <a:lstStyle/>
          <a:p>
            <a:pPr algn="ctr">
              <a:defRPr sz="2000" b="1">
                <a:solidFill>
                  <a:srgbClr val="FFFFFF"/>
                </a:solidFill>
                <a:latin typeface="Calibri"/>
              </a:defRPr>
            </a:pPr>
            <a:r>
              <a:t>Healthcare</a:t>
            </a:r>
          </a:p>
        </p:txBody>
      </p:sp>
      <p:sp>
        <p:nvSpPr>
          <p:cNvPr id="11" name="Oval 10"/>
          <p:cNvSpPr/>
          <p:nvPr/>
        </p:nvSpPr>
        <p:spPr>
          <a:xfrm>
            <a:off x="9052559" y="1645920"/>
            <a:ext cx="1645920" cy="164592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59" y="2103120"/>
            <a:ext cx="1645920" cy="640080"/>
          </a:xfrm>
          <a:prstGeom prst="rect">
            <a:avLst/>
          </a:prstGeom>
          <a:noFill/>
        </p:spPr>
        <p:txBody>
          <a:bodyPr wrap="square">
            <a:spAutoFit/>
          </a:bodyPr>
          <a:lstStyle/>
          <a:p>
            <a:pPr algn="ctr">
              <a:defRPr sz="2000" b="1">
                <a:solidFill>
                  <a:srgbClr val="FFFFFF"/>
                </a:solidFill>
                <a:latin typeface="Calibri"/>
              </a:defRPr>
            </a:pPr>
            <a:r>
              <a:t>Transportation</a:t>
            </a:r>
          </a:p>
        </p:txBody>
      </p:sp>
      <p:sp>
        <p:nvSpPr>
          <p:cNvPr id="13" name="Oval 12"/>
          <p:cNvSpPr/>
          <p:nvPr/>
        </p:nvSpPr>
        <p:spPr>
          <a:xfrm>
            <a:off x="1371600" y="3657600"/>
            <a:ext cx="1645920" cy="1645920"/>
          </a:xfrm>
          <a:prstGeom prst="ellipse">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0" y="4114800"/>
            <a:ext cx="1645920" cy="640080"/>
          </a:xfrm>
          <a:prstGeom prst="rect">
            <a:avLst/>
          </a:prstGeom>
          <a:noFill/>
        </p:spPr>
        <p:txBody>
          <a:bodyPr wrap="square">
            <a:spAutoFit/>
          </a:bodyPr>
          <a:lstStyle/>
          <a:p>
            <a:pPr algn="ctr">
              <a:defRPr sz="2000" b="1">
                <a:solidFill>
                  <a:srgbClr val="FFFFFF"/>
                </a:solidFill>
                <a:latin typeface="Calibri"/>
              </a:defRPr>
            </a:pPr>
            <a:r>
              <a:t>Manufacturing</a:t>
            </a:r>
          </a:p>
        </p:txBody>
      </p:sp>
      <p:sp>
        <p:nvSpPr>
          <p:cNvPr id="15" name="Oval 14"/>
          <p:cNvSpPr/>
          <p:nvPr/>
        </p:nvSpPr>
        <p:spPr>
          <a:xfrm>
            <a:off x="3931920" y="3657600"/>
            <a:ext cx="1645920" cy="164592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931920" y="4114800"/>
            <a:ext cx="1645920" cy="640080"/>
          </a:xfrm>
          <a:prstGeom prst="rect">
            <a:avLst/>
          </a:prstGeom>
          <a:noFill/>
        </p:spPr>
        <p:txBody>
          <a:bodyPr wrap="square">
            <a:spAutoFit/>
          </a:bodyPr>
          <a:lstStyle/>
          <a:p>
            <a:pPr algn="ctr">
              <a:defRPr sz="2000" b="1">
                <a:solidFill>
                  <a:srgbClr val="FFFFFF"/>
                </a:solidFill>
                <a:latin typeface="Calibri"/>
              </a:defRPr>
            </a:pPr>
            <a:r>
              <a:t>E-commerce</a:t>
            </a:r>
          </a:p>
        </p:txBody>
      </p:sp>
      <p:sp>
        <p:nvSpPr>
          <p:cNvPr id="17" name="Oval 16"/>
          <p:cNvSpPr/>
          <p:nvPr/>
        </p:nvSpPr>
        <p:spPr>
          <a:xfrm>
            <a:off x="6492240" y="3657600"/>
            <a:ext cx="1645920" cy="1645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114800"/>
            <a:ext cx="1645920" cy="640080"/>
          </a:xfrm>
          <a:prstGeom prst="rect">
            <a:avLst/>
          </a:prstGeom>
          <a:noFill/>
        </p:spPr>
        <p:txBody>
          <a:bodyPr wrap="square">
            <a:spAutoFit/>
          </a:bodyPr>
          <a:lstStyle/>
          <a:p>
            <a:pPr algn="ctr">
              <a:defRPr sz="2000" b="1">
                <a:solidFill>
                  <a:srgbClr val="FFFFFF"/>
                </a:solidFill>
                <a:latin typeface="Calibri"/>
              </a:defRPr>
            </a:pPr>
            <a:r>
              <a:t>Entertainment</a:t>
            </a:r>
          </a:p>
        </p:txBody>
      </p:sp>
      <p:sp>
        <p:nvSpPr>
          <p:cNvPr id="19" name="Oval 18"/>
          <p:cNvSpPr/>
          <p:nvPr/>
        </p:nvSpPr>
        <p:spPr>
          <a:xfrm>
            <a:off x="9052559" y="3657600"/>
            <a:ext cx="1645920" cy="1645920"/>
          </a:xfrm>
          <a:prstGeom prst="ellipse">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52559" y="4114800"/>
            <a:ext cx="1645920" cy="640080"/>
          </a:xfrm>
          <a:prstGeom prst="rect">
            <a:avLst/>
          </a:prstGeom>
          <a:noFill/>
        </p:spPr>
        <p:txBody>
          <a:bodyPr wrap="square">
            <a:spAutoFit/>
          </a:bodyPr>
          <a:lstStyle/>
          <a:p>
            <a:pPr algn="ctr">
              <a:defRPr sz="2000" b="1">
                <a:solidFill>
                  <a:srgbClr val="FFFFFF"/>
                </a:solidFill>
                <a:latin typeface="Calibri"/>
              </a:defRPr>
            </a:pPr>
            <a:r>
              <a:t>AI</a:t>
            </a:r>
          </a:p>
        </p:txBody>
      </p:sp>
      <p:sp>
        <p:nvSpPr>
          <p:cNvPr id="21" name="Rounded Rectangle 20"/>
          <p:cNvSpPr/>
          <p:nvPr/>
        </p:nvSpPr>
        <p:spPr>
          <a:xfrm>
            <a:off x="1371600" y="5486400"/>
            <a:ext cx="9144000" cy="9144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554480" y="5577840"/>
            <a:ext cx="8778240" cy="731520"/>
          </a:xfrm>
          <a:prstGeom prst="rect">
            <a:avLst/>
          </a:prstGeom>
          <a:noFill/>
        </p:spPr>
        <p:txBody>
          <a:bodyPr wrap="square">
            <a:spAutoFit/>
          </a:bodyPr>
          <a:lstStyle/>
          <a:p>
            <a:pPr algn="ctr">
              <a:defRPr sz="2400" b="1">
                <a:solidFill>
                  <a:srgbClr val="FFFFFF"/>
                </a:solidFill>
                <a:latin typeface="Calibri"/>
              </a:defRPr>
            </a:pPr>
            <a:r>
              <a:t>Key Message: Software has become the infrastructure for modern society — it powers nearly every aspect of our daily lives.</a:t>
            </a:r>
          </a:p>
        </p:txBody>
      </p:sp>
      <p:sp>
        <p:nvSpPr>
          <p:cNvPr id="23" name="Rectangle 22"/>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And Now AI Is Everywhere</a:t>
            </a:r>
          </a:p>
        </p:txBody>
      </p:sp>
      <p:sp>
        <p:nvSpPr>
          <p:cNvPr id="5" name="Rounded Rectangle 4"/>
          <p:cNvSpPr/>
          <p:nvPr/>
        </p:nvSpPr>
        <p:spPr>
          <a:xfrm>
            <a:off x="4297680" y="1554480"/>
            <a:ext cx="3474720" cy="59436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97680" y="1554480"/>
            <a:ext cx="3474720" cy="594360"/>
          </a:xfrm>
          <a:prstGeom prst="rect">
            <a:avLst/>
          </a:prstGeom>
          <a:noFill/>
        </p:spPr>
        <p:txBody>
          <a:bodyPr wrap="square">
            <a:spAutoFit/>
          </a:bodyPr>
          <a:lstStyle/>
          <a:p>
            <a:pPr algn="ctr">
              <a:defRPr sz="1700" b="1">
                <a:solidFill>
                  <a:srgbClr val="FFFFFF"/>
                </a:solidFill>
                <a:latin typeface="Calibri"/>
              </a:defRPr>
            </a:pPr>
            <a:r>
              <a:t>User</a:t>
            </a:r>
          </a:p>
        </p:txBody>
      </p:sp>
      <p:sp>
        <p:nvSpPr>
          <p:cNvPr id="7" name="Down Arrow 6"/>
          <p:cNvSpPr/>
          <p:nvPr/>
        </p:nvSpPr>
        <p:spPr>
          <a:xfrm>
            <a:off x="5897880" y="21488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97680" y="2286000"/>
            <a:ext cx="3474720" cy="59436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0" y="2286000"/>
            <a:ext cx="3474720" cy="594360"/>
          </a:xfrm>
          <a:prstGeom prst="rect">
            <a:avLst/>
          </a:prstGeom>
          <a:noFill/>
        </p:spPr>
        <p:txBody>
          <a:bodyPr wrap="square">
            <a:spAutoFit/>
          </a:bodyPr>
          <a:lstStyle/>
          <a:p>
            <a:pPr algn="ctr">
              <a:defRPr sz="1700" b="1">
                <a:solidFill>
                  <a:srgbClr val="FFFFFF"/>
                </a:solidFill>
                <a:latin typeface="Calibri"/>
              </a:defRPr>
            </a:pPr>
            <a:r>
              <a:t>Web/Mobile App</a:t>
            </a:r>
          </a:p>
        </p:txBody>
      </p:sp>
      <p:sp>
        <p:nvSpPr>
          <p:cNvPr id="10" name="Down Arrow 9"/>
          <p:cNvSpPr/>
          <p:nvPr/>
        </p:nvSpPr>
        <p:spPr>
          <a:xfrm>
            <a:off x="5897880" y="28803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97680" y="3017520"/>
            <a:ext cx="3474720" cy="59436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97680" y="3017520"/>
            <a:ext cx="3474720" cy="594360"/>
          </a:xfrm>
          <a:prstGeom prst="rect">
            <a:avLst/>
          </a:prstGeom>
          <a:noFill/>
        </p:spPr>
        <p:txBody>
          <a:bodyPr wrap="square">
            <a:spAutoFit/>
          </a:bodyPr>
          <a:lstStyle/>
          <a:p>
            <a:pPr algn="ctr">
              <a:defRPr sz="1700" b="1">
                <a:solidFill>
                  <a:srgbClr val="FFFFFF"/>
                </a:solidFill>
                <a:latin typeface="Calibri"/>
              </a:defRPr>
            </a:pPr>
            <a:r>
              <a:t>Backend API</a:t>
            </a:r>
          </a:p>
        </p:txBody>
      </p:sp>
      <p:sp>
        <p:nvSpPr>
          <p:cNvPr id="13" name="Down Arrow 12"/>
          <p:cNvSpPr/>
          <p:nvPr/>
        </p:nvSpPr>
        <p:spPr>
          <a:xfrm>
            <a:off x="5897880" y="361188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297680" y="3749040"/>
            <a:ext cx="3474720" cy="59436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0" y="3749040"/>
            <a:ext cx="3474720" cy="594360"/>
          </a:xfrm>
          <a:prstGeom prst="rect">
            <a:avLst/>
          </a:prstGeom>
          <a:noFill/>
        </p:spPr>
        <p:txBody>
          <a:bodyPr wrap="square">
            <a:spAutoFit/>
          </a:bodyPr>
          <a:lstStyle/>
          <a:p>
            <a:pPr algn="ctr">
              <a:defRPr sz="1700" b="1">
                <a:solidFill>
                  <a:srgbClr val="FFFFFF"/>
                </a:solidFill>
                <a:latin typeface="Calibri"/>
              </a:defRPr>
            </a:pPr>
            <a:r>
              <a:t>Database</a:t>
            </a:r>
          </a:p>
        </p:txBody>
      </p:sp>
      <p:sp>
        <p:nvSpPr>
          <p:cNvPr id="16" name="Down Arrow 15"/>
          <p:cNvSpPr/>
          <p:nvPr/>
        </p:nvSpPr>
        <p:spPr>
          <a:xfrm>
            <a:off x="5897880" y="43434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97680" y="4480560"/>
            <a:ext cx="3474720" cy="59436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97680" y="4480560"/>
            <a:ext cx="3474720" cy="594360"/>
          </a:xfrm>
          <a:prstGeom prst="rect">
            <a:avLst/>
          </a:prstGeom>
          <a:noFill/>
        </p:spPr>
        <p:txBody>
          <a:bodyPr wrap="square">
            <a:spAutoFit/>
          </a:bodyPr>
          <a:lstStyle/>
          <a:p>
            <a:pPr algn="ctr">
              <a:defRPr sz="1700" b="1">
                <a:solidFill>
                  <a:srgbClr val="FFFFFF"/>
                </a:solidFill>
                <a:latin typeface="Calibri"/>
              </a:defRPr>
            </a:pPr>
            <a:r>
              <a:t>RAG System</a:t>
            </a:r>
          </a:p>
        </p:txBody>
      </p:sp>
      <p:sp>
        <p:nvSpPr>
          <p:cNvPr id="19" name="Down Arrow 18"/>
          <p:cNvSpPr/>
          <p:nvPr/>
        </p:nvSpPr>
        <p:spPr>
          <a:xfrm>
            <a:off x="5897880" y="507492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297680" y="5212080"/>
            <a:ext cx="3474720" cy="5943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7680" y="5212080"/>
            <a:ext cx="3474720" cy="594360"/>
          </a:xfrm>
          <a:prstGeom prst="rect">
            <a:avLst/>
          </a:prstGeom>
          <a:noFill/>
        </p:spPr>
        <p:txBody>
          <a:bodyPr wrap="square">
            <a:spAutoFit/>
          </a:bodyPr>
          <a:lstStyle/>
          <a:p>
            <a:pPr algn="ctr">
              <a:defRPr sz="1700" b="1">
                <a:solidFill>
                  <a:srgbClr val="FFFFFF"/>
                </a:solidFill>
                <a:latin typeface="Calibri"/>
              </a:defRPr>
            </a:pPr>
            <a:r>
              <a:t>LLM</a:t>
            </a:r>
          </a:p>
        </p:txBody>
      </p:sp>
      <p:sp>
        <p:nvSpPr>
          <p:cNvPr id="22" name="Down Arrow 21"/>
          <p:cNvSpPr/>
          <p:nvPr/>
        </p:nvSpPr>
        <p:spPr>
          <a:xfrm>
            <a:off x="5897880" y="58064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297680" y="5943600"/>
            <a:ext cx="3474720" cy="59436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97680" y="5943600"/>
            <a:ext cx="3474720" cy="594360"/>
          </a:xfrm>
          <a:prstGeom prst="rect">
            <a:avLst/>
          </a:prstGeom>
          <a:noFill/>
        </p:spPr>
        <p:txBody>
          <a:bodyPr wrap="square">
            <a:spAutoFit/>
          </a:bodyPr>
          <a:lstStyle/>
          <a:p>
            <a:pPr algn="ctr">
              <a:defRPr sz="1700" b="1">
                <a:solidFill>
                  <a:srgbClr val="FFFFFF"/>
                </a:solidFill>
                <a:latin typeface="Calibri"/>
              </a:defRPr>
            </a:pPr>
            <a:r>
              <a:t>AI Agent</a:t>
            </a:r>
          </a:p>
        </p:txBody>
      </p:sp>
      <p:sp>
        <p:nvSpPr>
          <p:cNvPr id="25" name="TextBox 24"/>
          <p:cNvSpPr txBox="1"/>
          <p:nvPr/>
        </p:nvSpPr>
        <p:spPr>
          <a:xfrm>
            <a:off x="9418320" y="1645920"/>
            <a:ext cx="2560320" cy="365760"/>
          </a:xfrm>
          <a:prstGeom prst="rect">
            <a:avLst/>
          </a:prstGeom>
          <a:noFill/>
        </p:spPr>
        <p:txBody>
          <a:bodyPr wrap="square">
            <a:spAutoFit/>
          </a:bodyPr>
          <a:lstStyle/>
          <a:p>
            <a:pPr algn="l">
              <a:defRPr sz="1500" b="0">
                <a:solidFill>
                  <a:srgbClr val="7B2FF7"/>
                </a:solidFill>
                <a:latin typeface="Calibri"/>
              </a:defRPr>
            </a:pPr>
            <a:r>
              <a:t>• Machine Learning</a:t>
            </a:r>
          </a:p>
        </p:txBody>
      </p:sp>
      <p:sp>
        <p:nvSpPr>
          <p:cNvPr id="26" name="TextBox 25"/>
          <p:cNvSpPr txBox="1"/>
          <p:nvPr/>
        </p:nvSpPr>
        <p:spPr>
          <a:xfrm>
            <a:off x="9418320" y="2286000"/>
            <a:ext cx="2560320" cy="365760"/>
          </a:xfrm>
          <a:prstGeom prst="rect">
            <a:avLst/>
          </a:prstGeom>
          <a:noFill/>
        </p:spPr>
        <p:txBody>
          <a:bodyPr wrap="square">
            <a:spAutoFit/>
          </a:bodyPr>
          <a:lstStyle/>
          <a:p>
            <a:pPr algn="l">
              <a:defRPr sz="1500" b="0">
                <a:solidFill>
                  <a:srgbClr val="7B2FF7"/>
                </a:solidFill>
                <a:latin typeface="Calibri"/>
              </a:defRPr>
            </a:pPr>
            <a:r>
              <a:t>• Deep Learning</a:t>
            </a:r>
          </a:p>
        </p:txBody>
      </p:sp>
      <p:sp>
        <p:nvSpPr>
          <p:cNvPr id="27" name="TextBox 26"/>
          <p:cNvSpPr txBox="1"/>
          <p:nvPr/>
        </p:nvSpPr>
        <p:spPr>
          <a:xfrm>
            <a:off x="9418320" y="2926080"/>
            <a:ext cx="2560320" cy="365760"/>
          </a:xfrm>
          <a:prstGeom prst="rect">
            <a:avLst/>
          </a:prstGeom>
          <a:noFill/>
        </p:spPr>
        <p:txBody>
          <a:bodyPr wrap="square">
            <a:spAutoFit/>
          </a:bodyPr>
          <a:lstStyle/>
          <a:p>
            <a:pPr algn="l">
              <a:defRPr sz="1500" b="0">
                <a:solidFill>
                  <a:srgbClr val="7B2FF7"/>
                </a:solidFill>
                <a:latin typeface="Calibri"/>
              </a:defRPr>
            </a:pPr>
            <a:r>
              <a:t>• Generative AI</a:t>
            </a:r>
          </a:p>
        </p:txBody>
      </p:sp>
      <p:sp>
        <p:nvSpPr>
          <p:cNvPr id="28" name="TextBox 27"/>
          <p:cNvSpPr txBox="1"/>
          <p:nvPr/>
        </p:nvSpPr>
        <p:spPr>
          <a:xfrm>
            <a:off x="9418320" y="3566159"/>
            <a:ext cx="2560320" cy="365760"/>
          </a:xfrm>
          <a:prstGeom prst="rect">
            <a:avLst/>
          </a:prstGeom>
          <a:noFill/>
        </p:spPr>
        <p:txBody>
          <a:bodyPr wrap="square">
            <a:spAutoFit/>
          </a:bodyPr>
          <a:lstStyle/>
          <a:p>
            <a:pPr algn="l">
              <a:defRPr sz="1500" b="0">
                <a:solidFill>
                  <a:srgbClr val="7B2FF7"/>
                </a:solidFill>
                <a:latin typeface="Calibri"/>
              </a:defRPr>
            </a:pPr>
            <a:r>
              <a:t>• LLMs</a:t>
            </a:r>
          </a:p>
        </p:txBody>
      </p:sp>
      <p:sp>
        <p:nvSpPr>
          <p:cNvPr id="29" name="TextBox 28"/>
          <p:cNvSpPr txBox="1"/>
          <p:nvPr/>
        </p:nvSpPr>
        <p:spPr>
          <a:xfrm>
            <a:off x="9418320" y="4206240"/>
            <a:ext cx="2560320" cy="365760"/>
          </a:xfrm>
          <a:prstGeom prst="rect">
            <a:avLst/>
          </a:prstGeom>
          <a:noFill/>
        </p:spPr>
        <p:txBody>
          <a:bodyPr wrap="square">
            <a:spAutoFit/>
          </a:bodyPr>
          <a:lstStyle/>
          <a:p>
            <a:pPr algn="l">
              <a:defRPr sz="1500" b="0">
                <a:solidFill>
                  <a:srgbClr val="7B2FF7"/>
                </a:solidFill>
                <a:latin typeface="Calibri"/>
              </a:defRPr>
            </a:pPr>
            <a:r>
              <a:t>• Computer Vision</a:t>
            </a:r>
          </a:p>
        </p:txBody>
      </p:sp>
      <p:sp>
        <p:nvSpPr>
          <p:cNvPr id="30" name="TextBox 29"/>
          <p:cNvSpPr txBox="1"/>
          <p:nvPr/>
        </p:nvSpPr>
        <p:spPr>
          <a:xfrm>
            <a:off x="9418320" y="4846320"/>
            <a:ext cx="2560320" cy="365760"/>
          </a:xfrm>
          <a:prstGeom prst="rect">
            <a:avLst/>
          </a:prstGeom>
          <a:noFill/>
        </p:spPr>
        <p:txBody>
          <a:bodyPr wrap="square">
            <a:spAutoFit/>
          </a:bodyPr>
          <a:lstStyle/>
          <a:p>
            <a:pPr algn="l">
              <a:defRPr sz="1500" b="0">
                <a:solidFill>
                  <a:srgbClr val="7B2FF7"/>
                </a:solidFill>
                <a:latin typeface="Calibri"/>
              </a:defRPr>
            </a:pPr>
            <a:r>
              <a:t>• AI Agents</a:t>
            </a:r>
          </a:p>
        </p:txBody>
      </p:sp>
      <p:sp>
        <p:nvSpPr>
          <p:cNvPr id="31" name="TextBox 30"/>
          <p:cNvSpPr txBox="1"/>
          <p:nvPr/>
        </p:nvSpPr>
        <p:spPr>
          <a:xfrm>
            <a:off x="9418320" y="5486399"/>
            <a:ext cx="2560320" cy="365760"/>
          </a:xfrm>
          <a:prstGeom prst="rect">
            <a:avLst/>
          </a:prstGeom>
          <a:noFill/>
        </p:spPr>
        <p:txBody>
          <a:bodyPr wrap="square">
            <a:spAutoFit/>
          </a:bodyPr>
          <a:lstStyle/>
          <a:p>
            <a:pPr algn="l">
              <a:defRPr sz="1500" b="0">
                <a:solidFill>
                  <a:srgbClr val="7B2FF7"/>
                </a:solidFill>
                <a:latin typeface="Calibri"/>
              </a:defRPr>
            </a:pPr>
            <a:r>
              <a:t>• RAG Systems</a:t>
            </a:r>
          </a:p>
        </p:txBody>
      </p:sp>
      <p:sp>
        <p:nvSpPr>
          <p:cNvPr id="32" name="Rounded Rectangle 31"/>
          <p:cNvSpPr/>
          <p:nvPr/>
        </p:nvSpPr>
        <p:spPr>
          <a:xfrm>
            <a:off x="1371600" y="6217920"/>
            <a:ext cx="914400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554480" y="6263640"/>
            <a:ext cx="8778240" cy="548640"/>
          </a:xfrm>
          <a:prstGeom prst="rect">
            <a:avLst/>
          </a:prstGeom>
          <a:noFill/>
        </p:spPr>
        <p:txBody>
          <a:bodyPr wrap="square">
            <a:spAutoFit/>
          </a:bodyPr>
          <a:lstStyle/>
          <a:p>
            <a:pPr algn="ctr">
              <a:defRPr sz="2400" b="1">
                <a:solidFill>
                  <a:srgbClr val="FFFFFF"/>
                </a:solidFill>
                <a:latin typeface="Calibri"/>
              </a:defRPr>
            </a:pPr>
            <a:r>
              <a:t>Key Message: AI itself is becoming a software engineering problem.</a:t>
            </a:r>
          </a:p>
        </p:txBody>
      </p:sp>
      <p:sp>
        <p:nvSpPr>
          <p:cNvPr id="34" name="Rectangle 33"/>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Today's Journey</a:t>
            </a:r>
          </a:p>
        </p:txBody>
      </p:sp>
      <p:sp>
        <p:nvSpPr>
          <p:cNvPr id="5" name="Rounded Rectangle 4"/>
          <p:cNvSpPr/>
          <p:nvPr/>
        </p:nvSpPr>
        <p:spPr>
          <a:xfrm>
            <a:off x="3977640" y="1554480"/>
            <a:ext cx="4114800" cy="6400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977640" y="1554480"/>
            <a:ext cx="4114800" cy="640080"/>
          </a:xfrm>
          <a:prstGeom prst="rect">
            <a:avLst/>
          </a:prstGeom>
          <a:noFill/>
        </p:spPr>
        <p:txBody>
          <a:bodyPr wrap="square">
            <a:spAutoFit/>
          </a:bodyPr>
          <a:lstStyle/>
          <a:p>
            <a:pPr algn="ctr">
              <a:defRPr sz="1700" b="1">
                <a:solidFill>
                  <a:srgbClr val="FFFFFF"/>
                </a:solidFill>
                <a:latin typeface="Calibri"/>
              </a:defRPr>
            </a:pPr>
            <a:r>
              <a:t>Computing History</a:t>
            </a:r>
          </a:p>
        </p:txBody>
      </p:sp>
      <p:sp>
        <p:nvSpPr>
          <p:cNvPr id="7" name="Down Arrow 6"/>
          <p:cNvSpPr/>
          <p:nvPr/>
        </p:nvSpPr>
        <p:spPr>
          <a:xfrm>
            <a:off x="5897880" y="21945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977640" y="2331720"/>
            <a:ext cx="4114800" cy="6400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77640" y="2331720"/>
            <a:ext cx="4114800" cy="640080"/>
          </a:xfrm>
          <a:prstGeom prst="rect">
            <a:avLst/>
          </a:prstGeom>
          <a:noFill/>
        </p:spPr>
        <p:txBody>
          <a:bodyPr wrap="square">
            <a:spAutoFit/>
          </a:bodyPr>
          <a:lstStyle/>
          <a:p>
            <a:pPr algn="ctr">
              <a:defRPr sz="1700" b="1">
                <a:solidFill>
                  <a:srgbClr val="FFFFFF"/>
                </a:solidFill>
                <a:latin typeface="Calibri"/>
              </a:defRPr>
            </a:pPr>
            <a:r>
              <a:t>Software Growth</a:t>
            </a:r>
          </a:p>
        </p:txBody>
      </p:sp>
      <p:sp>
        <p:nvSpPr>
          <p:cNvPr id="10" name="Down Arrow 9"/>
          <p:cNvSpPr/>
          <p:nvPr/>
        </p:nvSpPr>
        <p:spPr>
          <a:xfrm>
            <a:off x="5897880" y="29718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977640" y="3108960"/>
            <a:ext cx="411480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77640" y="3108960"/>
            <a:ext cx="4114800" cy="640080"/>
          </a:xfrm>
          <a:prstGeom prst="rect">
            <a:avLst/>
          </a:prstGeom>
          <a:noFill/>
        </p:spPr>
        <p:txBody>
          <a:bodyPr wrap="square">
            <a:spAutoFit/>
          </a:bodyPr>
          <a:lstStyle/>
          <a:p>
            <a:pPr algn="ctr">
              <a:defRPr sz="1700" b="1">
                <a:solidFill>
                  <a:srgbClr val="FFFFFF"/>
                </a:solidFill>
                <a:latin typeface="Calibri"/>
              </a:defRPr>
            </a:pPr>
            <a:r>
              <a:t>Software Crisis</a:t>
            </a:r>
          </a:p>
        </p:txBody>
      </p:sp>
      <p:sp>
        <p:nvSpPr>
          <p:cNvPr id="13" name="Down Arrow 12"/>
          <p:cNvSpPr/>
          <p:nvPr/>
        </p:nvSpPr>
        <p:spPr>
          <a:xfrm>
            <a:off x="5897880" y="37490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977640" y="3886200"/>
            <a:ext cx="4114800" cy="6400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77640" y="3886200"/>
            <a:ext cx="4114800" cy="640080"/>
          </a:xfrm>
          <a:prstGeom prst="rect">
            <a:avLst/>
          </a:prstGeom>
          <a:noFill/>
        </p:spPr>
        <p:txBody>
          <a:bodyPr wrap="square">
            <a:spAutoFit/>
          </a:bodyPr>
          <a:lstStyle/>
          <a:p>
            <a:pPr algn="ctr">
              <a:defRPr sz="1700" b="1">
                <a:solidFill>
                  <a:srgbClr val="FFFFFF"/>
                </a:solidFill>
                <a:latin typeface="Calibri"/>
              </a:defRPr>
            </a:pPr>
            <a:r>
              <a:t>Birth of Software Engineering</a:t>
            </a:r>
          </a:p>
        </p:txBody>
      </p:sp>
      <p:sp>
        <p:nvSpPr>
          <p:cNvPr id="16" name="Down Arrow 15"/>
          <p:cNvSpPr/>
          <p:nvPr/>
        </p:nvSpPr>
        <p:spPr>
          <a:xfrm>
            <a:off x="5897880" y="452628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977640" y="4663440"/>
            <a:ext cx="4114800" cy="6400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977640" y="4663440"/>
            <a:ext cx="4114800" cy="640080"/>
          </a:xfrm>
          <a:prstGeom prst="rect">
            <a:avLst/>
          </a:prstGeom>
          <a:noFill/>
        </p:spPr>
        <p:txBody>
          <a:bodyPr wrap="square">
            <a:spAutoFit/>
          </a:bodyPr>
          <a:lstStyle/>
          <a:p>
            <a:pPr algn="ctr">
              <a:defRPr sz="1700" b="1">
                <a:solidFill>
                  <a:srgbClr val="FFFFFF"/>
                </a:solidFill>
                <a:latin typeface="Calibri"/>
              </a:defRPr>
            </a:pPr>
            <a:r>
              <a:t>Modern Software</a:t>
            </a:r>
          </a:p>
        </p:txBody>
      </p:sp>
      <p:sp>
        <p:nvSpPr>
          <p:cNvPr id="19" name="Down Arrow 18"/>
          <p:cNvSpPr/>
          <p:nvPr/>
        </p:nvSpPr>
        <p:spPr>
          <a:xfrm>
            <a:off x="5897880" y="530352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977640" y="5440680"/>
            <a:ext cx="4114800" cy="6400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77640" y="5440680"/>
            <a:ext cx="4114800" cy="640080"/>
          </a:xfrm>
          <a:prstGeom prst="rect">
            <a:avLst/>
          </a:prstGeom>
          <a:noFill/>
        </p:spPr>
        <p:txBody>
          <a:bodyPr wrap="square">
            <a:spAutoFit/>
          </a:bodyPr>
          <a:lstStyle/>
          <a:p>
            <a:pPr algn="ctr">
              <a:defRPr sz="1700" b="1">
                <a:solidFill>
                  <a:srgbClr val="FFFFFF"/>
                </a:solidFill>
                <a:latin typeface="Calibri"/>
              </a:defRPr>
            </a:pPr>
            <a:r>
              <a:t>AI + Software Engineering</a:t>
            </a:r>
          </a:p>
        </p:txBody>
      </p:sp>
      <p:sp>
        <p:nvSpPr>
          <p:cNvPr id="22" name="Down Arrow 21"/>
          <p:cNvSpPr/>
          <p:nvPr/>
        </p:nvSpPr>
        <p:spPr>
          <a:xfrm>
            <a:off x="5897880" y="60807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977640" y="6217920"/>
            <a:ext cx="4114800" cy="64008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977640" y="6217920"/>
            <a:ext cx="4114800" cy="640080"/>
          </a:xfrm>
          <a:prstGeom prst="rect">
            <a:avLst/>
          </a:prstGeom>
          <a:noFill/>
        </p:spPr>
        <p:txBody>
          <a:bodyPr wrap="square">
            <a:spAutoFit/>
          </a:bodyPr>
          <a:lstStyle/>
          <a:p>
            <a:pPr algn="ctr">
              <a:defRPr sz="1700" b="1">
                <a:solidFill>
                  <a:srgbClr val="FFFFFF"/>
                </a:solidFill>
                <a:latin typeface="Calibri"/>
              </a:defRPr>
            </a:pPr>
            <a:r>
              <a:t>AI-Native Systems</a:t>
            </a:r>
          </a:p>
        </p:txBody>
      </p:sp>
      <p:sp>
        <p:nvSpPr>
          <p:cNvPr id="25" name="Rectangle 24"/>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2 — WHAT IS SOFTWARE?</a:t>
            </a:r>
          </a:p>
        </p:txBody>
      </p:sp>
      <p:sp>
        <p:nvSpPr>
          <p:cNvPr id="5" name="TextBox 4"/>
          <p:cNvSpPr txBox="1"/>
          <p:nvPr/>
        </p:nvSpPr>
        <p:spPr>
          <a:xfrm>
            <a:off x="914400" y="1463040"/>
            <a:ext cx="10058400" cy="640080"/>
          </a:xfrm>
          <a:prstGeom prst="rect">
            <a:avLst/>
          </a:prstGeom>
          <a:noFill/>
        </p:spPr>
        <p:txBody>
          <a:bodyPr wrap="square">
            <a:spAutoFit/>
          </a:bodyPr>
          <a:lstStyle/>
          <a:p>
            <a:pPr algn="ctr">
              <a:defRPr sz="4000" b="1">
                <a:solidFill>
                  <a:srgbClr val="1A3A5C"/>
                </a:solidFill>
                <a:latin typeface="Calibri"/>
              </a:defRPr>
            </a:pPr>
            <a:r>
              <a:t>What Is Software?</a:t>
            </a:r>
          </a:p>
        </p:txBody>
      </p:sp>
      <p:sp>
        <p:nvSpPr>
          <p:cNvPr id="6" name="Rounded Rectangle 5"/>
          <p:cNvSpPr/>
          <p:nvPr/>
        </p:nvSpPr>
        <p:spPr>
          <a:xfrm>
            <a:off x="1097280" y="2377440"/>
            <a:ext cx="3017520" cy="146304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2834640"/>
            <a:ext cx="3017520" cy="548640"/>
          </a:xfrm>
          <a:prstGeom prst="rect">
            <a:avLst/>
          </a:prstGeom>
          <a:noFill/>
        </p:spPr>
        <p:txBody>
          <a:bodyPr wrap="square">
            <a:spAutoFit/>
          </a:bodyPr>
          <a:lstStyle/>
          <a:p>
            <a:pPr algn="ctr">
              <a:defRPr sz="2200" b="1">
                <a:solidFill>
                  <a:srgbClr val="FFFFFF"/>
                </a:solidFill>
                <a:latin typeface="Calibri"/>
              </a:defRPr>
            </a:pPr>
            <a:r>
              <a:t>Programs</a:t>
            </a:r>
          </a:p>
        </p:txBody>
      </p:sp>
      <p:sp>
        <p:nvSpPr>
          <p:cNvPr id="8" name="Rounded Rectangle 7"/>
          <p:cNvSpPr/>
          <p:nvPr/>
        </p:nvSpPr>
        <p:spPr>
          <a:xfrm>
            <a:off x="4572000" y="2377440"/>
            <a:ext cx="3017520" cy="146304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2834640"/>
            <a:ext cx="3017520" cy="548640"/>
          </a:xfrm>
          <a:prstGeom prst="rect">
            <a:avLst/>
          </a:prstGeom>
          <a:noFill/>
        </p:spPr>
        <p:txBody>
          <a:bodyPr wrap="square">
            <a:spAutoFit/>
          </a:bodyPr>
          <a:lstStyle/>
          <a:p>
            <a:pPr algn="ctr">
              <a:defRPr sz="2200" b="1">
                <a:solidFill>
                  <a:srgbClr val="FFFFFF"/>
                </a:solidFill>
                <a:latin typeface="Calibri"/>
              </a:defRPr>
            </a:pPr>
            <a:r>
              <a:t>Data</a:t>
            </a:r>
          </a:p>
        </p:txBody>
      </p:sp>
      <p:sp>
        <p:nvSpPr>
          <p:cNvPr id="10" name="Rounded Rectangle 9"/>
          <p:cNvSpPr/>
          <p:nvPr/>
        </p:nvSpPr>
        <p:spPr>
          <a:xfrm>
            <a:off x="8046719" y="2377440"/>
            <a:ext cx="3017520" cy="146304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9" y="2834640"/>
            <a:ext cx="3017520" cy="548640"/>
          </a:xfrm>
          <a:prstGeom prst="rect">
            <a:avLst/>
          </a:prstGeom>
          <a:noFill/>
        </p:spPr>
        <p:txBody>
          <a:bodyPr wrap="square">
            <a:spAutoFit/>
          </a:bodyPr>
          <a:lstStyle/>
          <a:p>
            <a:pPr algn="ctr">
              <a:defRPr sz="2200" b="1">
                <a:solidFill>
                  <a:srgbClr val="FFFFFF"/>
                </a:solidFill>
                <a:latin typeface="Calibri"/>
              </a:defRPr>
            </a:pPr>
            <a:r>
              <a:t>Configuration</a:t>
            </a:r>
          </a:p>
        </p:txBody>
      </p:sp>
      <p:sp>
        <p:nvSpPr>
          <p:cNvPr id="12" name="Rounded Rectangle 11"/>
          <p:cNvSpPr/>
          <p:nvPr/>
        </p:nvSpPr>
        <p:spPr>
          <a:xfrm>
            <a:off x="1097280" y="4206240"/>
            <a:ext cx="3017520" cy="14630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4663440"/>
            <a:ext cx="3017520" cy="548640"/>
          </a:xfrm>
          <a:prstGeom prst="rect">
            <a:avLst/>
          </a:prstGeom>
          <a:noFill/>
        </p:spPr>
        <p:txBody>
          <a:bodyPr wrap="square">
            <a:spAutoFit/>
          </a:bodyPr>
          <a:lstStyle/>
          <a:p>
            <a:pPr algn="ctr">
              <a:defRPr sz="2200" b="1">
                <a:solidFill>
                  <a:srgbClr val="FFFFFF"/>
                </a:solidFill>
                <a:latin typeface="Calibri"/>
              </a:defRPr>
            </a:pPr>
            <a:r>
              <a:t>Libraries</a:t>
            </a:r>
          </a:p>
        </p:txBody>
      </p:sp>
      <p:sp>
        <p:nvSpPr>
          <p:cNvPr id="14" name="Rounded Rectangle 13"/>
          <p:cNvSpPr/>
          <p:nvPr/>
        </p:nvSpPr>
        <p:spPr>
          <a:xfrm>
            <a:off x="4572000" y="4206240"/>
            <a:ext cx="3017520" cy="146304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4663440"/>
            <a:ext cx="3017520" cy="548640"/>
          </a:xfrm>
          <a:prstGeom prst="rect">
            <a:avLst/>
          </a:prstGeom>
          <a:noFill/>
        </p:spPr>
        <p:txBody>
          <a:bodyPr wrap="square">
            <a:spAutoFit/>
          </a:bodyPr>
          <a:lstStyle/>
          <a:p>
            <a:pPr algn="ctr">
              <a:defRPr sz="2200" b="1">
                <a:solidFill>
                  <a:srgbClr val="FFFFFF"/>
                </a:solidFill>
                <a:latin typeface="Calibri"/>
              </a:defRPr>
            </a:pPr>
            <a:r>
              <a:t>Services</a:t>
            </a:r>
          </a:p>
        </p:txBody>
      </p:sp>
      <p:sp>
        <p:nvSpPr>
          <p:cNvPr id="16" name="Rounded Rectangle 15"/>
          <p:cNvSpPr/>
          <p:nvPr/>
        </p:nvSpPr>
        <p:spPr>
          <a:xfrm>
            <a:off x="8046719" y="4206240"/>
            <a:ext cx="3017520" cy="146304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19" y="4663440"/>
            <a:ext cx="3017520" cy="548640"/>
          </a:xfrm>
          <a:prstGeom prst="rect">
            <a:avLst/>
          </a:prstGeom>
          <a:noFill/>
        </p:spPr>
        <p:txBody>
          <a:bodyPr wrap="square">
            <a:spAutoFit/>
          </a:bodyPr>
          <a:lstStyle/>
          <a:p>
            <a:pPr algn="ctr">
              <a:defRPr sz="2200" b="1">
                <a:solidFill>
                  <a:srgbClr val="FFFFFF"/>
                </a:solidFill>
                <a:latin typeface="Calibri"/>
              </a:defRPr>
            </a:pPr>
            <a:r>
              <a:t>Interfaces</a:t>
            </a:r>
          </a:p>
        </p:txBody>
      </p:sp>
      <p:sp>
        <p:nvSpPr>
          <p:cNvPr id="18" name="Rounded Rectangle 17"/>
          <p:cNvSpPr/>
          <p:nvPr/>
        </p:nvSpPr>
        <p:spPr>
          <a:xfrm>
            <a:off x="1371600" y="5486400"/>
            <a:ext cx="9144000" cy="109728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54480" y="5577840"/>
            <a:ext cx="8778240" cy="914400"/>
          </a:xfrm>
          <a:prstGeom prst="rect">
            <a:avLst/>
          </a:prstGeom>
          <a:noFill/>
        </p:spPr>
        <p:txBody>
          <a:bodyPr wrap="square">
            <a:spAutoFit/>
          </a:bodyPr>
          <a:lstStyle/>
          <a:p>
            <a:pPr algn="ctr">
              <a:defRPr sz="2000" b="0">
                <a:solidFill>
                  <a:srgbClr val="1A3A5C"/>
                </a:solidFill>
                <a:latin typeface="Calibri"/>
              </a:defRPr>
            </a:pPr>
            <a:r>
              <a:t>Software is a set of instructions and related components that enable a computer system to perform useful tasks.</a:t>
            </a:r>
          </a:p>
        </p:txBody>
      </p:sp>
      <p:sp>
        <p:nvSpPr>
          <p:cNvPr id="20" name="Rectangle 19"/>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Hardware vs Software</a:t>
            </a:r>
          </a:p>
        </p:txBody>
      </p:sp>
      <p:sp>
        <p:nvSpPr>
          <p:cNvPr id="5" name="Rounded Rectangle 4"/>
          <p:cNvSpPr/>
          <p:nvPr/>
        </p:nvSpPr>
        <p:spPr>
          <a:xfrm>
            <a:off x="731520" y="1463040"/>
            <a:ext cx="5029200" cy="47548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54480"/>
            <a:ext cx="5029200" cy="548640"/>
          </a:xfrm>
          <a:prstGeom prst="rect">
            <a:avLst/>
          </a:prstGeom>
          <a:noFill/>
        </p:spPr>
        <p:txBody>
          <a:bodyPr wrap="square">
            <a:spAutoFit/>
          </a:bodyPr>
          <a:lstStyle/>
          <a:p>
            <a:pPr algn="ctr">
              <a:defRPr sz="3200" b="1">
                <a:solidFill>
                  <a:srgbClr val="FFFFFF"/>
                </a:solidFill>
                <a:latin typeface="Calibri"/>
              </a:defRPr>
            </a:pPr>
            <a:r>
              <a:t>HARDWARE</a:t>
            </a:r>
          </a:p>
        </p:txBody>
      </p:sp>
      <p:sp>
        <p:nvSpPr>
          <p:cNvPr id="7" name="TextBox 6"/>
          <p:cNvSpPr txBox="1"/>
          <p:nvPr/>
        </p:nvSpPr>
        <p:spPr>
          <a:xfrm>
            <a:off x="1371600" y="2377440"/>
            <a:ext cx="3840480" cy="548640"/>
          </a:xfrm>
          <a:prstGeom prst="rect">
            <a:avLst/>
          </a:prstGeom>
          <a:noFill/>
        </p:spPr>
        <p:txBody>
          <a:bodyPr wrap="square">
            <a:spAutoFit/>
          </a:bodyPr>
          <a:lstStyle/>
          <a:p>
            <a:pPr algn="l">
              <a:defRPr sz="2200" b="0">
                <a:solidFill>
                  <a:srgbClr val="FFFFFF"/>
                </a:solidFill>
                <a:latin typeface="Calibri"/>
              </a:defRPr>
            </a:pPr>
            <a:r>
              <a:t>• Physical — can be touched</a:t>
            </a:r>
          </a:p>
        </p:txBody>
      </p:sp>
      <p:sp>
        <p:nvSpPr>
          <p:cNvPr id="8" name="TextBox 7"/>
          <p:cNvSpPr txBox="1"/>
          <p:nvPr/>
        </p:nvSpPr>
        <p:spPr>
          <a:xfrm>
            <a:off x="1371600" y="3108960"/>
            <a:ext cx="3840480" cy="548640"/>
          </a:xfrm>
          <a:prstGeom prst="rect">
            <a:avLst/>
          </a:prstGeom>
          <a:noFill/>
        </p:spPr>
        <p:txBody>
          <a:bodyPr wrap="square">
            <a:spAutoFit/>
          </a:bodyPr>
          <a:lstStyle/>
          <a:p>
            <a:pPr algn="l">
              <a:defRPr sz="2200" b="0">
                <a:solidFill>
                  <a:srgbClr val="FFFFFF"/>
                </a:solidFill>
                <a:latin typeface="Calibri"/>
              </a:defRPr>
            </a:pPr>
            <a:r>
              <a:t>• CPU — the processor</a:t>
            </a:r>
          </a:p>
        </p:txBody>
      </p:sp>
      <p:sp>
        <p:nvSpPr>
          <p:cNvPr id="9" name="TextBox 8"/>
          <p:cNvSpPr txBox="1"/>
          <p:nvPr/>
        </p:nvSpPr>
        <p:spPr>
          <a:xfrm>
            <a:off x="1371600" y="3840480"/>
            <a:ext cx="3840480" cy="548640"/>
          </a:xfrm>
          <a:prstGeom prst="rect">
            <a:avLst/>
          </a:prstGeom>
          <a:noFill/>
        </p:spPr>
        <p:txBody>
          <a:bodyPr wrap="square">
            <a:spAutoFit/>
          </a:bodyPr>
          <a:lstStyle/>
          <a:p>
            <a:pPr algn="l">
              <a:defRPr sz="2200" b="0">
                <a:solidFill>
                  <a:srgbClr val="FFFFFF"/>
                </a:solidFill>
                <a:latin typeface="Calibri"/>
              </a:defRPr>
            </a:pPr>
            <a:r>
              <a:t>• RAM — working memory</a:t>
            </a:r>
          </a:p>
        </p:txBody>
      </p:sp>
      <p:sp>
        <p:nvSpPr>
          <p:cNvPr id="10" name="TextBox 9"/>
          <p:cNvSpPr txBox="1"/>
          <p:nvPr/>
        </p:nvSpPr>
        <p:spPr>
          <a:xfrm>
            <a:off x="1371600" y="4572000"/>
            <a:ext cx="3840480" cy="548640"/>
          </a:xfrm>
          <a:prstGeom prst="rect">
            <a:avLst/>
          </a:prstGeom>
          <a:noFill/>
        </p:spPr>
        <p:txBody>
          <a:bodyPr wrap="square">
            <a:spAutoFit/>
          </a:bodyPr>
          <a:lstStyle/>
          <a:p>
            <a:pPr algn="l">
              <a:defRPr sz="2200" b="0">
                <a:solidFill>
                  <a:srgbClr val="FFFFFF"/>
                </a:solidFill>
                <a:latin typeface="Calibri"/>
              </a:defRPr>
            </a:pPr>
            <a:r>
              <a:t>• SSD — storage</a:t>
            </a:r>
          </a:p>
        </p:txBody>
      </p:sp>
      <p:sp>
        <p:nvSpPr>
          <p:cNvPr id="11" name="Rounded Rectangle 10"/>
          <p:cNvSpPr/>
          <p:nvPr/>
        </p:nvSpPr>
        <p:spPr>
          <a:xfrm>
            <a:off x="6400800" y="1463040"/>
            <a:ext cx="5029200" cy="47548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554480"/>
            <a:ext cx="5029200" cy="548640"/>
          </a:xfrm>
          <a:prstGeom prst="rect">
            <a:avLst/>
          </a:prstGeom>
          <a:noFill/>
        </p:spPr>
        <p:txBody>
          <a:bodyPr wrap="square">
            <a:spAutoFit/>
          </a:bodyPr>
          <a:lstStyle/>
          <a:p>
            <a:pPr algn="ctr">
              <a:defRPr sz="3200" b="1">
                <a:solidFill>
                  <a:srgbClr val="FFFFFF"/>
                </a:solidFill>
                <a:latin typeface="Calibri"/>
              </a:defRPr>
            </a:pPr>
            <a:r>
              <a:t>SOFTWARE</a:t>
            </a:r>
          </a:p>
        </p:txBody>
      </p:sp>
      <p:sp>
        <p:nvSpPr>
          <p:cNvPr id="13" name="TextBox 12"/>
          <p:cNvSpPr txBox="1"/>
          <p:nvPr/>
        </p:nvSpPr>
        <p:spPr>
          <a:xfrm>
            <a:off x="7040880" y="2377440"/>
            <a:ext cx="3840480" cy="548640"/>
          </a:xfrm>
          <a:prstGeom prst="rect">
            <a:avLst/>
          </a:prstGeom>
          <a:noFill/>
        </p:spPr>
        <p:txBody>
          <a:bodyPr wrap="square">
            <a:spAutoFit/>
          </a:bodyPr>
          <a:lstStyle/>
          <a:p>
            <a:pPr algn="l">
              <a:defRPr sz="2200" b="0">
                <a:solidFill>
                  <a:srgbClr val="FFFFFF"/>
                </a:solidFill>
                <a:latin typeface="Calibri"/>
              </a:defRPr>
            </a:pPr>
            <a:r>
              <a:t>• Logical — cannot be touched</a:t>
            </a:r>
          </a:p>
        </p:txBody>
      </p:sp>
      <p:sp>
        <p:nvSpPr>
          <p:cNvPr id="14" name="TextBox 13"/>
          <p:cNvSpPr txBox="1"/>
          <p:nvPr/>
        </p:nvSpPr>
        <p:spPr>
          <a:xfrm>
            <a:off x="7040880" y="3108960"/>
            <a:ext cx="3840480" cy="548640"/>
          </a:xfrm>
          <a:prstGeom prst="rect">
            <a:avLst/>
          </a:prstGeom>
          <a:noFill/>
        </p:spPr>
        <p:txBody>
          <a:bodyPr wrap="square">
            <a:spAutoFit/>
          </a:bodyPr>
          <a:lstStyle/>
          <a:p>
            <a:pPr algn="l">
              <a:defRPr sz="2200" b="0">
                <a:solidFill>
                  <a:srgbClr val="FFFFFF"/>
                </a:solidFill>
                <a:latin typeface="Calibri"/>
              </a:defRPr>
            </a:pPr>
            <a:r>
              <a:t>• Operating System manages hardware</a:t>
            </a:r>
          </a:p>
        </p:txBody>
      </p:sp>
      <p:sp>
        <p:nvSpPr>
          <p:cNvPr id="15" name="TextBox 14"/>
          <p:cNvSpPr txBox="1"/>
          <p:nvPr/>
        </p:nvSpPr>
        <p:spPr>
          <a:xfrm>
            <a:off x="7040880" y="3840480"/>
            <a:ext cx="3840480" cy="548640"/>
          </a:xfrm>
          <a:prstGeom prst="rect">
            <a:avLst/>
          </a:prstGeom>
          <a:noFill/>
        </p:spPr>
        <p:txBody>
          <a:bodyPr wrap="square">
            <a:spAutoFit/>
          </a:bodyPr>
          <a:lstStyle/>
          <a:p>
            <a:pPr algn="l">
              <a:defRPr sz="2200" b="0">
                <a:solidFill>
                  <a:srgbClr val="FFFFFF"/>
                </a:solidFill>
                <a:latin typeface="Calibri"/>
              </a:defRPr>
            </a:pPr>
            <a:r>
              <a:t>• Applications provide user features</a:t>
            </a:r>
          </a:p>
        </p:txBody>
      </p:sp>
      <p:sp>
        <p:nvSpPr>
          <p:cNvPr id="16" name="TextBox 15"/>
          <p:cNvSpPr txBox="1"/>
          <p:nvPr/>
        </p:nvSpPr>
        <p:spPr>
          <a:xfrm>
            <a:off x="7040880" y="4572000"/>
            <a:ext cx="3840480" cy="548640"/>
          </a:xfrm>
          <a:prstGeom prst="rect">
            <a:avLst/>
          </a:prstGeom>
          <a:noFill/>
        </p:spPr>
        <p:txBody>
          <a:bodyPr wrap="square">
            <a:spAutoFit/>
          </a:bodyPr>
          <a:lstStyle/>
          <a:p>
            <a:pPr algn="l">
              <a:defRPr sz="2200" b="0">
                <a:solidFill>
                  <a:srgbClr val="FFFFFF"/>
                </a:solidFill>
                <a:latin typeface="Calibri"/>
              </a:defRPr>
            </a:pPr>
            <a:r>
              <a:t>• Programs are sets of instructions</a:t>
            </a:r>
          </a:p>
        </p:txBody>
      </p:sp>
      <p:sp>
        <p:nvSpPr>
          <p:cNvPr id="17" name="Rounded Rectangle 16"/>
          <p:cNvSpPr/>
          <p:nvPr/>
        </p:nvSpPr>
        <p:spPr>
          <a:xfrm>
            <a:off x="1828800" y="5669280"/>
            <a:ext cx="8229600" cy="82296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11680" y="5760720"/>
            <a:ext cx="7863840" cy="640080"/>
          </a:xfrm>
          <a:prstGeom prst="rect">
            <a:avLst/>
          </a:prstGeom>
          <a:noFill/>
        </p:spPr>
        <p:txBody>
          <a:bodyPr wrap="square">
            <a:spAutoFit/>
          </a:bodyPr>
          <a:lstStyle/>
          <a:p>
            <a:pPr algn="ctr">
              <a:defRPr sz="2200" b="1">
                <a:solidFill>
                  <a:srgbClr val="FFFFFF"/>
                </a:solidFill>
                <a:latin typeface="Calibri"/>
              </a:defRPr>
            </a:pPr>
            <a:r>
              <a:t>Example: Laptop = Hardware (CPU + RAM + SSD) → Operating System → Applications</a:t>
            </a:r>
          </a:p>
        </p:txBody>
      </p:sp>
      <p:sp>
        <p:nvSpPr>
          <p:cNvPr id="19" name="Rectangle 18"/>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Program</a:t>
            </a:r>
          </a:p>
        </p:txBody>
      </p:sp>
      <p:sp>
        <p:nvSpPr>
          <p:cNvPr id="5" name="TextBox 4"/>
          <p:cNvSpPr txBox="1"/>
          <p:nvPr/>
        </p:nvSpPr>
        <p:spPr>
          <a:xfrm>
            <a:off x="914400" y="1463040"/>
            <a:ext cx="10058400" cy="548640"/>
          </a:xfrm>
          <a:prstGeom prst="rect">
            <a:avLst/>
          </a:prstGeom>
          <a:noFill/>
        </p:spPr>
        <p:txBody>
          <a:bodyPr wrap="square">
            <a:spAutoFit/>
          </a:bodyPr>
          <a:lstStyle/>
          <a:p>
            <a:pPr algn="ctr">
              <a:defRPr sz="2800" b="0">
                <a:solidFill>
                  <a:srgbClr val="1A1A2E"/>
                </a:solidFill>
                <a:latin typeface="Calibri"/>
              </a:defRPr>
            </a:pPr>
            <a:r>
              <a:t>A set of instructions designed to perform a specific task.</a:t>
            </a:r>
          </a:p>
        </p:txBody>
      </p:sp>
      <p:sp>
        <p:nvSpPr>
          <p:cNvPr id="6" name="Rounded Rectangle 5"/>
          <p:cNvSpPr/>
          <p:nvPr/>
        </p:nvSpPr>
        <p:spPr>
          <a:xfrm>
            <a:off x="2743200" y="2377440"/>
            <a:ext cx="6400800" cy="3200400"/>
          </a:xfrm>
          <a:prstGeom prst="roundRect">
            <a:avLst>
              <a:gd name="adj" fmla="val 1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0" y="2651760"/>
            <a:ext cx="5486400" cy="457200"/>
          </a:xfrm>
          <a:prstGeom prst="rect">
            <a:avLst/>
          </a:prstGeom>
          <a:noFill/>
        </p:spPr>
        <p:txBody>
          <a:bodyPr wrap="square">
            <a:spAutoFit/>
          </a:bodyPr>
          <a:lstStyle/>
          <a:p>
            <a:pPr algn="l">
              <a:defRPr sz="2000" b="0">
                <a:solidFill>
                  <a:srgbClr val="A6E22E"/>
                </a:solidFill>
                <a:latin typeface="Consolas"/>
              </a:defRPr>
            </a:pPr>
            <a:r>
              <a:t>def calculate_total(price, tax):</a:t>
            </a:r>
          </a:p>
        </p:txBody>
      </p:sp>
      <p:sp>
        <p:nvSpPr>
          <p:cNvPr id="8" name="TextBox 7"/>
          <p:cNvSpPr txBox="1"/>
          <p:nvPr/>
        </p:nvSpPr>
        <p:spPr>
          <a:xfrm>
            <a:off x="3200400" y="3154680"/>
            <a:ext cx="5486400" cy="457200"/>
          </a:xfrm>
          <a:prstGeom prst="rect">
            <a:avLst/>
          </a:prstGeom>
          <a:noFill/>
        </p:spPr>
        <p:txBody>
          <a:bodyPr wrap="square">
            <a:spAutoFit/>
          </a:bodyPr>
          <a:lstStyle/>
          <a:p>
            <a:pPr algn="l">
              <a:defRPr sz="2000" b="0">
                <a:solidFill>
                  <a:srgbClr val="A6E22E"/>
                </a:solidFill>
                <a:latin typeface="Consolas"/>
              </a:defRPr>
            </a:pPr>
            <a:r>
              <a:t>    return price + tax</a:t>
            </a:r>
          </a:p>
        </p:txBody>
      </p:sp>
      <p:sp>
        <p:nvSpPr>
          <p:cNvPr id="9" name="TextBox 8"/>
          <p:cNvSpPr txBox="1"/>
          <p:nvPr/>
        </p:nvSpPr>
        <p:spPr>
          <a:xfrm>
            <a:off x="3200400" y="3657600"/>
            <a:ext cx="5486400" cy="457200"/>
          </a:xfrm>
          <a:prstGeom prst="rect">
            <a:avLst/>
          </a:prstGeom>
          <a:noFill/>
        </p:spPr>
        <p:txBody>
          <a:bodyPr wrap="square">
            <a:spAutoFit/>
          </a:bodyPr>
          <a:lstStyle/>
          <a:p>
            <a:pPr algn="l">
              <a:defRPr sz="2000" b="0">
                <a:solidFill>
                  <a:srgbClr val="A6E22E"/>
                </a:solidFill>
                <a:latin typeface="Consolas"/>
              </a:defRPr>
            </a:pPr>
            <a:endParaRPr/>
          </a:p>
        </p:txBody>
      </p:sp>
      <p:sp>
        <p:nvSpPr>
          <p:cNvPr id="10" name="TextBox 9"/>
          <p:cNvSpPr txBox="1"/>
          <p:nvPr/>
        </p:nvSpPr>
        <p:spPr>
          <a:xfrm>
            <a:off x="3200400" y="4160520"/>
            <a:ext cx="5486400" cy="457200"/>
          </a:xfrm>
          <a:prstGeom prst="rect">
            <a:avLst/>
          </a:prstGeom>
          <a:noFill/>
        </p:spPr>
        <p:txBody>
          <a:bodyPr wrap="square">
            <a:spAutoFit/>
          </a:bodyPr>
          <a:lstStyle/>
          <a:p>
            <a:pPr algn="l">
              <a:defRPr sz="2000" b="0">
                <a:solidFill>
                  <a:srgbClr val="A6E22E"/>
                </a:solidFill>
                <a:latin typeface="Consolas"/>
              </a:defRPr>
            </a:pPr>
            <a:r>
              <a:t># This is a program component</a:t>
            </a:r>
          </a:p>
        </p:txBody>
      </p:sp>
      <p:sp>
        <p:nvSpPr>
          <p:cNvPr id="11" name="TextBox 10"/>
          <p:cNvSpPr txBox="1"/>
          <p:nvPr/>
        </p:nvSpPr>
        <p:spPr>
          <a:xfrm>
            <a:off x="3200400" y="4663440"/>
            <a:ext cx="5486400" cy="457200"/>
          </a:xfrm>
          <a:prstGeom prst="rect">
            <a:avLst/>
          </a:prstGeom>
          <a:noFill/>
        </p:spPr>
        <p:txBody>
          <a:bodyPr wrap="square">
            <a:spAutoFit/>
          </a:bodyPr>
          <a:lstStyle/>
          <a:p>
            <a:pPr algn="l">
              <a:defRPr sz="2000" b="0">
                <a:solidFill>
                  <a:srgbClr val="A6E22E"/>
                </a:solidFill>
                <a:latin typeface="Consolas"/>
              </a:defRPr>
            </a:pPr>
            <a:r>
              <a:t># It performs a specific task</a:t>
            </a:r>
          </a:p>
        </p:txBody>
      </p:sp>
      <p:sp>
        <p:nvSpPr>
          <p:cNvPr id="12" name="Rectangle 11"/>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Software Is More Than Source Code</a:t>
            </a:r>
          </a:p>
        </p:txBody>
      </p:sp>
      <p:sp>
        <p:nvSpPr>
          <p:cNvPr id="5" name="Oval 4"/>
          <p:cNvSpPr/>
          <p:nvPr/>
        </p:nvSpPr>
        <p:spPr>
          <a:xfrm>
            <a:off x="5120640" y="2743200"/>
            <a:ext cx="1828800" cy="1828800"/>
          </a:xfrm>
          <a:prstGeom prst="ellipse">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120640" y="3200400"/>
            <a:ext cx="1828800" cy="914400"/>
          </a:xfrm>
          <a:prstGeom prst="rect">
            <a:avLst/>
          </a:prstGeom>
          <a:noFill/>
        </p:spPr>
        <p:txBody>
          <a:bodyPr wrap="none">
            <a:spAutoFit/>
          </a:bodyPr>
          <a:lstStyle/>
          <a:p>
            <a:pPr algn="ctr">
              <a:defRPr sz="1800" b="1">
                <a:solidFill>
                  <a:srgbClr val="FFFFFF"/>
                </a:solidFill>
              </a:defRPr>
            </a:pPr>
            <a:r>
              <a:t>Source</a:t>
            </a:r>
            <a:br/>
            <a:r>
              <a:t>Code</a:t>
            </a:r>
          </a:p>
        </p:txBody>
      </p:sp>
      <p:sp>
        <p:nvSpPr>
          <p:cNvPr id="7" name="Rounded Rectangle 6"/>
          <p:cNvSpPr/>
          <p:nvPr/>
        </p:nvSpPr>
        <p:spPr>
          <a:xfrm>
            <a:off x="5212080" y="1005840"/>
            <a:ext cx="1828800" cy="7315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80" y="1188720"/>
            <a:ext cx="1828800" cy="365760"/>
          </a:xfrm>
          <a:prstGeom prst="rect">
            <a:avLst/>
          </a:prstGeom>
          <a:noFill/>
        </p:spPr>
        <p:txBody>
          <a:bodyPr wrap="square">
            <a:spAutoFit/>
          </a:bodyPr>
          <a:lstStyle/>
          <a:p>
            <a:pPr algn="ctr">
              <a:defRPr sz="2000" b="1">
                <a:solidFill>
                  <a:srgbClr val="FFFFFF"/>
                </a:solidFill>
                <a:latin typeface="Calibri"/>
              </a:defRPr>
            </a:pPr>
            <a:r>
              <a:t>Libraries</a:t>
            </a:r>
          </a:p>
        </p:txBody>
      </p:sp>
      <p:sp>
        <p:nvSpPr>
          <p:cNvPr id="9" name="Rounded Rectangle 8"/>
          <p:cNvSpPr/>
          <p:nvPr/>
        </p:nvSpPr>
        <p:spPr>
          <a:xfrm>
            <a:off x="7386195" y="2585428"/>
            <a:ext cx="1828800" cy="7315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86195" y="2768308"/>
            <a:ext cx="1828800" cy="365760"/>
          </a:xfrm>
          <a:prstGeom prst="rect">
            <a:avLst/>
          </a:prstGeom>
          <a:noFill/>
        </p:spPr>
        <p:txBody>
          <a:bodyPr wrap="square">
            <a:spAutoFit/>
          </a:bodyPr>
          <a:lstStyle/>
          <a:p>
            <a:pPr algn="ctr">
              <a:defRPr sz="2000" b="1">
                <a:solidFill>
                  <a:srgbClr val="FFFFFF"/>
                </a:solidFill>
                <a:latin typeface="Calibri"/>
              </a:defRPr>
            </a:pPr>
            <a:r>
              <a:t>Database</a:t>
            </a:r>
          </a:p>
        </p:txBody>
      </p:sp>
      <p:sp>
        <p:nvSpPr>
          <p:cNvPr id="11" name="Rounded Rectangle 10"/>
          <p:cNvSpPr/>
          <p:nvPr/>
        </p:nvSpPr>
        <p:spPr>
          <a:xfrm>
            <a:off x="6555757" y="5141252"/>
            <a:ext cx="1828800" cy="7315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55757" y="5324132"/>
            <a:ext cx="1828800" cy="365760"/>
          </a:xfrm>
          <a:prstGeom prst="rect">
            <a:avLst/>
          </a:prstGeom>
          <a:noFill/>
        </p:spPr>
        <p:txBody>
          <a:bodyPr wrap="square">
            <a:spAutoFit/>
          </a:bodyPr>
          <a:lstStyle/>
          <a:p>
            <a:pPr algn="ctr">
              <a:defRPr sz="2000" b="1">
                <a:solidFill>
                  <a:srgbClr val="FFFFFF"/>
                </a:solidFill>
                <a:latin typeface="Calibri"/>
              </a:defRPr>
            </a:pPr>
            <a:r>
              <a:t>APIs</a:t>
            </a:r>
          </a:p>
        </p:txBody>
      </p:sp>
      <p:sp>
        <p:nvSpPr>
          <p:cNvPr id="13" name="Rounded Rectangle 12"/>
          <p:cNvSpPr/>
          <p:nvPr/>
        </p:nvSpPr>
        <p:spPr>
          <a:xfrm>
            <a:off x="3868403" y="5141252"/>
            <a:ext cx="1828800" cy="73152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68403" y="5324132"/>
            <a:ext cx="1828800" cy="365760"/>
          </a:xfrm>
          <a:prstGeom prst="rect">
            <a:avLst/>
          </a:prstGeom>
          <a:noFill/>
        </p:spPr>
        <p:txBody>
          <a:bodyPr wrap="square">
            <a:spAutoFit/>
          </a:bodyPr>
          <a:lstStyle/>
          <a:p>
            <a:pPr algn="ctr">
              <a:defRPr sz="2000" b="1">
                <a:solidFill>
                  <a:srgbClr val="FFFFFF"/>
                </a:solidFill>
                <a:latin typeface="Calibri"/>
              </a:defRPr>
            </a:pPr>
            <a:r>
              <a:t>Documentation</a:t>
            </a:r>
          </a:p>
        </p:txBody>
      </p:sp>
      <p:sp>
        <p:nvSpPr>
          <p:cNvPr id="15" name="Rounded Rectangle 14"/>
          <p:cNvSpPr/>
          <p:nvPr/>
        </p:nvSpPr>
        <p:spPr>
          <a:xfrm>
            <a:off x="3037965" y="2585428"/>
            <a:ext cx="1828800" cy="73152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37965" y="2768308"/>
            <a:ext cx="1828800" cy="365760"/>
          </a:xfrm>
          <a:prstGeom prst="rect">
            <a:avLst/>
          </a:prstGeom>
          <a:noFill/>
        </p:spPr>
        <p:txBody>
          <a:bodyPr wrap="square">
            <a:spAutoFit/>
          </a:bodyPr>
          <a:lstStyle/>
          <a:p>
            <a:pPr algn="ctr">
              <a:defRPr sz="2000" b="1">
                <a:solidFill>
                  <a:srgbClr val="FFFFFF"/>
                </a:solidFill>
                <a:latin typeface="Calibri"/>
              </a:defRPr>
            </a:pPr>
            <a:r>
              <a:t>Infrastructure</a:t>
            </a:r>
          </a:p>
        </p:txBody>
      </p:sp>
      <p:sp>
        <p:nvSpPr>
          <p:cNvPr id="17" name="TextBox 16"/>
          <p:cNvSpPr txBox="1"/>
          <p:nvPr/>
        </p:nvSpPr>
        <p:spPr>
          <a:xfrm>
            <a:off x="1828800" y="5943600"/>
            <a:ext cx="8229600" cy="548640"/>
          </a:xfrm>
          <a:prstGeom prst="rect">
            <a:avLst/>
          </a:prstGeom>
          <a:noFill/>
        </p:spPr>
        <p:txBody>
          <a:bodyPr wrap="square">
            <a:spAutoFit/>
          </a:bodyPr>
          <a:lstStyle/>
          <a:p>
            <a:pPr algn="ctr">
              <a:defRPr sz="2600" b="1">
                <a:solidFill>
                  <a:srgbClr val="1A3A5C"/>
                </a:solidFill>
                <a:latin typeface="Calibri"/>
              </a:defRPr>
            </a:pPr>
            <a:r>
              <a:t>Software is more than source code — it includes everything needed to make a system work.</a:t>
            </a:r>
          </a:p>
        </p:txBody>
      </p:sp>
      <p:sp>
        <p:nvSpPr>
          <p:cNvPr id="18" name="Rectangle 17"/>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Application Software</a:t>
            </a:r>
          </a:p>
        </p:txBody>
      </p:sp>
      <p:sp>
        <p:nvSpPr>
          <p:cNvPr id="5" name="Rounded Rectangle 4"/>
          <p:cNvSpPr/>
          <p:nvPr/>
        </p:nvSpPr>
        <p:spPr>
          <a:xfrm>
            <a:off x="914400" y="1645920"/>
            <a:ext cx="3017520" cy="164592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94560"/>
            <a:ext cx="3017520" cy="457200"/>
          </a:xfrm>
          <a:prstGeom prst="rect">
            <a:avLst/>
          </a:prstGeom>
          <a:noFill/>
        </p:spPr>
        <p:txBody>
          <a:bodyPr wrap="square">
            <a:spAutoFit/>
          </a:bodyPr>
          <a:lstStyle/>
          <a:p>
            <a:pPr algn="ctr">
              <a:defRPr sz="2400" b="1">
                <a:solidFill>
                  <a:srgbClr val="FFFFFF"/>
                </a:solidFill>
                <a:latin typeface="Calibri"/>
              </a:defRPr>
            </a:pPr>
            <a:r>
              <a:t>Microsoft Word</a:t>
            </a:r>
          </a:p>
        </p:txBody>
      </p:sp>
      <p:sp>
        <p:nvSpPr>
          <p:cNvPr id="7" name="Rounded Rectangle 6"/>
          <p:cNvSpPr/>
          <p:nvPr/>
        </p:nvSpPr>
        <p:spPr>
          <a:xfrm>
            <a:off x="4389120" y="1645920"/>
            <a:ext cx="3017520" cy="16459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89120" y="2194560"/>
            <a:ext cx="3017520" cy="457200"/>
          </a:xfrm>
          <a:prstGeom prst="rect">
            <a:avLst/>
          </a:prstGeom>
          <a:noFill/>
        </p:spPr>
        <p:txBody>
          <a:bodyPr wrap="square">
            <a:spAutoFit/>
          </a:bodyPr>
          <a:lstStyle/>
          <a:p>
            <a:pPr algn="ctr">
              <a:defRPr sz="2400" b="1">
                <a:solidFill>
                  <a:srgbClr val="FFFFFF"/>
                </a:solidFill>
                <a:latin typeface="Calibri"/>
              </a:defRPr>
            </a:pPr>
            <a:r>
              <a:t>WhatsApp</a:t>
            </a:r>
          </a:p>
        </p:txBody>
      </p:sp>
      <p:sp>
        <p:nvSpPr>
          <p:cNvPr id="9" name="Rounded Rectangle 8"/>
          <p:cNvSpPr/>
          <p:nvPr/>
        </p:nvSpPr>
        <p:spPr>
          <a:xfrm>
            <a:off x="7863840" y="1645920"/>
            <a:ext cx="3017520" cy="16459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2194560"/>
            <a:ext cx="3017520" cy="457200"/>
          </a:xfrm>
          <a:prstGeom prst="rect">
            <a:avLst/>
          </a:prstGeom>
          <a:noFill/>
        </p:spPr>
        <p:txBody>
          <a:bodyPr wrap="square">
            <a:spAutoFit/>
          </a:bodyPr>
          <a:lstStyle/>
          <a:p>
            <a:pPr algn="ctr">
              <a:defRPr sz="2400" b="1">
                <a:solidFill>
                  <a:srgbClr val="FFFFFF"/>
                </a:solidFill>
                <a:latin typeface="Calibri"/>
              </a:defRPr>
            </a:pPr>
            <a:r>
              <a:t>Spotify</a:t>
            </a:r>
          </a:p>
        </p:txBody>
      </p:sp>
      <p:sp>
        <p:nvSpPr>
          <p:cNvPr id="11" name="Rounded Rectangle 10"/>
          <p:cNvSpPr/>
          <p:nvPr/>
        </p:nvSpPr>
        <p:spPr>
          <a:xfrm>
            <a:off x="914400" y="3657600"/>
            <a:ext cx="3017520" cy="16459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206240"/>
            <a:ext cx="3017520" cy="457200"/>
          </a:xfrm>
          <a:prstGeom prst="rect">
            <a:avLst/>
          </a:prstGeom>
          <a:noFill/>
        </p:spPr>
        <p:txBody>
          <a:bodyPr wrap="square">
            <a:spAutoFit/>
          </a:bodyPr>
          <a:lstStyle/>
          <a:p>
            <a:pPr algn="ctr">
              <a:defRPr sz="2400" b="1">
                <a:solidFill>
                  <a:srgbClr val="FFFFFF"/>
                </a:solidFill>
                <a:latin typeface="Calibri"/>
              </a:defRPr>
            </a:pPr>
            <a:r>
              <a:t>Google Chrome</a:t>
            </a:r>
          </a:p>
        </p:txBody>
      </p:sp>
      <p:sp>
        <p:nvSpPr>
          <p:cNvPr id="13" name="Rounded Rectangle 12"/>
          <p:cNvSpPr/>
          <p:nvPr/>
        </p:nvSpPr>
        <p:spPr>
          <a:xfrm>
            <a:off x="4389120" y="3657600"/>
            <a:ext cx="3017520" cy="164592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4206240"/>
            <a:ext cx="3017520" cy="457200"/>
          </a:xfrm>
          <a:prstGeom prst="rect">
            <a:avLst/>
          </a:prstGeom>
          <a:noFill/>
        </p:spPr>
        <p:txBody>
          <a:bodyPr wrap="square">
            <a:spAutoFit/>
          </a:bodyPr>
          <a:lstStyle/>
          <a:p>
            <a:pPr algn="ctr">
              <a:defRPr sz="2400" b="1">
                <a:solidFill>
                  <a:srgbClr val="FFFFFF"/>
                </a:solidFill>
                <a:latin typeface="Calibri"/>
              </a:defRPr>
            </a:pPr>
            <a:r>
              <a:t>Photoshop</a:t>
            </a:r>
          </a:p>
        </p:txBody>
      </p:sp>
      <p:sp>
        <p:nvSpPr>
          <p:cNvPr id="15" name="Rounded Rectangle 14"/>
          <p:cNvSpPr/>
          <p:nvPr/>
        </p:nvSpPr>
        <p:spPr>
          <a:xfrm>
            <a:off x="7863840" y="3657600"/>
            <a:ext cx="3017520" cy="164592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4206240"/>
            <a:ext cx="3017520" cy="457200"/>
          </a:xfrm>
          <a:prstGeom prst="rect">
            <a:avLst/>
          </a:prstGeom>
          <a:noFill/>
        </p:spPr>
        <p:txBody>
          <a:bodyPr wrap="square">
            <a:spAutoFit/>
          </a:bodyPr>
          <a:lstStyle/>
          <a:p>
            <a:pPr algn="ctr">
              <a:defRPr sz="2400" b="1">
                <a:solidFill>
                  <a:srgbClr val="FFFFFF"/>
                </a:solidFill>
                <a:latin typeface="Calibri"/>
              </a:defRPr>
            </a:pPr>
            <a:r>
              <a:t>University LMS</a:t>
            </a:r>
          </a:p>
        </p:txBody>
      </p:sp>
      <p:sp>
        <p:nvSpPr>
          <p:cNvPr id="17" name="TextBox 16"/>
          <p:cNvSpPr txBox="1"/>
          <p:nvPr/>
        </p:nvSpPr>
        <p:spPr>
          <a:xfrm>
            <a:off x="914400" y="5943600"/>
            <a:ext cx="10058400" cy="548640"/>
          </a:xfrm>
          <a:prstGeom prst="rect">
            <a:avLst/>
          </a:prstGeom>
          <a:noFill/>
        </p:spPr>
        <p:txBody>
          <a:bodyPr wrap="square">
            <a:spAutoFit/>
          </a:bodyPr>
          <a:lstStyle/>
          <a:p>
            <a:pPr algn="ctr">
              <a:defRPr sz="2600" b="1">
                <a:solidFill>
                  <a:srgbClr val="1A3A5C"/>
                </a:solidFill>
                <a:latin typeface="Calibri"/>
              </a:defRPr>
            </a:pPr>
            <a:r>
              <a:t>Applications directly provide functionality to end users.</a:t>
            </a:r>
          </a:p>
        </p:txBody>
      </p:sp>
      <p:sp>
        <p:nvSpPr>
          <p:cNvPr id="18" name="Rectangle 17"/>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System Software</a:t>
            </a:r>
          </a:p>
        </p:txBody>
      </p:sp>
      <p:sp>
        <p:nvSpPr>
          <p:cNvPr id="5" name="Rounded Rectangle 4"/>
          <p:cNvSpPr/>
          <p:nvPr/>
        </p:nvSpPr>
        <p:spPr>
          <a:xfrm>
            <a:off x="3291840" y="1645920"/>
            <a:ext cx="5486400" cy="9144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91840" y="1874520"/>
            <a:ext cx="5486400" cy="457200"/>
          </a:xfrm>
          <a:prstGeom prst="rect">
            <a:avLst/>
          </a:prstGeom>
          <a:noFill/>
        </p:spPr>
        <p:txBody>
          <a:bodyPr wrap="square">
            <a:spAutoFit/>
          </a:bodyPr>
          <a:lstStyle/>
          <a:p>
            <a:pPr algn="ctr">
              <a:defRPr sz="2800" b="1">
                <a:solidFill>
                  <a:srgbClr val="FFFFFF"/>
                </a:solidFill>
                <a:latin typeface="Calibri"/>
              </a:defRPr>
            </a:pPr>
            <a:r>
              <a:t>User</a:t>
            </a:r>
          </a:p>
        </p:txBody>
      </p:sp>
      <p:sp>
        <p:nvSpPr>
          <p:cNvPr id="7" name="Down Arrow 6"/>
          <p:cNvSpPr/>
          <p:nvPr/>
        </p:nvSpPr>
        <p:spPr>
          <a:xfrm>
            <a:off x="5897880" y="256032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91840" y="2834640"/>
            <a:ext cx="5486400" cy="9144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91840" y="3063240"/>
            <a:ext cx="5486400" cy="457200"/>
          </a:xfrm>
          <a:prstGeom prst="rect">
            <a:avLst/>
          </a:prstGeom>
          <a:noFill/>
        </p:spPr>
        <p:txBody>
          <a:bodyPr wrap="square">
            <a:spAutoFit/>
          </a:bodyPr>
          <a:lstStyle/>
          <a:p>
            <a:pPr algn="ctr">
              <a:defRPr sz="2800" b="1">
                <a:solidFill>
                  <a:srgbClr val="FFFFFF"/>
                </a:solidFill>
                <a:latin typeface="Calibri"/>
              </a:defRPr>
            </a:pPr>
            <a:r>
              <a:t>Application</a:t>
            </a:r>
          </a:p>
        </p:txBody>
      </p:sp>
      <p:sp>
        <p:nvSpPr>
          <p:cNvPr id="10" name="Down Arrow 9"/>
          <p:cNvSpPr/>
          <p:nvPr/>
        </p:nvSpPr>
        <p:spPr>
          <a:xfrm>
            <a:off x="5897880" y="37490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291840" y="4023360"/>
            <a:ext cx="5486400" cy="9144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4251960"/>
            <a:ext cx="5486400" cy="457200"/>
          </a:xfrm>
          <a:prstGeom prst="rect">
            <a:avLst/>
          </a:prstGeom>
          <a:noFill/>
        </p:spPr>
        <p:txBody>
          <a:bodyPr wrap="square">
            <a:spAutoFit/>
          </a:bodyPr>
          <a:lstStyle/>
          <a:p>
            <a:pPr algn="ctr">
              <a:defRPr sz="2800" b="1">
                <a:solidFill>
                  <a:srgbClr val="FFFFFF"/>
                </a:solidFill>
                <a:latin typeface="Calibri"/>
              </a:defRPr>
            </a:pPr>
            <a:r>
              <a:t>Operating System</a:t>
            </a:r>
          </a:p>
        </p:txBody>
      </p:sp>
      <p:sp>
        <p:nvSpPr>
          <p:cNvPr id="13" name="Down Arrow 12"/>
          <p:cNvSpPr/>
          <p:nvPr/>
        </p:nvSpPr>
        <p:spPr>
          <a:xfrm>
            <a:off x="5897880" y="49377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291840" y="5212080"/>
            <a:ext cx="5486400" cy="9144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91840" y="5440680"/>
            <a:ext cx="5486400" cy="457200"/>
          </a:xfrm>
          <a:prstGeom prst="rect">
            <a:avLst/>
          </a:prstGeom>
          <a:noFill/>
        </p:spPr>
        <p:txBody>
          <a:bodyPr wrap="square">
            <a:spAutoFit/>
          </a:bodyPr>
          <a:lstStyle/>
          <a:p>
            <a:pPr algn="ctr">
              <a:defRPr sz="2800" b="1">
                <a:solidFill>
                  <a:srgbClr val="FFFFFF"/>
                </a:solidFill>
                <a:latin typeface="Calibri"/>
              </a:defRPr>
            </a:pPr>
            <a:r>
              <a:t>Hardware</a:t>
            </a:r>
          </a:p>
        </p:txBody>
      </p:sp>
      <p:sp>
        <p:nvSpPr>
          <p:cNvPr id="16" name="TextBox 15"/>
          <p:cNvSpPr txBox="1"/>
          <p:nvPr/>
        </p:nvSpPr>
        <p:spPr>
          <a:xfrm>
            <a:off x="9601200" y="1645920"/>
            <a:ext cx="2286000" cy="457200"/>
          </a:xfrm>
          <a:prstGeom prst="rect">
            <a:avLst/>
          </a:prstGeom>
          <a:noFill/>
        </p:spPr>
        <p:txBody>
          <a:bodyPr wrap="square">
            <a:spAutoFit/>
          </a:bodyPr>
          <a:lstStyle/>
          <a:p>
            <a:pPr algn="l">
              <a:defRPr sz="2200" b="0">
                <a:solidFill>
                  <a:srgbClr val="1A1A2E"/>
                </a:solidFill>
                <a:latin typeface="Calibri"/>
              </a:defRPr>
            </a:pPr>
            <a:r>
              <a:t>• Windows</a:t>
            </a:r>
          </a:p>
        </p:txBody>
      </p:sp>
      <p:sp>
        <p:nvSpPr>
          <p:cNvPr id="17" name="TextBox 16"/>
          <p:cNvSpPr txBox="1"/>
          <p:nvPr/>
        </p:nvSpPr>
        <p:spPr>
          <a:xfrm>
            <a:off x="9601200" y="2468880"/>
            <a:ext cx="2286000" cy="457200"/>
          </a:xfrm>
          <a:prstGeom prst="rect">
            <a:avLst/>
          </a:prstGeom>
          <a:noFill/>
        </p:spPr>
        <p:txBody>
          <a:bodyPr wrap="square">
            <a:spAutoFit/>
          </a:bodyPr>
          <a:lstStyle/>
          <a:p>
            <a:pPr algn="l">
              <a:defRPr sz="2200" b="0">
                <a:solidFill>
                  <a:srgbClr val="1A1A2E"/>
                </a:solidFill>
                <a:latin typeface="Calibri"/>
              </a:defRPr>
            </a:pPr>
            <a:r>
              <a:t>• Linux</a:t>
            </a:r>
          </a:p>
        </p:txBody>
      </p:sp>
      <p:sp>
        <p:nvSpPr>
          <p:cNvPr id="18" name="TextBox 17"/>
          <p:cNvSpPr txBox="1"/>
          <p:nvPr/>
        </p:nvSpPr>
        <p:spPr>
          <a:xfrm>
            <a:off x="9601200" y="3291840"/>
            <a:ext cx="2286000" cy="457200"/>
          </a:xfrm>
          <a:prstGeom prst="rect">
            <a:avLst/>
          </a:prstGeom>
          <a:noFill/>
        </p:spPr>
        <p:txBody>
          <a:bodyPr wrap="square">
            <a:spAutoFit/>
          </a:bodyPr>
          <a:lstStyle/>
          <a:p>
            <a:pPr algn="l">
              <a:defRPr sz="2200" b="0">
                <a:solidFill>
                  <a:srgbClr val="1A1A2E"/>
                </a:solidFill>
                <a:latin typeface="Calibri"/>
              </a:defRPr>
            </a:pPr>
            <a:r>
              <a:t>• Android</a:t>
            </a:r>
          </a:p>
        </p:txBody>
      </p:sp>
      <p:sp>
        <p:nvSpPr>
          <p:cNvPr id="19" name="TextBox 18"/>
          <p:cNvSpPr txBox="1"/>
          <p:nvPr/>
        </p:nvSpPr>
        <p:spPr>
          <a:xfrm>
            <a:off x="9601200" y="4114800"/>
            <a:ext cx="2286000" cy="457200"/>
          </a:xfrm>
          <a:prstGeom prst="rect">
            <a:avLst/>
          </a:prstGeom>
          <a:noFill/>
        </p:spPr>
        <p:txBody>
          <a:bodyPr wrap="square">
            <a:spAutoFit/>
          </a:bodyPr>
          <a:lstStyle/>
          <a:p>
            <a:pPr algn="l">
              <a:defRPr sz="2200" b="0">
                <a:solidFill>
                  <a:srgbClr val="1A1A2E"/>
                </a:solidFill>
                <a:latin typeface="Calibri"/>
              </a:defRPr>
            </a:pPr>
            <a:r>
              <a:t>• macOS</a:t>
            </a:r>
          </a:p>
        </p:txBody>
      </p:sp>
      <p:sp>
        <p:nvSpPr>
          <p:cNvPr id="20" name="Rectangle 19"/>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068"/>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Embedded Software</a:t>
            </a:r>
          </a:p>
        </p:txBody>
      </p:sp>
      <p:sp>
        <p:nvSpPr>
          <p:cNvPr id="5" name="TextBox 4"/>
          <p:cNvSpPr txBox="1"/>
          <p:nvPr/>
        </p:nvSpPr>
        <p:spPr>
          <a:xfrm>
            <a:off x="914400" y="1463040"/>
            <a:ext cx="10058400" cy="548640"/>
          </a:xfrm>
          <a:prstGeom prst="rect">
            <a:avLst/>
          </a:prstGeom>
          <a:noFill/>
        </p:spPr>
        <p:txBody>
          <a:bodyPr wrap="square">
            <a:spAutoFit/>
          </a:bodyPr>
          <a:lstStyle/>
          <a:p>
            <a:pPr algn="ctr">
              <a:defRPr sz="2600" b="0">
                <a:solidFill>
                  <a:srgbClr val="1A1A2E"/>
                </a:solidFill>
                <a:latin typeface="Calibri"/>
              </a:defRPr>
            </a:pPr>
            <a:r>
              <a:t>Software inside physical devices</a:t>
            </a:r>
          </a:p>
        </p:txBody>
      </p:sp>
      <p:sp>
        <p:nvSpPr>
          <p:cNvPr id="6" name="Rounded Rectangle 5"/>
          <p:cNvSpPr/>
          <p:nvPr/>
        </p:nvSpPr>
        <p:spPr>
          <a:xfrm>
            <a:off x="1097280" y="2194560"/>
            <a:ext cx="3017520" cy="128016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2560320"/>
            <a:ext cx="3017520" cy="548640"/>
          </a:xfrm>
          <a:prstGeom prst="rect">
            <a:avLst/>
          </a:prstGeom>
          <a:noFill/>
        </p:spPr>
        <p:txBody>
          <a:bodyPr wrap="square">
            <a:spAutoFit/>
          </a:bodyPr>
          <a:lstStyle/>
          <a:p>
            <a:pPr algn="ctr">
              <a:defRPr sz="2200" b="1">
                <a:solidFill>
                  <a:srgbClr val="FFFFFF"/>
                </a:solidFill>
                <a:latin typeface="Calibri"/>
              </a:defRPr>
            </a:pPr>
            <a:r>
              <a:t>Cars</a:t>
            </a:r>
          </a:p>
        </p:txBody>
      </p:sp>
      <p:sp>
        <p:nvSpPr>
          <p:cNvPr id="8" name="Rounded Rectangle 7"/>
          <p:cNvSpPr/>
          <p:nvPr/>
        </p:nvSpPr>
        <p:spPr>
          <a:xfrm>
            <a:off x="4572000" y="2194560"/>
            <a:ext cx="3017520" cy="128016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2560320"/>
            <a:ext cx="3017520" cy="548640"/>
          </a:xfrm>
          <a:prstGeom prst="rect">
            <a:avLst/>
          </a:prstGeom>
          <a:noFill/>
        </p:spPr>
        <p:txBody>
          <a:bodyPr wrap="square">
            <a:spAutoFit/>
          </a:bodyPr>
          <a:lstStyle/>
          <a:p>
            <a:pPr algn="ctr">
              <a:defRPr sz="2200" b="1">
                <a:solidFill>
                  <a:srgbClr val="FFFFFF"/>
                </a:solidFill>
                <a:latin typeface="Calibri"/>
              </a:defRPr>
            </a:pPr>
            <a:r>
              <a:t>ATMs</a:t>
            </a:r>
          </a:p>
        </p:txBody>
      </p:sp>
      <p:sp>
        <p:nvSpPr>
          <p:cNvPr id="10" name="Rounded Rectangle 9"/>
          <p:cNvSpPr/>
          <p:nvPr/>
        </p:nvSpPr>
        <p:spPr>
          <a:xfrm>
            <a:off x="8046719" y="2194560"/>
            <a:ext cx="3017520" cy="128016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9" y="2560320"/>
            <a:ext cx="3017520" cy="769441"/>
          </a:xfrm>
          <a:prstGeom prst="rect">
            <a:avLst/>
          </a:prstGeom>
          <a:noFill/>
        </p:spPr>
        <p:txBody>
          <a:bodyPr wrap="square">
            <a:spAutoFit/>
          </a:bodyPr>
          <a:lstStyle/>
          <a:p>
            <a:pPr algn="ctr">
              <a:defRPr sz="2200" b="1">
                <a:solidFill>
                  <a:srgbClr val="FFFFFF"/>
                </a:solidFill>
                <a:latin typeface="Calibri"/>
              </a:defRPr>
            </a:pPr>
            <a:r>
              <a:rPr lang="en-US" dirty="0"/>
              <a:t>Automatic </a:t>
            </a:r>
            <a:r>
              <a:rPr dirty="0"/>
              <a:t>Washing Machines</a:t>
            </a:r>
          </a:p>
        </p:txBody>
      </p:sp>
      <p:sp>
        <p:nvSpPr>
          <p:cNvPr id="12" name="Rounded Rectangle 11"/>
          <p:cNvSpPr/>
          <p:nvPr/>
        </p:nvSpPr>
        <p:spPr>
          <a:xfrm>
            <a:off x="1097280" y="3840480"/>
            <a:ext cx="3017520" cy="128016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4206240"/>
            <a:ext cx="3017520" cy="548640"/>
          </a:xfrm>
          <a:prstGeom prst="rect">
            <a:avLst/>
          </a:prstGeom>
          <a:noFill/>
        </p:spPr>
        <p:txBody>
          <a:bodyPr wrap="square">
            <a:spAutoFit/>
          </a:bodyPr>
          <a:lstStyle/>
          <a:p>
            <a:pPr algn="ctr">
              <a:defRPr sz="2200" b="1">
                <a:solidFill>
                  <a:srgbClr val="FFFFFF"/>
                </a:solidFill>
                <a:latin typeface="Calibri"/>
              </a:defRPr>
            </a:pPr>
            <a:r>
              <a:t>Smart Watches</a:t>
            </a:r>
          </a:p>
        </p:txBody>
      </p:sp>
      <p:sp>
        <p:nvSpPr>
          <p:cNvPr id="14" name="Rounded Rectangle 13"/>
          <p:cNvSpPr/>
          <p:nvPr/>
        </p:nvSpPr>
        <p:spPr>
          <a:xfrm>
            <a:off x="4572000" y="3840480"/>
            <a:ext cx="3017520" cy="128016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4206240"/>
            <a:ext cx="3017520" cy="548640"/>
          </a:xfrm>
          <a:prstGeom prst="rect">
            <a:avLst/>
          </a:prstGeom>
          <a:noFill/>
        </p:spPr>
        <p:txBody>
          <a:bodyPr wrap="square">
            <a:spAutoFit/>
          </a:bodyPr>
          <a:lstStyle/>
          <a:p>
            <a:pPr algn="ctr">
              <a:defRPr sz="2200" b="1">
                <a:solidFill>
                  <a:srgbClr val="FFFFFF"/>
                </a:solidFill>
                <a:latin typeface="Calibri"/>
              </a:defRPr>
            </a:pPr>
            <a:r>
              <a:t>Medical Devices</a:t>
            </a:r>
          </a:p>
        </p:txBody>
      </p:sp>
      <p:sp>
        <p:nvSpPr>
          <p:cNvPr id="16" name="Rounded Rectangle 15"/>
          <p:cNvSpPr/>
          <p:nvPr/>
        </p:nvSpPr>
        <p:spPr>
          <a:xfrm>
            <a:off x="8046719" y="3840480"/>
            <a:ext cx="3017520" cy="12801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19" y="4206240"/>
            <a:ext cx="3017520" cy="548640"/>
          </a:xfrm>
          <a:prstGeom prst="rect">
            <a:avLst/>
          </a:prstGeom>
          <a:noFill/>
        </p:spPr>
        <p:txBody>
          <a:bodyPr wrap="square">
            <a:spAutoFit/>
          </a:bodyPr>
          <a:lstStyle/>
          <a:p>
            <a:pPr algn="ctr">
              <a:defRPr sz="2200" b="1">
                <a:solidFill>
                  <a:srgbClr val="FFFFFF"/>
                </a:solidFill>
                <a:latin typeface="Calibri"/>
              </a:defRPr>
            </a:pPr>
            <a:r>
              <a:t>Aircraft Systems</a:t>
            </a:r>
          </a:p>
        </p:txBody>
      </p:sp>
      <p:sp>
        <p:nvSpPr>
          <p:cNvPr id="18" name="Rounded Rectangle 17"/>
          <p:cNvSpPr/>
          <p:nvPr/>
        </p:nvSpPr>
        <p:spPr>
          <a:xfrm>
            <a:off x="1371600" y="5303520"/>
            <a:ext cx="9144000" cy="12801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54480" y="5394960"/>
            <a:ext cx="8778240" cy="1097280"/>
          </a:xfrm>
          <a:prstGeom prst="rect">
            <a:avLst/>
          </a:prstGeom>
          <a:noFill/>
        </p:spPr>
        <p:txBody>
          <a:bodyPr wrap="square">
            <a:spAutoFit/>
          </a:bodyPr>
          <a:lstStyle/>
          <a:p>
            <a:pPr algn="ctr">
              <a:defRPr sz="2200" b="0">
                <a:solidFill>
                  <a:srgbClr val="FFFFFF"/>
                </a:solidFill>
                <a:latin typeface="Calibri"/>
              </a:defRPr>
            </a:pPr>
            <a:r>
              <a:t>Scenario: If car braking software fails, can we simply restart? Obviously not.</a:t>
            </a:r>
            <a:br/>
            <a:r>
              <a:t>Lesson: Software quality can become a safety issue — lives depend on it.</a:t>
            </a:r>
          </a:p>
        </p:txBody>
      </p:sp>
      <p:sp>
        <p:nvSpPr>
          <p:cNvPr id="20" name="Rectangle 19"/>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Software</a:t>
            </a:r>
          </a:p>
        </p:txBody>
      </p:sp>
      <p:sp>
        <p:nvSpPr>
          <p:cNvPr id="5" name="Rounded Rectangle 4"/>
          <p:cNvSpPr/>
          <p:nvPr/>
        </p:nvSpPr>
        <p:spPr>
          <a:xfrm>
            <a:off x="4297680" y="1554480"/>
            <a:ext cx="3474720" cy="6400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97680" y="1554480"/>
            <a:ext cx="3474720" cy="640080"/>
          </a:xfrm>
          <a:prstGeom prst="rect">
            <a:avLst/>
          </a:prstGeom>
          <a:noFill/>
        </p:spPr>
        <p:txBody>
          <a:bodyPr wrap="square">
            <a:spAutoFit/>
          </a:bodyPr>
          <a:lstStyle/>
          <a:p>
            <a:pPr algn="ctr">
              <a:defRPr sz="1700" b="1">
                <a:solidFill>
                  <a:srgbClr val="FFFFFF"/>
                </a:solidFill>
                <a:latin typeface="Calibri"/>
              </a:defRPr>
            </a:pPr>
            <a:r>
              <a:t>User</a:t>
            </a:r>
          </a:p>
        </p:txBody>
      </p:sp>
      <p:sp>
        <p:nvSpPr>
          <p:cNvPr id="7" name="Down Arrow 6"/>
          <p:cNvSpPr/>
          <p:nvPr/>
        </p:nvSpPr>
        <p:spPr>
          <a:xfrm>
            <a:off x="5897880" y="21945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97680" y="2331720"/>
            <a:ext cx="3474720" cy="6400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0" y="2331720"/>
            <a:ext cx="3474720" cy="640080"/>
          </a:xfrm>
          <a:prstGeom prst="rect">
            <a:avLst/>
          </a:prstGeom>
          <a:noFill/>
        </p:spPr>
        <p:txBody>
          <a:bodyPr wrap="square">
            <a:spAutoFit/>
          </a:bodyPr>
          <a:lstStyle/>
          <a:p>
            <a:pPr algn="ctr">
              <a:defRPr sz="1700" b="1">
                <a:solidFill>
                  <a:srgbClr val="FFFFFF"/>
                </a:solidFill>
                <a:latin typeface="Calibri"/>
              </a:defRPr>
            </a:pPr>
            <a:r>
              <a:t>Frontend</a:t>
            </a:r>
          </a:p>
        </p:txBody>
      </p:sp>
      <p:sp>
        <p:nvSpPr>
          <p:cNvPr id="10" name="Down Arrow 9"/>
          <p:cNvSpPr/>
          <p:nvPr/>
        </p:nvSpPr>
        <p:spPr>
          <a:xfrm>
            <a:off x="5897880" y="29718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97680" y="3108960"/>
            <a:ext cx="347472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97680" y="3108960"/>
            <a:ext cx="3474720" cy="640080"/>
          </a:xfrm>
          <a:prstGeom prst="rect">
            <a:avLst/>
          </a:prstGeom>
          <a:noFill/>
        </p:spPr>
        <p:txBody>
          <a:bodyPr wrap="square">
            <a:spAutoFit/>
          </a:bodyPr>
          <a:lstStyle/>
          <a:p>
            <a:pPr algn="ctr">
              <a:defRPr sz="1700" b="1">
                <a:solidFill>
                  <a:srgbClr val="FFFFFF"/>
                </a:solidFill>
                <a:latin typeface="Calibri"/>
              </a:defRPr>
            </a:pPr>
            <a:r>
              <a:t>API</a:t>
            </a:r>
          </a:p>
        </p:txBody>
      </p:sp>
      <p:sp>
        <p:nvSpPr>
          <p:cNvPr id="13" name="Down Arrow 12"/>
          <p:cNvSpPr/>
          <p:nvPr/>
        </p:nvSpPr>
        <p:spPr>
          <a:xfrm>
            <a:off x="5897880" y="37490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297680" y="3886200"/>
            <a:ext cx="3474720" cy="6400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0" y="3886200"/>
            <a:ext cx="3474720" cy="640080"/>
          </a:xfrm>
          <a:prstGeom prst="rect">
            <a:avLst/>
          </a:prstGeom>
          <a:noFill/>
        </p:spPr>
        <p:txBody>
          <a:bodyPr wrap="square">
            <a:spAutoFit/>
          </a:bodyPr>
          <a:lstStyle/>
          <a:p>
            <a:pPr algn="ctr">
              <a:defRPr sz="1700" b="1">
                <a:solidFill>
                  <a:srgbClr val="FFFFFF"/>
                </a:solidFill>
                <a:latin typeface="Calibri"/>
              </a:defRPr>
            </a:pPr>
            <a:r>
              <a:t>LLM</a:t>
            </a:r>
          </a:p>
        </p:txBody>
      </p:sp>
      <p:sp>
        <p:nvSpPr>
          <p:cNvPr id="16" name="Down Arrow 15"/>
          <p:cNvSpPr/>
          <p:nvPr/>
        </p:nvSpPr>
        <p:spPr>
          <a:xfrm>
            <a:off x="5897880" y="452628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97680" y="4663440"/>
            <a:ext cx="3474720" cy="6400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97680" y="4663440"/>
            <a:ext cx="3474720" cy="640080"/>
          </a:xfrm>
          <a:prstGeom prst="rect">
            <a:avLst/>
          </a:prstGeom>
          <a:noFill/>
        </p:spPr>
        <p:txBody>
          <a:bodyPr wrap="square">
            <a:spAutoFit/>
          </a:bodyPr>
          <a:lstStyle/>
          <a:p>
            <a:pPr algn="ctr">
              <a:defRPr sz="1700" b="1">
                <a:solidFill>
                  <a:srgbClr val="FFFFFF"/>
                </a:solidFill>
                <a:latin typeface="Calibri"/>
              </a:defRPr>
            </a:pPr>
            <a:r>
              <a:t>RAG</a:t>
            </a:r>
          </a:p>
        </p:txBody>
      </p:sp>
      <p:sp>
        <p:nvSpPr>
          <p:cNvPr id="19" name="Down Arrow 18"/>
          <p:cNvSpPr/>
          <p:nvPr/>
        </p:nvSpPr>
        <p:spPr>
          <a:xfrm>
            <a:off x="5897880" y="530352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297680" y="5440680"/>
            <a:ext cx="3474720" cy="6400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7680" y="5440680"/>
            <a:ext cx="3474720" cy="640080"/>
          </a:xfrm>
          <a:prstGeom prst="rect">
            <a:avLst/>
          </a:prstGeom>
          <a:noFill/>
        </p:spPr>
        <p:txBody>
          <a:bodyPr wrap="square">
            <a:spAutoFit/>
          </a:bodyPr>
          <a:lstStyle/>
          <a:p>
            <a:pPr algn="ctr">
              <a:defRPr sz="1700" b="1">
                <a:solidFill>
                  <a:srgbClr val="FFFFFF"/>
                </a:solidFill>
                <a:latin typeface="Calibri"/>
              </a:defRPr>
            </a:pPr>
            <a:r>
              <a:t>Vector Database</a:t>
            </a:r>
          </a:p>
        </p:txBody>
      </p:sp>
      <p:sp>
        <p:nvSpPr>
          <p:cNvPr id="22" name="TextBox 21"/>
          <p:cNvSpPr txBox="1"/>
          <p:nvPr/>
        </p:nvSpPr>
        <p:spPr>
          <a:xfrm>
            <a:off x="9418320" y="1645920"/>
            <a:ext cx="2560320" cy="365760"/>
          </a:xfrm>
          <a:prstGeom prst="rect">
            <a:avLst/>
          </a:prstGeom>
          <a:noFill/>
        </p:spPr>
        <p:txBody>
          <a:bodyPr wrap="square">
            <a:spAutoFit/>
          </a:bodyPr>
          <a:lstStyle/>
          <a:p>
            <a:pPr algn="l">
              <a:defRPr sz="1600" b="0">
                <a:solidFill>
                  <a:srgbClr val="7B2FF7"/>
                </a:solidFill>
                <a:latin typeface="Calibri"/>
              </a:defRPr>
            </a:pPr>
            <a:r>
              <a:t>• ML Models</a:t>
            </a:r>
          </a:p>
        </p:txBody>
      </p:sp>
      <p:sp>
        <p:nvSpPr>
          <p:cNvPr id="23" name="TextBox 22"/>
          <p:cNvSpPr txBox="1"/>
          <p:nvPr/>
        </p:nvSpPr>
        <p:spPr>
          <a:xfrm>
            <a:off x="9418320" y="2377440"/>
            <a:ext cx="2560320" cy="365760"/>
          </a:xfrm>
          <a:prstGeom prst="rect">
            <a:avLst/>
          </a:prstGeom>
          <a:noFill/>
        </p:spPr>
        <p:txBody>
          <a:bodyPr wrap="square">
            <a:spAutoFit/>
          </a:bodyPr>
          <a:lstStyle/>
          <a:p>
            <a:pPr algn="l">
              <a:defRPr sz="1600" b="0">
                <a:solidFill>
                  <a:srgbClr val="7B2FF7"/>
                </a:solidFill>
                <a:latin typeface="Calibri"/>
              </a:defRPr>
            </a:pPr>
            <a:r>
              <a:t>• Training Pipelines</a:t>
            </a:r>
          </a:p>
        </p:txBody>
      </p:sp>
      <p:sp>
        <p:nvSpPr>
          <p:cNvPr id="24" name="TextBox 23"/>
          <p:cNvSpPr txBox="1"/>
          <p:nvPr/>
        </p:nvSpPr>
        <p:spPr>
          <a:xfrm>
            <a:off x="9418320" y="3108960"/>
            <a:ext cx="2560320" cy="365760"/>
          </a:xfrm>
          <a:prstGeom prst="rect">
            <a:avLst/>
          </a:prstGeom>
          <a:noFill/>
        </p:spPr>
        <p:txBody>
          <a:bodyPr wrap="square">
            <a:spAutoFit/>
          </a:bodyPr>
          <a:lstStyle/>
          <a:p>
            <a:pPr algn="l">
              <a:defRPr sz="1600" b="0">
                <a:solidFill>
                  <a:srgbClr val="7B2FF7"/>
                </a:solidFill>
                <a:latin typeface="Calibri"/>
              </a:defRPr>
            </a:pPr>
            <a:r>
              <a:t>• Data Pipelines</a:t>
            </a:r>
          </a:p>
        </p:txBody>
      </p:sp>
      <p:sp>
        <p:nvSpPr>
          <p:cNvPr id="25" name="TextBox 24"/>
          <p:cNvSpPr txBox="1"/>
          <p:nvPr/>
        </p:nvSpPr>
        <p:spPr>
          <a:xfrm>
            <a:off x="9418320" y="3840480"/>
            <a:ext cx="2560320" cy="365760"/>
          </a:xfrm>
          <a:prstGeom prst="rect">
            <a:avLst/>
          </a:prstGeom>
          <a:noFill/>
        </p:spPr>
        <p:txBody>
          <a:bodyPr wrap="square">
            <a:spAutoFit/>
          </a:bodyPr>
          <a:lstStyle/>
          <a:p>
            <a:pPr algn="l">
              <a:defRPr sz="1600" b="0">
                <a:solidFill>
                  <a:srgbClr val="7B2FF7"/>
                </a:solidFill>
                <a:latin typeface="Calibri"/>
              </a:defRPr>
            </a:pPr>
            <a:r>
              <a:t>• Evaluation Systems</a:t>
            </a:r>
          </a:p>
        </p:txBody>
      </p:sp>
      <p:sp>
        <p:nvSpPr>
          <p:cNvPr id="26" name="Rectangle 25"/>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3 — HISTORY</a:t>
            </a:r>
          </a:p>
        </p:txBody>
      </p:sp>
      <p:sp>
        <p:nvSpPr>
          <p:cNvPr id="5" name="TextBox 4"/>
          <p:cNvSpPr txBox="1"/>
          <p:nvPr/>
        </p:nvSpPr>
        <p:spPr>
          <a:xfrm>
            <a:off x="914400" y="1463040"/>
            <a:ext cx="10058400" cy="640080"/>
          </a:xfrm>
          <a:prstGeom prst="rect">
            <a:avLst/>
          </a:prstGeom>
          <a:noFill/>
        </p:spPr>
        <p:txBody>
          <a:bodyPr wrap="square">
            <a:spAutoFit/>
          </a:bodyPr>
          <a:lstStyle/>
          <a:p>
            <a:pPr algn="ctr">
              <a:defRPr sz="4000" b="1">
                <a:solidFill>
                  <a:srgbClr val="1A3A5C"/>
                </a:solidFill>
                <a:latin typeface="Calibri"/>
              </a:defRPr>
            </a:pPr>
            <a:r>
              <a:t>Before Modern Computers</a:t>
            </a:r>
          </a:p>
        </p:txBody>
      </p:sp>
      <p:sp>
        <p:nvSpPr>
          <p:cNvPr id="6" name="Oval 5"/>
          <p:cNvSpPr/>
          <p:nvPr/>
        </p:nvSpPr>
        <p:spPr>
          <a:xfrm>
            <a:off x="1645920" y="2560320"/>
            <a:ext cx="1097280" cy="1097280"/>
          </a:xfrm>
          <a:prstGeom prst="ellipse">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834640"/>
            <a:ext cx="1097280" cy="548640"/>
          </a:xfrm>
          <a:prstGeom prst="rect">
            <a:avLst/>
          </a:prstGeom>
          <a:noFill/>
        </p:spPr>
        <p:txBody>
          <a:bodyPr wrap="none">
            <a:spAutoFit/>
          </a:bodyPr>
          <a:lstStyle/>
          <a:p>
            <a:pPr algn="ctr">
              <a:defRPr sz="2400" b="1">
                <a:solidFill>
                  <a:srgbClr val="FFFFFF"/>
                </a:solidFill>
              </a:defRPr>
            </a:pPr>
            <a:r>
              <a:t>1</a:t>
            </a:r>
          </a:p>
        </p:txBody>
      </p:sp>
      <p:sp>
        <p:nvSpPr>
          <p:cNvPr id="8" name="TextBox 7"/>
          <p:cNvSpPr txBox="1"/>
          <p:nvPr/>
        </p:nvSpPr>
        <p:spPr>
          <a:xfrm>
            <a:off x="914400" y="3840480"/>
            <a:ext cx="2560320" cy="914400"/>
          </a:xfrm>
          <a:prstGeom prst="rect">
            <a:avLst/>
          </a:prstGeom>
          <a:noFill/>
        </p:spPr>
        <p:txBody>
          <a:bodyPr wrap="square">
            <a:spAutoFit/>
          </a:bodyPr>
          <a:lstStyle/>
          <a:p>
            <a:pPr algn="ctr">
              <a:defRPr sz="1800" b="1">
                <a:solidFill>
                  <a:srgbClr val="1A1A2E"/>
                </a:solidFill>
                <a:latin typeface="Calibri"/>
              </a:defRPr>
            </a:pPr>
            <a:r>
              <a:t>Manual Calculations</a:t>
            </a:r>
          </a:p>
        </p:txBody>
      </p:sp>
      <p:sp>
        <p:nvSpPr>
          <p:cNvPr id="9" name="Rectangle 8"/>
          <p:cNvSpPr/>
          <p:nvPr/>
        </p:nvSpPr>
        <p:spPr>
          <a:xfrm>
            <a:off x="2743200" y="3017520"/>
            <a:ext cx="1005840" cy="457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480559" y="256032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59" y="2834640"/>
            <a:ext cx="1097280" cy="548640"/>
          </a:xfrm>
          <a:prstGeom prst="rect">
            <a:avLst/>
          </a:prstGeom>
          <a:noFill/>
        </p:spPr>
        <p:txBody>
          <a:bodyPr wrap="none">
            <a:spAutoFit/>
          </a:bodyPr>
          <a:lstStyle/>
          <a:p>
            <a:pPr algn="ctr">
              <a:defRPr sz="2400" b="1">
                <a:solidFill>
                  <a:srgbClr val="FFFFFF"/>
                </a:solidFill>
              </a:defRPr>
            </a:pPr>
            <a:r>
              <a:t>2</a:t>
            </a:r>
          </a:p>
        </p:txBody>
      </p:sp>
      <p:sp>
        <p:nvSpPr>
          <p:cNvPr id="12" name="TextBox 11"/>
          <p:cNvSpPr txBox="1"/>
          <p:nvPr/>
        </p:nvSpPr>
        <p:spPr>
          <a:xfrm>
            <a:off x="3749039" y="3840480"/>
            <a:ext cx="2560320" cy="914400"/>
          </a:xfrm>
          <a:prstGeom prst="rect">
            <a:avLst/>
          </a:prstGeom>
          <a:noFill/>
        </p:spPr>
        <p:txBody>
          <a:bodyPr wrap="square">
            <a:spAutoFit/>
          </a:bodyPr>
          <a:lstStyle/>
          <a:p>
            <a:pPr algn="ctr">
              <a:defRPr sz="1800" b="1">
                <a:solidFill>
                  <a:srgbClr val="1A1A2E"/>
                </a:solidFill>
                <a:latin typeface="Calibri"/>
              </a:defRPr>
            </a:pPr>
            <a:r>
              <a:t>Mathematical Tables</a:t>
            </a:r>
          </a:p>
        </p:txBody>
      </p:sp>
      <p:sp>
        <p:nvSpPr>
          <p:cNvPr id="13" name="Rectangle 12"/>
          <p:cNvSpPr/>
          <p:nvPr/>
        </p:nvSpPr>
        <p:spPr>
          <a:xfrm>
            <a:off x="5577839" y="3017520"/>
            <a:ext cx="1005840" cy="457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315200" y="2560320"/>
            <a:ext cx="1097280" cy="10972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0" y="2834640"/>
            <a:ext cx="1097280" cy="548640"/>
          </a:xfrm>
          <a:prstGeom prst="rect">
            <a:avLst/>
          </a:prstGeom>
          <a:noFill/>
        </p:spPr>
        <p:txBody>
          <a:bodyPr wrap="none">
            <a:spAutoFit/>
          </a:bodyPr>
          <a:lstStyle/>
          <a:p>
            <a:pPr algn="ctr">
              <a:defRPr sz="2400" b="1">
                <a:solidFill>
                  <a:srgbClr val="FFFFFF"/>
                </a:solidFill>
              </a:defRPr>
            </a:pPr>
            <a:r>
              <a:t>3</a:t>
            </a:r>
          </a:p>
        </p:txBody>
      </p:sp>
      <p:sp>
        <p:nvSpPr>
          <p:cNvPr id="16" name="TextBox 15"/>
          <p:cNvSpPr txBox="1"/>
          <p:nvPr/>
        </p:nvSpPr>
        <p:spPr>
          <a:xfrm>
            <a:off x="6583680" y="3840480"/>
            <a:ext cx="2560320" cy="914400"/>
          </a:xfrm>
          <a:prstGeom prst="rect">
            <a:avLst/>
          </a:prstGeom>
          <a:noFill/>
        </p:spPr>
        <p:txBody>
          <a:bodyPr wrap="square">
            <a:spAutoFit/>
          </a:bodyPr>
          <a:lstStyle/>
          <a:p>
            <a:pPr algn="ctr">
              <a:defRPr sz="1800" b="1">
                <a:solidFill>
                  <a:srgbClr val="1A1A2E"/>
                </a:solidFill>
                <a:latin typeface="Calibri"/>
              </a:defRPr>
            </a:pPr>
            <a:r>
              <a:rPr dirty="0"/>
              <a:t>Mechanical Calculators</a:t>
            </a:r>
          </a:p>
        </p:txBody>
      </p:sp>
      <p:sp>
        <p:nvSpPr>
          <p:cNvPr id="17" name="Rectangle 16"/>
          <p:cNvSpPr/>
          <p:nvPr/>
        </p:nvSpPr>
        <p:spPr>
          <a:xfrm>
            <a:off x="8412480" y="3017520"/>
            <a:ext cx="1005840" cy="457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149840" y="2560320"/>
            <a:ext cx="1097280" cy="10972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149840" y="2834640"/>
            <a:ext cx="1097280" cy="548640"/>
          </a:xfrm>
          <a:prstGeom prst="rect">
            <a:avLst/>
          </a:prstGeom>
          <a:noFill/>
        </p:spPr>
        <p:txBody>
          <a:bodyPr wrap="none">
            <a:spAutoFit/>
          </a:bodyPr>
          <a:lstStyle/>
          <a:p>
            <a:pPr algn="ctr">
              <a:defRPr sz="2400" b="1">
                <a:solidFill>
                  <a:srgbClr val="FFFFFF"/>
                </a:solidFill>
              </a:defRPr>
            </a:pPr>
            <a:r>
              <a:t>4</a:t>
            </a:r>
          </a:p>
        </p:txBody>
      </p:sp>
      <p:sp>
        <p:nvSpPr>
          <p:cNvPr id="20" name="TextBox 19"/>
          <p:cNvSpPr txBox="1"/>
          <p:nvPr/>
        </p:nvSpPr>
        <p:spPr>
          <a:xfrm>
            <a:off x="9418320" y="3840480"/>
            <a:ext cx="2560320" cy="914400"/>
          </a:xfrm>
          <a:prstGeom prst="rect">
            <a:avLst/>
          </a:prstGeom>
          <a:noFill/>
        </p:spPr>
        <p:txBody>
          <a:bodyPr wrap="square">
            <a:spAutoFit/>
          </a:bodyPr>
          <a:lstStyle/>
          <a:p>
            <a:pPr algn="ctr">
              <a:defRPr sz="1800" b="1">
                <a:solidFill>
                  <a:srgbClr val="1A1A2E"/>
                </a:solidFill>
                <a:latin typeface="Calibri"/>
              </a:defRPr>
            </a:pPr>
            <a:r>
              <a:t>Mechanical Computation</a:t>
            </a:r>
          </a:p>
        </p:txBody>
      </p:sp>
      <p:sp>
        <p:nvSpPr>
          <p:cNvPr id="21" name="Rectangle 20"/>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Charles Babbage</a:t>
            </a:r>
          </a:p>
        </p:txBody>
      </p:sp>
      <p:sp>
        <p:nvSpPr>
          <p:cNvPr id="5" name="Oval 4"/>
          <p:cNvSpPr/>
          <p:nvPr/>
        </p:nvSpPr>
        <p:spPr>
          <a:xfrm>
            <a:off x="1371600" y="1828800"/>
            <a:ext cx="2743200" cy="2743200"/>
          </a:xfrm>
          <a:prstGeom prst="ellipse">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2514600"/>
            <a:ext cx="2743200" cy="1371600"/>
          </a:xfrm>
          <a:prstGeom prst="rect">
            <a:avLst/>
          </a:prstGeom>
          <a:noFill/>
        </p:spPr>
        <p:txBody>
          <a:bodyPr wrap="none">
            <a:spAutoFit/>
          </a:bodyPr>
          <a:lstStyle/>
          <a:p>
            <a:pPr algn="ctr">
              <a:defRPr sz="4000" b="1">
                <a:solidFill>
                  <a:srgbClr val="FFFFFF"/>
                </a:solidFill>
              </a:defRPr>
            </a:pPr>
            <a:r>
              <a:t>CB</a:t>
            </a:r>
          </a:p>
        </p:txBody>
      </p:sp>
      <p:sp>
        <p:nvSpPr>
          <p:cNvPr id="7" name="TextBox 6"/>
          <p:cNvSpPr txBox="1"/>
          <p:nvPr/>
        </p:nvSpPr>
        <p:spPr>
          <a:xfrm>
            <a:off x="1371600" y="4754880"/>
            <a:ext cx="2743200" cy="548640"/>
          </a:xfrm>
          <a:prstGeom prst="rect">
            <a:avLst/>
          </a:prstGeom>
          <a:noFill/>
        </p:spPr>
        <p:txBody>
          <a:bodyPr wrap="square">
            <a:spAutoFit/>
          </a:bodyPr>
          <a:lstStyle/>
          <a:p>
            <a:pPr algn="ctr">
              <a:defRPr sz="2600" b="1">
                <a:solidFill>
                  <a:srgbClr val="1A3A5C"/>
                </a:solidFill>
                <a:latin typeface="Calibri"/>
              </a:defRPr>
            </a:pPr>
            <a:r>
              <a:rPr dirty="0"/>
              <a:t>Charles Babbage</a:t>
            </a:r>
          </a:p>
        </p:txBody>
      </p:sp>
      <p:sp>
        <p:nvSpPr>
          <p:cNvPr id="8" name="Rounded Rectangle 7"/>
          <p:cNvSpPr/>
          <p:nvPr/>
        </p:nvSpPr>
        <p:spPr>
          <a:xfrm>
            <a:off x="5029200" y="1645920"/>
            <a:ext cx="5943600" cy="109728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12080" y="1783080"/>
            <a:ext cx="5577840" cy="457200"/>
          </a:xfrm>
          <a:prstGeom prst="rect">
            <a:avLst/>
          </a:prstGeom>
          <a:noFill/>
        </p:spPr>
        <p:txBody>
          <a:bodyPr wrap="square">
            <a:spAutoFit/>
          </a:bodyPr>
          <a:lstStyle/>
          <a:p>
            <a:pPr algn="l">
              <a:defRPr sz="2400" b="1">
                <a:solidFill>
                  <a:srgbClr val="1A3A5C"/>
                </a:solidFill>
                <a:latin typeface="Calibri"/>
              </a:defRPr>
            </a:pPr>
            <a:r>
              <a:t>Difference Engine</a:t>
            </a:r>
          </a:p>
        </p:txBody>
      </p:sp>
      <p:sp>
        <p:nvSpPr>
          <p:cNvPr id="10" name="TextBox 9"/>
          <p:cNvSpPr txBox="1"/>
          <p:nvPr/>
        </p:nvSpPr>
        <p:spPr>
          <a:xfrm>
            <a:off x="5212080" y="2194560"/>
            <a:ext cx="5577840" cy="457200"/>
          </a:xfrm>
          <a:prstGeom prst="rect">
            <a:avLst/>
          </a:prstGeom>
          <a:noFill/>
        </p:spPr>
        <p:txBody>
          <a:bodyPr wrap="square">
            <a:spAutoFit/>
          </a:bodyPr>
          <a:lstStyle/>
          <a:p>
            <a:pPr algn="l">
              <a:defRPr sz="1600" b="0">
                <a:solidFill>
                  <a:srgbClr val="6B7280"/>
                </a:solidFill>
                <a:latin typeface="Calibri"/>
              </a:defRPr>
            </a:pPr>
            <a:r>
              <a:rPr dirty="0"/>
              <a:t>Mechanical calculator for polynomial functions</a:t>
            </a:r>
          </a:p>
        </p:txBody>
      </p:sp>
      <p:sp>
        <p:nvSpPr>
          <p:cNvPr id="11" name="Rounded Rectangle 10"/>
          <p:cNvSpPr/>
          <p:nvPr/>
        </p:nvSpPr>
        <p:spPr>
          <a:xfrm>
            <a:off x="5029200" y="2926080"/>
            <a:ext cx="5943600" cy="109728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0" y="3063240"/>
            <a:ext cx="5577840" cy="457200"/>
          </a:xfrm>
          <a:prstGeom prst="rect">
            <a:avLst/>
          </a:prstGeom>
          <a:noFill/>
        </p:spPr>
        <p:txBody>
          <a:bodyPr wrap="square">
            <a:spAutoFit/>
          </a:bodyPr>
          <a:lstStyle/>
          <a:p>
            <a:pPr algn="l">
              <a:defRPr sz="2400" b="1">
                <a:solidFill>
                  <a:srgbClr val="1A3A5C"/>
                </a:solidFill>
                <a:latin typeface="Calibri"/>
              </a:defRPr>
            </a:pPr>
            <a:r>
              <a:t>Analytical Engine</a:t>
            </a:r>
          </a:p>
        </p:txBody>
      </p:sp>
      <p:sp>
        <p:nvSpPr>
          <p:cNvPr id="13" name="TextBox 12"/>
          <p:cNvSpPr txBox="1"/>
          <p:nvPr/>
        </p:nvSpPr>
        <p:spPr>
          <a:xfrm>
            <a:off x="5212080" y="3474720"/>
            <a:ext cx="5577840" cy="457200"/>
          </a:xfrm>
          <a:prstGeom prst="rect">
            <a:avLst/>
          </a:prstGeom>
          <a:noFill/>
        </p:spPr>
        <p:txBody>
          <a:bodyPr wrap="square">
            <a:spAutoFit/>
          </a:bodyPr>
          <a:lstStyle/>
          <a:p>
            <a:pPr algn="l">
              <a:defRPr sz="1600" b="0">
                <a:solidFill>
                  <a:srgbClr val="6B7280"/>
                </a:solidFill>
                <a:latin typeface="Calibri"/>
              </a:defRPr>
            </a:pPr>
            <a:r>
              <a:t>General-purpose computing concept with processing and memory</a:t>
            </a:r>
          </a:p>
        </p:txBody>
      </p:sp>
      <p:sp>
        <p:nvSpPr>
          <p:cNvPr id="14" name="Rounded Rectangle 13"/>
          <p:cNvSpPr/>
          <p:nvPr/>
        </p:nvSpPr>
        <p:spPr>
          <a:xfrm>
            <a:off x="5029200" y="4206240"/>
            <a:ext cx="5943600" cy="109728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12080" y="4343400"/>
            <a:ext cx="5577840" cy="457200"/>
          </a:xfrm>
          <a:prstGeom prst="rect">
            <a:avLst/>
          </a:prstGeom>
          <a:noFill/>
        </p:spPr>
        <p:txBody>
          <a:bodyPr wrap="square">
            <a:spAutoFit/>
          </a:bodyPr>
          <a:lstStyle/>
          <a:p>
            <a:pPr algn="l">
              <a:defRPr sz="2400" b="1">
                <a:solidFill>
                  <a:srgbClr val="1A3A5C"/>
                </a:solidFill>
                <a:latin typeface="Calibri"/>
              </a:defRPr>
            </a:pPr>
            <a:r>
              <a:t>Key Contribution</a:t>
            </a:r>
          </a:p>
        </p:txBody>
      </p:sp>
      <p:sp>
        <p:nvSpPr>
          <p:cNvPr id="16" name="TextBox 15"/>
          <p:cNvSpPr txBox="1"/>
          <p:nvPr/>
        </p:nvSpPr>
        <p:spPr>
          <a:xfrm>
            <a:off x="5212080" y="4754880"/>
            <a:ext cx="5577840" cy="457200"/>
          </a:xfrm>
          <a:prstGeom prst="rect">
            <a:avLst/>
          </a:prstGeom>
          <a:noFill/>
        </p:spPr>
        <p:txBody>
          <a:bodyPr wrap="square">
            <a:spAutoFit/>
          </a:bodyPr>
          <a:lstStyle/>
          <a:p>
            <a:pPr algn="l">
              <a:defRPr sz="1600" b="0">
                <a:solidFill>
                  <a:srgbClr val="6B7280"/>
                </a:solidFill>
                <a:latin typeface="Calibri"/>
              </a:defRPr>
            </a:pPr>
            <a:r>
              <a:t>Introduced concepts of CPU, memory, and input/output</a:t>
            </a:r>
          </a:p>
        </p:txBody>
      </p:sp>
      <p:sp>
        <p:nvSpPr>
          <p:cNvPr id="17" name="Rectangle 16"/>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068"/>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Ada Lovelace</a:t>
            </a:r>
          </a:p>
        </p:txBody>
      </p:sp>
      <p:sp>
        <p:nvSpPr>
          <p:cNvPr id="5" name="Oval 4"/>
          <p:cNvSpPr/>
          <p:nvPr/>
        </p:nvSpPr>
        <p:spPr>
          <a:xfrm>
            <a:off x="1371600" y="1828800"/>
            <a:ext cx="2743200" cy="274320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2514600"/>
            <a:ext cx="2743200" cy="1371600"/>
          </a:xfrm>
          <a:prstGeom prst="rect">
            <a:avLst/>
          </a:prstGeom>
          <a:noFill/>
        </p:spPr>
        <p:txBody>
          <a:bodyPr wrap="none">
            <a:spAutoFit/>
          </a:bodyPr>
          <a:lstStyle/>
          <a:p>
            <a:pPr algn="ctr">
              <a:defRPr sz="4000" b="1">
                <a:solidFill>
                  <a:srgbClr val="FFFFFF"/>
                </a:solidFill>
              </a:defRPr>
            </a:pPr>
            <a:r>
              <a:t>AL</a:t>
            </a:r>
          </a:p>
        </p:txBody>
      </p:sp>
      <p:sp>
        <p:nvSpPr>
          <p:cNvPr id="7" name="TextBox 6"/>
          <p:cNvSpPr txBox="1"/>
          <p:nvPr/>
        </p:nvSpPr>
        <p:spPr>
          <a:xfrm>
            <a:off x="1371600" y="4754880"/>
            <a:ext cx="2743200" cy="548640"/>
          </a:xfrm>
          <a:prstGeom prst="rect">
            <a:avLst/>
          </a:prstGeom>
          <a:noFill/>
        </p:spPr>
        <p:txBody>
          <a:bodyPr wrap="square">
            <a:spAutoFit/>
          </a:bodyPr>
          <a:lstStyle/>
          <a:p>
            <a:pPr algn="ctr">
              <a:defRPr sz="2200" b="1">
                <a:solidFill>
                  <a:srgbClr val="7B2FF7"/>
                </a:solidFill>
                <a:latin typeface="Calibri"/>
              </a:defRPr>
            </a:pPr>
            <a:r>
              <a:rPr dirty="0"/>
              <a:t>Ada Lovelace</a:t>
            </a:r>
          </a:p>
        </p:txBody>
      </p:sp>
      <p:sp>
        <p:nvSpPr>
          <p:cNvPr id="8" name="TextBox 7"/>
          <p:cNvSpPr txBox="1"/>
          <p:nvPr/>
        </p:nvSpPr>
        <p:spPr>
          <a:xfrm>
            <a:off x="5029200" y="1828800"/>
            <a:ext cx="5943600" cy="548640"/>
          </a:xfrm>
          <a:prstGeom prst="rect">
            <a:avLst/>
          </a:prstGeom>
          <a:noFill/>
        </p:spPr>
        <p:txBody>
          <a:bodyPr wrap="square">
            <a:spAutoFit/>
          </a:bodyPr>
          <a:lstStyle/>
          <a:p>
            <a:pPr algn="l">
              <a:defRPr sz="2200" b="0">
                <a:solidFill>
                  <a:srgbClr val="1A1A2E"/>
                </a:solidFill>
                <a:latin typeface="Calibri"/>
              </a:defRPr>
            </a:pPr>
            <a:r>
              <a:t>Often recognized as the first computer programmer</a:t>
            </a:r>
          </a:p>
        </p:txBody>
      </p:sp>
      <p:sp>
        <p:nvSpPr>
          <p:cNvPr id="9" name="TextBox 8"/>
          <p:cNvSpPr txBox="1"/>
          <p:nvPr/>
        </p:nvSpPr>
        <p:spPr>
          <a:xfrm>
            <a:off x="5029200" y="2560320"/>
            <a:ext cx="5943600" cy="548640"/>
          </a:xfrm>
          <a:prstGeom prst="rect">
            <a:avLst/>
          </a:prstGeom>
          <a:noFill/>
        </p:spPr>
        <p:txBody>
          <a:bodyPr wrap="square">
            <a:spAutoFit/>
          </a:bodyPr>
          <a:lstStyle/>
          <a:p>
            <a:pPr algn="l">
              <a:defRPr sz="1800" b="0">
                <a:solidFill>
                  <a:srgbClr val="6B7280"/>
                </a:solidFill>
                <a:latin typeface="Calibri"/>
              </a:defRPr>
            </a:pPr>
            <a:r>
              <a:t>Worked on ideas for Babbage's Analytical Engine in the 1840s</a:t>
            </a:r>
          </a:p>
        </p:txBody>
      </p:sp>
      <p:sp>
        <p:nvSpPr>
          <p:cNvPr id="10" name="Rounded Rectangle 9"/>
          <p:cNvSpPr/>
          <p:nvPr/>
        </p:nvSpPr>
        <p:spPr>
          <a:xfrm>
            <a:off x="5029200" y="3657600"/>
            <a:ext cx="5943600" cy="1828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12080" y="3749039"/>
            <a:ext cx="5577840" cy="457200"/>
          </a:xfrm>
          <a:prstGeom prst="rect">
            <a:avLst/>
          </a:prstGeom>
          <a:noFill/>
        </p:spPr>
        <p:txBody>
          <a:bodyPr wrap="square">
            <a:spAutoFit/>
          </a:bodyPr>
          <a:lstStyle/>
          <a:p>
            <a:pPr algn="l">
              <a:defRPr sz="2200" b="1">
                <a:solidFill>
                  <a:srgbClr val="FFFFFF"/>
                </a:solidFill>
                <a:latin typeface="Calibri"/>
              </a:defRPr>
            </a:pPr>
            <a:r>
              <a:t>Important Insight</a:t>
            </a:r>
          </a:p>
        </p:txBody>
      </p:sp>
      <p:sp>
        <p:nvSpPr>
          <p:cNvPr id="12" name="TextBox 11"/>
          <p:cNvSpPr txBox="1"/>
          <p:nvPr/>
        </p:nvSpPr>
        <p:spPr>
          <a:xfrm>
            <a:off x="5212080" y="4075019"/>
            <a:ext cx="5577840" cy="1446550"/>
          </a:xfrm>
          <a:prstGeom prst="rect">
            <a:avLst/>
          </a:prstGeom>
          <a:noFill/>
        </p:spPr>
        <p:txBody>
          <a:bodyPr wrap="square">
            <a:spAutoFit/>
          </a:bodyPr>
          <a:lstStyle/>
          <a:p>
            <a:pPr algn="l">
              <a:defRPr sz="2200" b="0">
                <a:solidFill>
                  <a:srgbClr val="FFFFFF"/>
                </a:solidFill>
                <a:latin typeface="Calibri"/>
              </a:defRPr>
            </a:pPr>
            <a:r>
              <a:rPr dirty="0"/>
              <a:t>She recognized that machines could manipulate symbols beyond arithmetic — this was the conceptual foundation of general-purpose computing.</a:t>
            </a:r>
          </a:p>
        </p:txBody>
      </p:sp>
      <p:sp>
        <p:nvSpPr>
          <p:cNvPr id="13" name="Rectangle 12"/>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Early Electronic Computers</a:t>
            </a:r>
          </a:p>
        </p:txBody>
      </p:sp>
      <p:sp>
        <p:nvSpPr>
          <p:cNvPr id="5" name="Rounded Rectangle 4"/>
          <p:cNvSpPr/>
          <p:nvPr/>
        </p:nvSpPr>
        <p:spPr>
          <a:xfrm>
            <a:off x="914400" y="1645920"/>
            <a:ext cx="3200400" cy="32004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4225" y="1554480"/>
            <a:ext cx="3200400" cy="2739211"/>
          </a:xfrm>
          <a:prstGeom prst="rect">
            <a:avLst/>
          </a:prstGeom>
          <a:noFill/>
        </p:spPr>
        <p:txBody>
          <a:bodyPr wrap="square">
            <a:spAutoFit/>
          </a:bodyPr>
          <a:lstStyle/>
          <a:p>
            <a:pPr algn="ctr">
              <a:defRPr sz="3200" b="1">
                <a:solidFill>
                  <a:srgbClr val="FFFFFF"/>
                </a:solidFill>
                <a:latin typeface="Calibri"/>
              </a:defRPr>
            </a:pPr>
            <a:r>
              <a:rPr dirty="0"/>
              <a:t>ENIAC</a:t>
            </a:r>
            <a:endParaRPr lang="en-US" dirty="0"/>
          </a:p>
          <a:p>
            <a:pPr algn="ctr">
              <a:defRPr sz="3200" b="1">
                <a:solidFill>
                  <a:srgbClr val="FFFFFF"/>
                </a:solidFill>
                <a:latin typeface="Calibri"/>
              </a:defRPr>
            </a:pPr>
            <a:r>
              <a:rPr lang="en-US" sz="2000" b="1" dirty="0"/>
              <a:t>Full Name: Electronic Numerical Integrator and Computer</a:t>
            </a:r>
          </a:p>
          <a:p>
            <a:pPr algn="ctr">
              <a:defRPr sz="3200" b="1">
                <a:solidFill>
                  <a:srgbClr val="FFFFFF"/>
                </a:solidFill>
                <a:latin typeface="Calibri"/>
              </a:defRPr>
            </a:pPr>
            <a:br>
              <a:rPr lang="en-US" sz="2000" b="1" dirty="0"/>
            </a:br>
            <a:r>
              <a:rPr lang="en-US" sz="2000" b="1" dirty="0"/>
              <a:t>the world's first general-purpose, electronic digital computer</a:t>
            </a:r>
            <a:endParaRPr dirty="0"/>
          </a:p>
        </p:txBody>
      </p:sp>
      <p:sp>
        <p:nvSpPr>
          <p:cNvPr id="7" name="Rounded Rectangle 6"/>
          <p:cNvSpPr/>
          <p:nvPr/>
        </p:nvSpPr>
        <p:spPr>
          <a:xfrm>
            <a:off x="4663440" y="1645920"/>
            <a:ext cx="3200400" cy="32004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33265" y="1554480"/>
            <a:ext cx="3200400" cy="3046988"/>
          </a:xfrm>
          <a:prstGeom prst="rect">
            <a:avLst/>
          </a:prstGeom>
          <a:noFill/>
        </p:spPr>
        <p:txBody>
          <a:bodyPr wrap="square">
            <a:spAutoFit/>
          </a:bodyPr>
          <a:lstStyle/>
          <a:p>
            <a:pPr algn="ctr">
              <a:defRPr sz="3200" b="1">
                <a:solidFill>
                  <a:srgbClr val="FFFFFF"/>
                </a:solidFill>
                <a:latin typeface="Calibri"/>
              </a:defRPr>
            </a:pPr>
            <a:r>
              <a:rPr dirty="0"/>
              <a:t>EDVAC</a:t>
            </a:r>
            <a:endParaRPr lang="en-US" dirty="0"/>
          </a:p>
          <a:p>
            <a:pPr>
              <a:defRPr sz="3200" b="1">
                <a:solidFill>
                  <a:srgbClr val="FFFFFF"/>
                </a:solidFill>
                <a:latin typeface="Calibri"/>
              </a:defRPr>
            </a:pPr>
            <a:r>
              <a:rPr lang="en-US" sz="2000" dirty="0"/>
              <a:t>EDVAC stands for Electronic Discrete Variable Automatic Computer</a:t>
            </a:r>
            <a:r>
              <a:rPr lang="en-US" sz="2000" b="1" dirty="0"/>
              <a:t>, one of the world's earliest electronic digital computers. </a:t>
            </a:r>
            <a:br>
              <a:rPr lang="en-US" sz="2000" b="1" dirty="0"/>
            </a:br>
            <a:br>
              <a:rPr lang="en-US" sz="2000" b="1" dirty="0"/>
            </a:br>
            <a:br>
              <a:rPr lang="en-US" sz="2000" b="1" dirty="0"/>
            </a:br>
            <a:endParaRPr lang="en-US" sz="2000" b="1" dirty="0"/>
          </a:p>
        </p:txBody>
      </p:sp>
      <p:sp>
        <p:nvSpPr>
          <p:cNvPr id="9" name="Rounded Rectangle 8"/>
          <p:cNvSpPr/>
          <p:nvPr/>
        </p:nvSpPr>
        <p:spPr>
          <a:xfrm>
            <a:off x="8412480" y="1645920"/>
            <a:ext cx="3200400" cy="32004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52130" y="1554480"/>
            <a:ext cx="3200400" cy="3354765"/>
          </a:xfrm>
          <a:prstGeom prst="rect">
            <a:avLst/>
          </a:prstGeom>
          <a:noFill/>
        </p:spPr>
        <p:txBody>
          <a:bodyPr wrap="square">
            <a:spAutoFit/>
          </a:bodyPr>
          <a:lstStyle/>
          <a:p>
            <a:pPr algn="ctr">
              <a:defRPr sz="3200" b="1">
                <a:solidFill>
                  <a:srgbClr val="FFFFFF"/>
                </a:solidFill>
                <a:latin typeface="Calibri"/>
              </a:defRPr>
            </a:pPr>
            <a:r>
              <a:rPr dirty="0"/>
              <a:t>UNIVAC</a:t>
            </a:r>
            <a:endParaRPr lang="en-US" dirty="0"/>
          </a:p>
          <a:p>
            <a:pPr algn="ctr">
              <a:defRPr sz="3200" b="1">
                <a:solidFill>
                  <a:srgbClr val="FFFFFF"/>
                </a:solidFill>
                <a:latin typeface="Calibri"/>
              </a:defRPr>
            </a:pPr>
            <a:r>
              <a:rPr lang="en-US" sz="2000" dirty="0"/>
              <a:t>The </a:t>
            </a:r>
            <a:r>
              <a:rPr lang="en-US" sz="2000" dirty="0">
                <a:hlinkClick r:id="rId3">
                  <a:extLst>
                    <a:ext uri="{A12FA001-AC4F-418D-AE19-62706E023703}">
                      <ahyp:hlinkClr xmlns:ahyp="http://schemas.microsoft.com/office/drawing/2018/hyperlinkcolor" val="tx"/>
                    </a:ext>
                  </a:extLst>
                </a:hlinkClick>
              </a:rPr>
              <a:t>UNIVAC</a:t>
            </a:r>
            <a:r>
              <a:rPr lang="en-US" sz="2000" b="1" dirty="0"/>
              <a:t> (Universal Automatic Computer) was the first commercially produced electronic digital computer in the United States, designed primarily for business and administrative data processing</a:t>
            </a:r>
            <a:endParaRPr sz="2000" dirty="0"/>
          </a:p>
        </p:txBody>
      </p:sp>
      <p:sp>
        <p:nvSpPr>
          <p:cNvPr id="11" name="TextBox 10"/>
          <p:cNvSpPr txBox="1"/>
          <p:nvPr/>
        </p:nvSpPr>
        <p:spPr>
          <a:xfrm>
            <a:off x="914400" y="5303520"/>
            <a:ext cx="2560320" cy="457200"/>
          </a:xfrm>
          <a:prstGeom prst="rect">
            <a:avLst/>
          </a:prstGeom>
          <a:noFill/>
        </p:spPr>
        <p:txBody>
          <a:bodyPr wrap="square">
            <a:spAutoFit/>
          </a:bodyPr>
          <a:lstStyle/>
          <a:p>
            <a:pPr algn="ctr">
              <a:defRPr sz="2000" b="0">
                <a:solidFill>
                  <a:srgbClr val="1A1A2E"/>
                </a:solidFill>
                <a:latin typeface="Calibri"/>
              </a:defRPr>
            </a:pPr>
            <a:r>
              <a:t>• Very Large size</a:t>
            </a:r>
          </a:p>
        </p:txBody>
      </p:sp>
      <p:sp>
        <p:nvSpPr>
          <p:cNvPr id="12" name="TextBox 11"/>
          <p:cNvSpPr txBox="1"/>
          <p:nvPr/>
        </p:nvSpPr>
        <p:spPr>
          <a:xfrm>
            <a:off x="3749039" y="5303520"/>
            <a:ext cx="2560320" cy="457200"/>
          </a:xfrm>
          <a:prstGeom prst="rect">
            <a:avLst/>
          </a:prstGeom>
          <a:noFill/>
        </p:spPr>
        <p:txBody>
          <a:bodyPr wrap="square">
            <a:spAutoFit/>
          </a:bodyPr>
          <a:lstStyle/>
          <a:p>
            <a:pPr algn="ctr">
              <a:defRPr sz="2000" b="0">
                <a:solidFill>
                  <a:srgbClr val="1A1A2E"/>
                </a:solidFill>
                <a:latin typeface="Calibri"/>
              </a:defRPr>
            </a:pPr>
            <a:r>
              <a:rPr dirty="0"/>
              <a:t>• Extremely Expensive</a:t>
            </a:r>
          </a:p>
        </p:txBody>
      </p:sp>
      <p:sp>
        <p:nvSpPr>
          <p:cNvPr id="13" name="TextBox 12"/>
          <p:cNvSpPr txBox="1"/>
          <p:nvPr/>
        </p:nvSpPr>
        <p:spPr>
          <a:xfrm>
            <a:off x="6583680" y="5303520"/>
            <a:ext cx="2560320" cy="457200"/>
          </a:xfrm>
          <a:prstGeom prst="rect">
            <a:avLst/>
          </a:prstGeom>
          <a:noFill/>
        </p:spPr>
        <p:txBody>
          <a:bodyPr wrap="square">
            <a:spAutoFit/>
          </a:bodyPr>
          <a:lstStyle/>
          <a:p>
            <a:pPr algn="ctr">
              <a:defRPr sz="2000" b="0">
                <a:solidFill>
                  <a:srgbClr val="1A1A2E"/>
                </a:solidFill>
                <a:latin typeface="Calibri"/>
              </a:defRPr>
            </a:pPr>
            <a:r>
              <a:t>• Very Limited capability</a:t>
            </a:r>
          </a:p>
        </p:txBody>
      </p:sp>
      <p:sp>
        <p:nvSpPr>
          <p:cNvPr id="14" name="TextBox 13"/>
          <p:cNvSpPr txBox="1"/>
          <p:nvPr/>
        </p:nvSpPr>
        <p:spPr>
          <a:xfrm>
            <a:off x="9418320" y="5303520"/>
            <a:ext cx="2560320" cy="457200"/>
          </a:xfrm>
          <a:prstGeom prst="rect">
            <a:avLst/>
          </a:prstGeom>
          <a:noFill/>
        </p:spPr>
        <p:txBody>
          <a:bodyPr wrap="square">
            <a:spAutoFit/>
          </a:bodyPr>
          <a:lstStyle/>
          <a:p>
            <a:pPr algn="ctr">
              <a:defRPr sz="2000" b="0">
                <a:solidFill>
                  <a:srgbClr val="1A1A2E"/>
                </a:solidFill>
                <a:latin typeface="Calibri"/>
              </a:defRPr>
            </a:pPr>
            <a:r>
              <a:t>• Difficult to program</a:t>
            </a:r>
          </a:p>
        </p:txBody>
      </p:sp>
      <p:sp>
        <p:nvSpPr>
          <p:cNvPr id="15" name="Rectangle 14"/>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ENIAC</a:t>
            </a:r>
          </a:p>
        </p:txBody>
      </p:sp>
      <p:sp>
        <p:nvSpPr>
          <p:cNvPr id="5" name="TextBox 4"/>
          <p:cNvSpPr txBox="1"/>
          <p:nvPr/>
        </p:nvSpPr>
        <p:spPr>
          <a:xfrm>
            <a:off x="914400" y="731520"/>
            <a:ext cx="10058400" cy="492443"/>
          </a:xfrm>
          <a:prstGeom prst="rect">
            <a:avLst/>
          </a:prstGeom>
          <a:noFill/>
        </p:spPr>
        <p:txBody>
          <a:bodyPr wrap="square">
            <a:spAutoFit/>
          </a:bodyPr>
          <a:lstStyle/>
          <a:p>
            <a:pPr algn="ctr">
              <a:defRPr sz="2600" b="0">
                <a:solidFill>
                  <a:srgbClr val="1A1A2E"/>
                </a:solidFill>
                <a:latin typeface="Calibri"/>
              </a:defRPr>
            </a:pPr>
            <a:r>
              <a:rPr dirty="0">
                <a:solidFill>
                  <a:schemeClr val="bg1"/>
                </a:solidFill>
              </a:rPr>
              <a:t>One of the earliest general-purpose electronic computers</a:t>
            </a:r>
          </a:p>
        </p:txBody>
      </p:sp>
      <p:sp>
        <p:nvSpPr>
          <p:cNvPr id="8" name="Rounded Rectangle 7"/>
          <p:cNvSpPr/>
          <p:nvPr/>
        </p:nvSpPr>
        <p:spPr>
          <a:xfrm>
            <a:off x="1828800" y="5394960"/>
            <a:ext cx="8229600" cy="128016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5669280"/>
            <a:ext cx="7863840" cy="1097280"/>
          </a:xfrm>
          <a:prstGeom prst="rect">
            <a:avLst/>
          </a:prstGeom>
          <a:noFill/>
        </p:spPr>
        <p:txBody>
          <a:bodyPr wrap="square">
            <a:spAutoFit/>
          </a:bodyPr>
          <a:lstStyle/>
          <a:p>
            <a:pPr algn="ctr">
              <a:defRPr sz="2000" b="0">
                <a:solidFill>
                  <a:srgbClr val="FFFFFF"/>
                </a:solidFill>
                <a:latin typeface="Calibri"/>
              </a:defRPr>
            </a:pPr>
            <a:r>
              <a:rPr dirty="0"/>
              <a:t>Discussion: "Imagine developing software when your computer occupies an entire room — no IDE, no Git, no Stack Overflow."</a:t>
            </a:r>
          </a:p>
        </p:txBody>
      </p:sp>
      <p:sp>
        <p:nvSpPr>
          <p:cNvPr id="10" name="Rectangle 9"/>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19</a:t>
            </a:r>
          </a:p>
        </p:txBody>
      </p:sp>
      <p:sp>
        <p:nvSpPr>
          <p:cNvPr id="7" name="Rectangle 1">
            <a:extLst>
              <a:ext uri="{FF2B5EF4-FFF2-40B4-BE49-F238E27FC236}">
                <a16:creationId xmlns:a16="http://schemas.microsoft.com/office/drawing/2014/main" id="{57C11E51-53C3-9AD6-3FCE-C79465AF49A3}"/>
              </a:ext>
            </a:extLst>
          </p:cNvPr>
          <p:cNvSpPr>
            <a:spLocks noChangeArrowheads="1"/>
          </p:cNvSpPr>
          <p:nvPr/>
        </p:nvSpPr>
        <p:spPr bwMode="auto">
          <a:xfrm>
            <a:off x="286282" y="1280160"/>
            <a:ext cx="1131463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Google Sans"/>
              </a:rPr>
              <a:t>Full Name:</a:t>
            </a:r>
            <a:r>
              <a:rPr kumimoji="0" lang="en-US" altLang="en-US" b="0" i="0" u="none" strike="noStrike" cap="none" normalizeH="0" baseline="0" dirty="0">
                <a:ln>
                  <a:noFill/>
                </a:ln>
                <a:solidFill>
                  <a:schemeClr val="tx1"/>
                </a:solidFill>
                <a:effectLst/>
                <a:latin typeface="Google Sans"/>
              </a:rPr>
              <a:t> Electronic Numerical Integrator and Computer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Creators:</a:t>
            </a:r>
            <a:r>
              <a:rPr kumimoji="0" lang="en-US" altLang="en-US" b="0" i="0" u="none" strike="noStrike" cap="none" normalizeH="0" baseline="0" dirty="0">
                <a:ln>
                  <a:noFill/>
                </a:ln>
                <a:solidFill>
                  <a:schemeClr val="tx1"/>
                </a:solidFill>
                <a:effectLst/>
                <a:latin typeface="Google Sans"/>
              </a:rPr>
              <a:t> Designed by John Mauchly and J. Presper Eckert at the University of Pennsylvania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Timeframe:</a:t>
            </a:r>
            <a:r>
              <a:rPr kumimoji="0" lang="en-US" altLang="en-US" b="0" i="0" u="none" strike="noStrike" cap="none" normalizeH="0" baseline="0" dirty="0">
                <a:ln>
                  <a:noFill/>
                </a:ln>
                <a:solidFill>
                  <a:schemeClr val="tx1"/>
                </a:solidFill>
                <a:effectLst/>
                <a:latin typeface="Google Sans"/>
              </a:rPr>
              <a:t> Built between 1943 and 1945; unveiled in February 1946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Purpose:</a:t>
            </a:r>
            <a:r>
              <a:rPr kumimoji="0" lang="en-US" altLang="en-US" b="0" i="0" u="none" strike="noStrike" cap="none" normalizeH="0" baseline="0" dirty="0">
                <a:ln>
                  <a:noFill/>
                </a:ln>
                <a:solidFill>
                  <a:schemeClr val="tx1"/>
                </a:solidFill>
                <a:effectLst/>
                <a:latin typeface="Google Sans"/>
              </a:rPr>
              <a:t> Built for the U.S. Army to calculate artillery firing tables,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Google Sans"/>
              </a:rPr>
              <a:t>though its first test run studied thermonuclear weapon feasibility.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Google Sans"/>
              </a:rPr>
              <a:t>Size and Build</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Weight:</a:t>
            </a:r>
            <a:r>
              <a:rPr kumimoji="0" lang="en-US" altLang="en-US" b="0" i="0" u="none" strike="noStrike" cap="none" normalizeH="0" baseline="0" dirty="0">
                <a:ln>
                  <a:noFill/>
                </a:ln>
                <a:solidFill>
                  <a:schemeClr val="tx1"/>
                </a:solidFill>
                <a:effectLst/>
                <a:latin typeface="Google Sans"/>
              </a:rPr>
              <a:t> 30 tons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Space:</a:t>
            </a:r>
            <a:r>
              <a:rPr kumimoji="0" lang="en-US" altLang="en-US" b="0" i="0" u="none" strike="noStrike" cap="none" normalizeH="0" baseline="0" dirty="0">
                <a:ln>
                  <a:noFill/>
                </a:ln>
                <a:solidFill>
                  <a:schemeClr val="tx1"/>
                </a:solidFill>
                <a:effectLst/>
                <a:latin typeface="Google Sans"/>
              </a:rPr>
              <a:t> Filled a 50 by 30-foot room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Parts:</a:t>
            </a:r>
            <a:r>
              <a:rPr kumimoji="0" lang="en-US" altLang="en-US" b="0" i="0" u="none" strike="noStrike" cap="none" normalizeH="0" baseline="0" dirty="0">
                <a:ln>
                  <a:noFill/>
                </a:ln>
                <a:solidFill>
                  <a:schemeClr val="tx1"/>
                </a:solidFill>
                <a:effectLst/>
                <a:latin typeface="Google Sans"/>
              </a:rPr>
              <a:t> Contained roughly 18,000 vacuum tubes, 70,000 resistors, and 10,000 capacitors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Power:</a:t>
            </a:r>
            <a:r>
              <a:rPr kumimoji="0" lang="en-US" altLang="en-US" b="0" i="0" u="none" strike="noStrike" cap="none" normalizeH="0" baseline="0" dirty="0">
                <a:ln>
                  <a:noFill/>
                </a:ln>
                <a:solidFill>
                  <a:schemeClr val="tx1"/>
                </a:solidFill>
                <a:effectLst/>
                <a:latin typeface="Google Sans"/>
              </a:rPr>
              <a:t> Used about 174 kW of electricity and generated heavy heat.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Google Sans"/>
              </a:rPr>
              <a:t>Significance</a:t>
            </a:r>
            <a:endParaRPr kumimoji="0" lang="en-US" altLang="en-US"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Speed:</a:t>
            </a:r>
            <a:r>
              <a:rPr kumimoji="0" lang="en-US" altLang="en-US" b="0" i="0" u="none" strike="noStrike" cap="none" normalizeH="0" baseline="0" dirty="0">
                <a:ln>
                  <a:noFill/>
                </a:ln>
                <a:solidFill>
                  <a:schemeClr val="tx1"/>
                </a:solidFill>
                <a:effectLst/>
                <a:latin typeface="Google Sans"/>
              </a:rPr>
              <a:t> Performed about 5,000 additions per second, thousands of times faster than older electromechanical machines.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Programming:</a:t>
            </a:r>
            <a:r>
              <a:rPr kumimoji="0" lang="en-US" altLang="en-US" b="0" i="0" u="none" strike="noStrike" cap="none" normalizeH="0" baseline="0" dirty="0">
                <a:ln>
                  <a:noFill/>
                </a:ln>
                <a:solidFill>
                  <a:schemeClr val="tx1"/>
                </a:solidFill>
                <a:effectLst/>
                <a:latin typeface="Google Sans"/>
              </a:rPr>
              <a:t> Programmed manually by plugging cables and setting switches,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Google Sans"/>
              </a:rPr>
              <a:t>a process managed by a pioneering group of female programmers.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a:rPr>
              <a:t>Legacy:</a:t>
            </a:r>
            <a:r>
              <a:rPr kumimoji="0" lang="en-US" altLang="en-US" b="0" i="0" u="none" strike="noStrike" cap="none" normalizeH="0" baseline="0" dirty="0">
                <a:ln>
                  <a:noFill/>
                </a:ln>
                <a:solidFill>
                  <a:schemeClr val="tx1"/>
                </a:solidFill>
                <a:effectLst/>
                <a:latin typeface="Google Sans"/>
              </a:rPr>
              <a:t> Proved that electronic digital computing was possible and paved the way for modern computers.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Early Programming</a:t>
            </a:r>
          </a:p>
        </p:txBody>
      </p:sp>
      <p:sp>
        <p:nvSpPr>
          <p:cNvPr id="5" name="Rounded Rectangle 4"/>
          <p:cNvSpPr/>
          <p:nvPr/>
        </p:nvSpPr>
        <p:spPr>
          <a:xfrm>
            <a:off x="914400" y="1645920"/>
            <a:ext cx="2560320" cy="18288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286000"/>
            <a:ext cx="2560320" cy="457200"/>
          </a:xfrm>
          <a:prstGeom prst="rect">
            <a:avLst/>
          </a:prstGeom>
          <a:noFill/>
        </p:spPr>
        <p:txBody>
          <a:bodyPr wrap="square">
            <a:spAutoFit/>
          </a:bodyPr>
          <a:lstStyle/>
          <a:p>
            <a:pPr algn="ctr">
              <a:defRPr sz="2200" b="1">
                <a:solidFill>
                  <a:srgbClr val="FFFFFF"/>
                </a:solidFill>
                <a:latin typeface="Calibri"/>
              </a:defRPr>
            </a:pPr>
            <a:r>
              <a:t>Machine Code</a:t>
            </a:r>
          </a:p>
        </p:txBody>
      </p:sp>
      <p:sp>
        <p:nvSpPr>
          <p:cNvPr id="7" name="Rounded Rectangle 6"/>
          <p:cNvSpPr/>
          <p:nvPr/>
        </p:nvSpPr>
        <p:spPr>
          <a:xfrm>
            <a:off x="3749039" y="1645920"/>
            <a:ext cx="2560320" cy="18288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49039" y="2286000"/>
            <a:ext cx="2560320" cy="457200"/>
          </a:xfrm>
          <a:prstGeom prst="rect">
            <a:avLst/>
          </a:prstGeom>
          <a:noFill/>
        </p:spPr>
        <p:txBody>
          <a:bodyPr wrap="square">
            <a:spAutoFit/>
          </a:bodyPr>
          <a:lstStyle/>
          <a:p>
            <a:pPr algn="ctr">
              <a:defRPr sz="2200" b="1">
                <a:solidFill>
                  <a:srgbClr val="FFFFFF"/>
                </a:solidFill>
                <a:latin typeface="Calibri"/>
              </a:defRPr>
            </a:pPr>
            <a:r>
              <a:t>Switches</a:t>
            </a:r>
          </a:p>
        </p:txBody>
      </p:sp>
      <p:sp>
        <p:nvSpPr>
          <p:cNvPr id="9" name="Rounded Rectangle 8"/>
          <p:cNvSpPr/>
          <p:nvPr/>
        </p:nvSpPr>
        <p:spPr>
          <a:xfrm>
            <a:off x="6583680" y="1645920"/>
            <a:ext cx="2560320" cy="1828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2286000"/>
            <a:ext cx="2560320" cy="457200"/>
          </a:xfrm>
          <a:prstGeom prst="rect">
            <a:avLst/>
          </a:prstGeom>
          <a:noFill/>
        </p:spPr>
        <p:txBody>
          <a:bodyPr wrap="square">
            <a:spAutoFit/>
          </a:bodyPr>
          <a:lstStyle/>
          <a:p>
            <a:pPr algn="ctr">
              <a:defRPr sz="2200" b="1">
                <a:solidFill>
                  <a:srgbClr val="FFFFFF"/>
                </a:solidFill>
                <a:latin typeface="Calibri"/>
              </a:defRPr>
            </a:pPr>
            <a:r>
              <a:rPr dirty="0"/>
              <a:t>Punch Cards</a:t>
            </a:r>
          </a:p>
        </p:txBody>
      </p:sp>
      <p:sp>
        <p:nvSpPr>
          <p:cNvPr id="11" name="Rounded Rectangle 10"/>
          <p:cNvSpPr/>
          <p:nvPr/>
        </p:nvSpPr>
        <p:spPr>
          <a:xfrm>
            <a:off x="9418320" y="1645920"/>
            <a:ext cx="2560320" cy="18288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0" y="2286000"/>
            <a:ext cx="2560320" cy="457200"/>
          </a:xfrm>
          <a:prstGeom prst="rect">
            <a:avLst/>
          </a:prstGeom>
          <a:noFill/>
        </p:spPr>
        <p:txBody>
          <a:bodyPr wrap="square">
            <a:spAutoFit/>
          </a:bodyPr>
          <a:lstStyle/>
          <a:p>
            <a:pPr algn="ctr">
              <a:defRPr sz="2200" b="1">
                <a:solidFill>
                  <a:srgbClr val="FFFFFF"/>
                </a:solidFill>
                <a:latin typeface="Calibri"/>
              </a:defRPr>
            </a:pPr>
            <a:r>
              <a:t>Low-level Instructions</a:t>
            </a:r>
          </a:p>
        </p:txBody>
      </p:sp>
      <p:sp>
        <p:nvSpPr>
          <p:cNvPr id="13" name="Rounded Rectangle 12"/>
          <p:cNvSpPr/>
          <p:nvPr/>
        </p:nvSpPr>
        <p:spPr>
          <a:xfrm>
            <a:off x="1828800" y="4114800"/>
            <a:ext cx="8229600" cy="22860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11680" y="4206240"/>
            <a:ext cx="7863840" cy="457200"/>
          </a:xfrm>
          <a:prstGeom prst="rect">
            <a:avLst/>
          </a:prstGeom>
          <a:noFill/>
        </p:spPr>
        <p:txBody>
          <a:bodyPr wrap="square">
            <a:spAutoFit/>
          </a:bodyPr>
          <a:lstStyle/>
          <a:p>
            <a:pPr algn="l">
              <a:defRPr sz="2200" b="1">
                <a:solidFill>
                  <a:srgbClr val="FFFFFF"/>
                </a:solidFill>
                <a:latin typeface="Calibri"/>
              </a:defRPr>
            </a:pPr>
            <a:r>
              <a:t>Problems:</a:t>
            </a:r>
          </a:p>
        </p:txBody>
      </p:sp>
      <p:sp>
        <p:nvSpPr>
          <p:cNvPr id="15" name="TextBox 14"/>
          <p:cNvSpPr txBox="1"/>
          <p:nvPr/>
        </p:nvSpPr>
        <p:spPr>
          <a:xfrm>
            <a:off x="2286000" y="4754880"/>
            <a:ext cx="7315200" cy="411480"/>
          </a:xfrm>
          <a:prstGeom prst="rect">
            <a:avLst/>
          </a:prstGeom>
          <a:noFill/>
        </p:spPr>
        <p:txBody>
          <a:bodyPr wrap="square">
            <a:spAutoFit/>
          </a:bodyPr>
          <a:lstStyle/>
          <a:p>
            <a:pPr algn="l">
              <a:defRPr sz="2000" b="0">
                <a:solidFill>
                  <a:srgbClr val="FFFFFF"/>
                </a:solidFill>
                <a:latin typeface="Calibri"/>
              </a:defRPr>
            </a:pPr>
            <a:r>
              <a:t>• Difficult — required deep hardware knowledge</a:t>
            </a:r>
          </a:p>
        </p:txBody>
      </p:sp>
      <p:sp>
        <p:nvSpPr>
          <p:cNvPr id="16" name="TextBox 15"/>
          <p:cNvSpPr txBox="1"/>
          <p:nvPr/>
        </p:nvSpPr>
        <p:spPr>
          <a:xfrm>
            <a:off x="2286000" y="5257800"/>
            <a:ext cx="7315200" cy="411480"/>
          </a:xfrm>
          <a:prstGeom prst="rect">
            <a:avLst/>
          </a:prstGeom>
          <a:noFill/>
        </p:spPr>
        <p:txBody>
          <a:bodyPr wrap="square">
            <a:spAutoFit/>
          </a:bodyPr>
          <a:lstStyle/>
          <a:p>
            <a:pPr algn="l">
              <a:defRPr sz="2000" b="0">
                <a:solidFill>
                  <a:srgbClr val="FFFFFF"/>
                </a:solidFill>
                <a:latin typeface="Calibri"/>
              </a:defRPr>
            </a:pPr>
            <a:r>
              <a:t>• Error-prone — small mistakes caused big failures</a:t>
            </a:r>
          </a:p>
        </p:txBody>
      </p:sp>
      <p:sp>
        <p:nvSpPr>
          <p:cNvPr id="17" name="TextBox 16"/>
          <p:cNvSpPr txBox="1"/>
          <p:nvPr/>
        </p:nvSpPr>
        <p:spPr>
          <a:xfrm>
            <a:off x="2286000" y="5760720"/>
            <a:ext cx="7315200" cy="411480"/>
          </a:xfrm>
          <a:prstGeom prst="rect">
            <a:avLst/>
          </a:prstGeom>
          <a:noFill/>
        </p:spPr>
        <p:txBody>
          <a:bodyPr wrap="square">
            <a:spAutoFit/>
          </a:bodyPr>
          <a:lstStyle/>
          <a:p>
            <a:pPr algn="l">
              <a:defRPr sz="2000" b="0">
                <a:solidFill>
                  <a:srgbClr val="FFFFFF"/>
                </a:solidFill>
                <a:latin typeface="Calibri"/>
              </a:defRPr>
            </a:pPr>
            <a:r>
              <a:t>• Time-consuming — simple tasks took hours</a:t>
            </a:r>
          </a:p>
        </p:txBody>
      </p:sp>
      <p:sp>
        <p:nvSpPr>
          <p:cNvPr id="18" name="Rectangle 17"/>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Assembly Language</a:t>
            </a:r>
          </a:p>
        </p:txBody>
      </p:sp>
      <p:sp>
        <p:nvSpPr>
          <p:cNvPr id="5" name="TextBox 4"/>
          <p:cNvSpPr txBox="1"/>
          <p:nvPr/>
        </p:nvSpPr>
        <p:spPr>
          <a:xfrm>
            <a:off x="914400" y="1463040"/>
            <a:ext cx="10058400" cy="548640"/>
          </a:xfrm>
          <a:prstGeom prst="rect">
            <a:avLst/>
          </a:prstGeom>
          <a:noFill/>
        </p:spPr>
        <p:txBody>
          <a:bodyPr wrap="square">
            <a:spAutoFit/>
          </a:bodyPr>
          <a:lstStyle/>
          <a:p>
            <a:pPr algn="ctr">
              <a:defRPr sz="2400" b="0">
                <a:solidFill>
                  <a:srgbClr val="1A1A2E"/>
                </a:solidFill>
                <a:latin typeface="Calibri"/>
              </a:defRPr>
            </a:pPr>
            <a:r>
              <a:t>Assembly introduced symbolic instructions — a major improvement over machine code</a:t>
            </a:r>
          </a:p>
        </p:txBody>
      </p:sp>
      <p:sp>
        <p:nvSpPr>
          <p:cNvPr id="6" name="Rounded Rectangle 5"/>
          <p:cNvSpPr/>
          <p:nvPr/>
        </p:nvSpPr>
        <p:spPr>
          <a:xfrm>
            <a:off x="2743200" y="2194560"/>
            <a:ext cx="6400800" cy="3200400"/>
          </a:xfrm>
          <a:prstGeom prst="roundRect">
            <a:avLst>
              <a:gd name="adj" fmla="val 1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0" y="2468880"/>
            <a:ext cx="5486400" cy="457200"/>
          </a:xfrm>
          <a:prstGeom prst="rect">
            <a:avLst/>
          </a:prstGeom>
          <a:noFill/>
        </p:spPr>
        <p:txBody>
          <a:bodyPr wrap="square">
            <a:spAutoFit/>
          </a:bodyPr>
          <a:lstStyle/>
          <a:p>
            <a:pPr algn="l">
              <a:defRPr sz="2200" b="0">
                <a:solidFill>
                  <a:srgbClr val="00B4D8"/>
                </a:solidFill>
                <a:latin typeface="Consolas"/>
              </a:defRPr>
            </a:pPr>
            <a:r>
              <a:t>MOV  AX, 5</a:t>
            </a:r>
          </a:p>
        </p:txBody>
      </p:sp>
      <p:sp>
        <p:nvSpPr>
          <p:cNvPr id="8" name="TextBox 7"/>
          <p:cNvSpPr txBox="1"/>
          <p:nvPr/>
        </p:nvSpPr>
        <p:spPr>
          <a:xfrm>
            <a:off x="3200400" y="3108960"/>
            <a:ext cx="5486400" cy="457200"/>
          </a:xfrm>
          <a:prstGeom prst="rect">
            <a:avLst/>
          </a:prstGeom>
          <a:noFill/>
        </p:spPr>
        <p:txBody>
          <a:bodyPr wrap="square">
            <a:spAutoFit/>
          </a:bodyPr>
          <a:lstStyle/>
          <a:p>
            <a:pPr algn="l">
              <a:defRPr sz="2200" b="0">
                <a:solidFill>
                  <a:srgbClr val="2EC4B6"/>
                </a:solidFill>
                <a:latin typeface="Consolas"/>
              </a:defRPr>
            </a:pPr>
            <a:r>
              <a:t>ADD  AX, BX</a:t>
            </a:r>
          </a:p>
        </p:txBody>
      </p:sp>
      <p:sp>
        <p:nvSpPr>
          <p:cNvPr id="9" name="TextBox 8"/>
          <p:cNvSpPr txBox="1"/>
          <p:nvPr/>
        </p:nvSpPr>
        <p:spPr>
          <a:xfrm>
            <a:off x="3200400" y="3749039"/>
            <a:ext cx="5486400" cy="457200"/>
          </a:xfrm>
          <a:prstGeom prst="rect">
            <a:avLst/>
          </a:prstGeom>
          <a:noFill/>
        </p:spPr>
        <p:txBody>
          <a:bodyPr wrap="square">
            <a:spAutoFit/>
          </a:bodyPr>
          <a:lstStyle/>
          <a:p>
            <a:pPr algn="l">
              <a:defRPr sz="2200" b="0">
                <a:solidFill>
                  <a:srgbClr val="FF6B35"/>
                </a:solidFill>
                <a:latin typeface="Consolas"/>
              </a:defRPr>
            </a:pPr>
            <a:r>
              <a:t>SUB  AX, 1</a:t>
            </a:r>
          </a:p>
        </p:txBody>
      </p:sp>
      <p:sp>
        <p:nvSpPr>
          <p:cNvPr id="10" name="TextBox 9"/>
          <p:cNvSpPr txBox="1"/>
          <p:nvPr/>
        </p:nvSpPr>
        <p:spPr>
          <a:xfrm>
            <a:off x="3200400" y="4389120"/>
            <a:ext cx="5486400" cy="457200"/>
          </a:xfrm>
          <a:prstGeom prst="rect">
            <a:avLst/>
          </a:prstGeom>
          <a:noFill/>
        </p:spPr>
        <p:txBody>
          <a:bodyPr wrap="square">
            <a:spAutoFit/>
          </a:bodyPr>
          <a:lstStyle/>
          <a:p>
            <a:pPr algn="l">
              <a:defRPr sz="2200" b="0">
                <a:solidFill>
                  <a:srgbClr val="7B2FF7"/>
                </a:solidFill>
                <a:latin typeface="Consolas"/>
              </a:defRPr>
            </a:pPr>
            <a:r>
              <a:t>JMP  LABEL</a:t>
            </a:r>
          </a:p>
        </p:txBody>
      </p:sp>
      <p:sp>
        <p:nvSpPr>
          <p:cNvPr id="11" name="TextBox 10"/>
          <p:cNvSpPr txBox="1"/>
          <p:nvPr/>
        </p:nvSpPr>
        <p:spPr>
          <a:xfrm>
            <a:off x="2743200" y="5029200"/>
            <a:ext cx="6400800" cy="461665"/>
          </a:xfrm>
          <a:prstGeom prst="rect">
            <a:avLst/>
          </a:prstGeom>
          <a:noFill/>
        </p:spPr>
        <p:txBody>
          <a:bodyPr wrap="square">
            <a:spAutoFit/>
          </a:bodyPr>
          <a:lstStyle/>
          <a:p>
            <a:pPr algn="ctr">
              <a:defRPr sz="2400" b="1">
                <a:solidFill>
                  <a:srgbClr val="1A3A5C"/>
                </a:solidFill>
                <a:latin typeface="Calibri"/>
              </a:defRPr>
            </a:pPr>
            <a:r>
              <a:rPr dirty="0">
                <a:solidFill>
                  <a:schemeClr val="bg1"/>
                </a:solidFill>
              </a:rPr>
              <a:t>More understandable than raw machine code</a:t>
            </a:r>
          </a:p>
        </p:txBody>
      </p:sp>
      <p:sp>
        <p:nvSpPr>
          <p:cNvPr id="12" name="Rectangle 11"/>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High-Level Languages</a:t>
            </a:r>
          </a:p>
        </p:txBody>
      </p:sp>
      <p:sp>
        <p:nvSpPr>
          <p:cNvPr id="5" name="Rounded Rectangle 4"/>
          <p:cNvSpPr/>
          <p:nvPr/>
        </p:nvSpPr>
        <p:spPr>
          <a:xfrm>
            <a:off x="1371600" y="1828800"/>
            <a:ext cx="1645920" cy="164592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2377440"/>
            <a:ext cx="1645920" cy="457200"/>
          </a:xfrm>
          <a:prstGeom prst="rect">
            <a:avLst/>
          </a:prstGeom>
          <a:noFill/>
        </p:spPr>
        <p:txBody>
          <a:bodyPr wrap="square">
            <a:spAutoFit/>
          </a:bodyPr>
          <a:lstStyle/>
          <a:p>
            <a:pPr algn="ctr">
              <a:defRPr sz="2400" b="1">
                <a:solidFill>
                  <a:srgbClr val="FFFFFF"/>
                </a:solidFill>
                <a:latin typeface="Calibri"/>
              </a:defRPr>
            </a:pPr>
            <a:r>
              <a:rPr lang="en-US" dirty="0"/>
              <a:t>FORTRAN</a:t>
            </a:r>
            <a:endParaRPr dirty="0"/>
          </a:p>
        </p:txBody>
      </p:sp>
      <p:sp>
        <p:nvSpPr>
          <p:cNvPr id="7" name="Rounded Rectangle 6"/>
          <p:cNvSpPr/>
          <p:nvPr/>
        </p:nvSpPr>
        <p:spPr>
          <a:xfrm>
            <a:off x="3383280" y="1828800"/>
            <a:ext cx="1645920" cy="16459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2377440"/>
            <a:ext cx="1645920" cy="457200"/>
          </a:xfrm>
          <a:prstGeom prst="rect">
            <a:avLst/>
          </a:prstGeom>
          <a:noFill/>
        </p:spPr>
        <p:txBody>
          <a:bodyPr wrap="square">
            <a:spAutoFit/>
          </a:bodyPr>
          <a:lstStyle/>
          <a:p>
            <a:pPr algn="ctr">
              <a:defRPr sz="2400" b="1">
                <a:solidFill>
                  <a:srgbClr val="FFFFFF"/>
                </a:solidFill>
                <a:latin typeface="Calibri"/>
              </a:defRPr>
            </a:pPr>
            <a:r>
              <a:rPr dirty="0"/>
              <a:t>COBOL</a:t>
            </a:r>
          </a:p>
        </p:txBody>
      </p:sp>
      <p:sp>
        <p:nvSpPr>
          <p:cNvPr id="9" name="Rounded Rectangle 8"/>
          <p:cNvSpPr/>
          <p:nvPr/>
        </p:nvSpPr>
        <p:spPr>
          <a:xfrm>
            <a:off x="5394960" y="1828800"/>
            <a:ext cx="1645920" cy="16459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94960" y="2377440"/>
            <a:ext cx="1645920" cy="457200"/>
          </a:xfrm>
          <a:prstGeom prst="rect">
            <a:avLst/>
          </a:prstGeom>
          <a:noFill/>
        </p:spPr>
        <p:txBody>
          <a:bodyPr wrap="square">
            <a:spAutoFit/>
          </a:bodyPr>
          <a:lstStyle/>
          <a:p>
            <a:pPr algn="ctr">
              <a:defRPr sz="2400" b="1">
                <a:solidFill>
                  <a:srgbClr val="FFFFFF"/>
                </a:solidFill>
                <a:latin typeface="Calibri"/>
              </a:defRPr>
            </a:pPr>
            <a:r>
              <a:rPr dirty="0"/>
              <a:t>BASIC</a:t>
            </a:r>
          </a:p>
        </p:txBody>
      </p:sp>
      <p:sp>
        <p:nvSpPr>
          <p:cNvPr id="11" name="Rounded Rectangle 10"/>
          <p:cNvSpPr/>
          <p:nvPr/>
        </p:nvSpPr>
        <p:spPr>
          <a:xfrm>
            <a:off x="7406640" y="1828800"/>
            <a:ext cx="1645920" cy="16459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0" y="2377440"/>
            <a:ext cx="1645920" cy="457200"/>
          </a:xfrm>
          <a:prstGeom prst="rect">
            <a:avLst/>
          </a:prstGeom>
          <a:noFill/>
        </p:spPr>
        <p:txBody>
          <a:bodyPr wrap="square">
            <a:spAutoFit/>
          </a:bodyPr>
          <a:lstStyle/>
          <a:p>
            <a:pPr algn="ctr">
              <a:defRPr sz="2400" b="1">
                <a:solidFill>
                  <a:srgbClr val="FFFFFF"/>
                </a:solidFill>
                <a:latin typeface="Calibri"/>
              </a:defRPr>
            </a:pPr>
            <a:r>
              <a:t>C</a:t>
            </a:r>
          </a:p>
        </p:txBody>
      </p:sp>
      <p:sp>
        <p:nvSpPr>
          <p:cNvPr id="13" name="Rounded Rectangle 12"/>
          <p:cNvSpPr/>
          <p:nvPr/>
        </p:nvSpPr>
        <p:spPr>
          <a:xfrm>
            <a:off x="9418320" y="1828800"/>
            <a:ext cx="1645920" cy="164592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18320" y="2377440"/>
            <a:ext cx="1645920" cy="457200"/>
          </a:xfrm>
          <a:prstGeom prst="rect">
            <a:avLst/>
          </a:prstGeom>
          <a:noFill/>
        </p:spPr>
        <p:txBody>
          <a:bodyPr wrap="square">
            <a:spAutoFit/>
          </a:bodyPr>
          <a:lstStyle/>
          <a:p>
            <a:pPr algn="ctr">
              <a:defRPr sz="2400" b="1">
                <a:solidFill>
                  <a:srgbClr val="FFFFFF"/>
                </a:solidFill>
                <a:latin typeface="Calibri"/>
              </a:defRPr>
            </a:pPr>
            <a:r>
              <a:t>Pascal</a:t>
            </a:r>
          </a:p>
        </p:txBody>
      </p:sp>
      <p:sp>
        <p:nvSpPr>
          <p:cNvPr id="15" name="Rounded Rectangle 14"/>
          <p:cNvSpPr/>
          <p:nvPr/>
        </p:nvSpPr>
        <p:spPr>
          <a:xfrm>
            <a:off x="1828800" y="4114800"/>
            <a:ext cx="8229600" cy="22860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11680" y="4206240"/>
            <a:ext cx="7863840" cy="457200"/>
          </a:xfrm>
          <a:prstGeom prst="rect">
            <a:avLst/>
          </a:prstGeom>
          <a:noFill/>
        </p:spPr>
        <p:txBody>
          <a:bodyPr wrap="square">
            <a:spAutoFit/>
          </a:bodyPr>
          <a:lstStyle/>
          <a:p>
            <a:pPr algn="l">
              <a:defRPr sz="2800" b="1">
                <a:solidFill>
                  <a:srgbClr val="FFFFFF"/>
                </a:solidFill>
                <a:latin typeface="Calibri"/>
              </a:defRPr>
            </a:pPr>
            <a:r>
              <a:t>Major Change</a:t>
            </a:r>
          </a:p>
        </p:txBody>
      </p:sp>
      <p:sp>
        <p:nvSpPr>
          <p:cNvPr id="17" name="TextBox 16"/>
          <p:cNvSpPr txBox="1"/>
          <p:nvPr/>
        </p:nvSpPr>
        <p:spPr>
          <a:xfrm>
            <a:off x="2011680" y="4754880"/>
            <a:ext cx="7863840" cy="1371600"/>
          </a:xfrm>
          <a:prstGeom prst="rect">
            <a:avLst/>
          </a:prstGeom>
          <a:noFill/>
        </p:spPr>
        <p:txBody>
          <a:bodyPr wrap="square">
            <a:spAutoFit/>
          </a:bodyPr>
          <a:lstStyle/>
          <a:p>
            <a:pPr algn="l">
              <a:defRPr sz="2400" b="0">
                <a:solidFill>
                  <a:srgbClr val="FFFFFF"/>
                </a:solidFill>
                <a:latin typeface="Calibri"/>
              </a:defRPr>
            </a:pPr>
            <a:r>
              <a:t>Programming became more abstract and human-readable.</a:t>
            </a:r>
            <a:br/>
            <a:r>
              <a:t>Developers could focus on solving problems rather than managing hardware.</a:t>
            </a:r>
          </a:p>
        </p:txBody>
      </p:sp>
      <p:sp>
        <p:nvSpPr>
          <p:cNvPr id="18" name="Rectangle 17"/>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Evolution of Programming</a:t>
            </a:r>
          </a:p>
        </p:txBody>
      </p:sp>
      <p:sp>
        <p:nvSpPr>
          <p:cNvPr id="5" name="Rounded Rectangle 4"/>
          <p:cNvSpPr/>
          <p:nvPr/>
        </p:nvSpPr>
        <p:spPr>
          <a:xfrm>
            <a:off x="3749040" y="1554480"/>
            <a:ext cx="4572000" cy="6400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749040" y="1554480"/>
            <a:ext cx="4572000" cy="640080"/>
          </a:xfrm>
          <a:prstGeom prst="rect">
            <a:avLst/>
          </a:prstGeom>
          <a:noFill/>
        </p:spPr>
        <p:txBody>
          <a:bodyPr wrap="square">
            <a:spAutoFit/>
          </a:bodyPr>
          <a:lstStyle/>
          <a:p>
            <a:pPr algn="ctr">
              <a:defRPr sz="1700" b="1">
                <a:solidFill>
                  <a:srgbClr val="FFFFFF"/>
                </a:solidFill>
                <a:latin typeface="Calibri"/>
              </a:defRPr>
            </a:pPr>
            <a:r>
              <a:t>Machine Code</a:t>
            </a:r>
          </a:p>
        </p:txBody>
      </p:sp>
      <p:sp>
        <p:nvSpPr>
          <p:cNvPr id="7" name="Down Arrow 6"/>
          <p:cNvSpPr/>
          <p:nvPr/>
        </p:nvSpPr>
        <p:spPr>
          <a:xfrm>
            <a:off x="5897880" y="21945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749040" y="2304288"/>
            <a:ext cx="4572000" cy="6400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49040" y="2304288"/>
            <a:ext cx="4572000" cy="640080"/>
          </a:xfrm>
          <a:prstGeom prst="rect">
            <a:avLst/>
          </a:prstGeom>
          <a:noFill/>
        </p:spPr>
        <p:txBody>
          <a:bodyPr wrap="square">
            <a:spAutoFit/>
          </a:bodyPr>
          <a:lstStyle/>
          <a:p>
            <a:pPr algn="ctr">
              <a:defRPr sz="1700" b="1">
                <a:solidFill>
                  <a:srgbClr val="FFFFFF"/>
                </a:solidFill>
                <a:latin typeface="Calibri"/>
              </a:defRPr>
            </a:pPr>
            <a:r>
              <a:t>Assembly Languages</a:t>
            </a:r>
          </a:p>
        </p:txBody>
      </p:sp>
      <p:sp>
        <p:nvSpPr>
          <p:cNvPr id="10" name="Down Arrow 9"/>
          <p:cNvSpPr/>
          <p:nvPr/>
        </p:nvSpPr>
        <p:spPr>
          <a:xfrm>
            <a:off x="5897880" y="2944368"/>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49040" y="3054096"/>
            <a:ext cx="457200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49040" y="3054096"/>
            <a:ext cx="4572000" cy="640080"/>
          </a:xfrm>
          <a:prstGeom prst="rect">
            <a:avLst/>
          </a:prstGeom>
          <a:noFill/>
        </p:spPr>
        <p:txBody>
          <a:bodyPr wrap="square">
            <a:spAutoFit/>
          </a:bodyPr>
          <a:lstStyle/>
          <a:p>
            <a:pPr algn="ctr">
              <a:defRPr sz="1700" b="1">
                <a:solidFill>
                  <a:srgbClr val="FFFFFF"/>
                </a:solidFill>
                <a:latin typeface="Calibri"/>
              </a:defRPr>
            </a:pPr>
            <a:r>
              <a:t>High-Level Languages</a:t>
            </a:r>
          </a:p>
        </p:txBody>
      </p:sp>
      <p:sp>
        <p:nvSpPr>
          <p:cNvPr id="13" name="Down Arrow 12"/>
          <p:cNvSpPr/>
          <p:nvPr/>
        </p:nvSpPr>
        <p:spPr>
          <a:xfrm>
            <a:off x="5897880" y="3694176"/>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49040" y="3803904"/>
            <a:ext cx="4572000" cy="6400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0" y="3803904"/>
            <a:ext cx="4572000" cy="640080"/>
          </a:xfrm>
          <a:prstGeom prst="rect">
            <a:avLst/>
          </a:prstGeom>
          <a:noFill/>
        </p:spPr>
        <p:txBody>
          <a:bodyPr wrap="square">
            <a:spAutoFit/>
          </a:bodyPr>
          <a:lstStyle/>
          <a:p>
            <a:pPr algn="ctr">
              <a:defRPr sz="1700" b="1">
                <a:solidFill>
                  <a:srgbClr val="FFFFFF"/>
                </a:solidFill>
                <a:latin typeface="Calibri"/>
              </a:defRPr>
            </a:pPr>
            <a:r>
              <a:t>Object-Oriented Programming</a:t>
            </a:r>
          </a:p>
        </p:txBody>
      </p:sp>
      <p:sp>
        <p:nvSpPr>
          <p:cNvPr id="16" name="Down Arrow 15"/>
          <p:cNvSpPr/>
          <p:nvPr/>
        </p:nvSpPr>
        <p:spPr>
          <a:xfrm>
            <a:off x="5897880" y="4443984"/>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749040" y="4553712"/>
            <a:ext cx="4572000" cy="6400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40" y="4553712"/>
            <a:ext cx="4572000" cy="640080"/>
          </a:xfrm>
          <a:prstGeom prst="rect">
            <a:avLst/>
          </a:prstGeom>
          <a:noFill/>
        </p:spPr>
        <p:txBody>
          <a:bodyPr wrap="square">
            <a:spAutoFit/>
          </a:bodyPr>
          <a:lstStyle/>
          <a:p>
            <a:pPr algn="ctr">
              <a:defRPr sz="1700" b="1">
                <a:solidFill>
                  <a:srgbClr val="FFFFFF"/>
                </a:solidFill>
                <a:latin typeface="Calibri"/>
              </a:defRPr>
            </a:pPr>
            <a:r>
              <a:t>Web &amp; Mobile Development</a:t>
            </a:r>
          </a:p>
        </p:txBody>
      </p:sp>
      <p:sp>
        <p:nvSpPr>
          <p:cNvPr id="19" name="Down Arrow 18"/>
          <p:cNvSpPr/>
          <p:nvPr/>
        </p:nvSpPr>
        <p:spPr>
          <a:xfrm>
            <a:off x="5897880" y="5193792"/>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749040" y="5303520"/>
            <a:ext cx="4572000" cy="6400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0" y="5303520"/>
            <a:ext cx="4572000" cy="640080"/>
          </a:xfrm>
          <a:prstGeom prst="rect">
            <a:avLst/>
          </a:prstGeom>
          <a:noFill/>
        </p:spPr>
        <p:txBody>
          <a:bodyPr wrap="square">
            <a:spAutoFit/>
          </a:bodyPr>
          <a:lstStyle/>
          <a:p>
            <a:pPr algn="ctr">
              <a:defRPr sz="1700" b="1">
                <a:solidFill>
                  <a:srgbClr val="FFFFFF"/>
                </a:solidFill>
                <a:latin typeface="Calibri"/>
              </a:defRPr>
            </a:pPr>
            <a:r>
              <a:t>Cloud Computing &amp; DevOps</a:t>
            </a:r>
          </a:p>
        </p:txBody>
      </p:sp>
      <p:sp>
        <p:nvSpPr>
          <p:cNvPr id="22" name="Down Arrow 21"/>
          <p:cNvSpPr/>
          <p:nvPr/>
        </p:nvSpPr>
        <p:spPr>
          <a:xfrm>
            <a:off x="5897880" y="59436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749040" y="6053328"/>
            <a:ext cx="4572000" cy="64008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49040" y="6053328"/>
            <a:ext cx="4572000" cy="640080"/>
          </a:xfrm>
          <a:prstGeom prst="rect">
            <a:avLst/>
          </a:prstGeom>
          <a:noFill/>
        </p:spPr>
        <p:txBody>
          <a:bodyPr wrap="square">
            <a:spAutoFit/>
          </a:bodyPr>
          <a:lstStyle/>
          <a:p>
            <a:pPr algn="ctr">
              <a:defRPr sz="1700" b="1">
                <a:solidFill>
                  <a:srgbClr val="FFFFFF"/>
                </a:solidFill>
                <a:latin typeface="Calibri"/>
              </a:defRPr>
            </a:pPr>
            <a:r>
              <a:t>AI/ML &amp; Agentic Systems</a:t>
            </a:r>
          </a:p>
        </p:txBody>
      </p:sp>
      <p:sp>
        <p:nvSpPr>
          <p:cNvPr id="25" name="Rectangle 24"/>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Software Became Larger</a:t>
            </a:r>
          </a:p>
        </p:txBody>
      </p:sp>
      <p:sp>
        <p:nvSpPr>
          <p:cNvPr id="5" name="Rounded Rectangle 4"/>
          <p:cNvSpPr/>
          <p:nvPr/>
        </p:nvSpPr>
        <p:spPr>
          <a:xfrm>
            <a:off x="731520" y="1463040"/>
            <a:ext cx="5029200" cy="47548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54480"/>
            <a:ext cx="5029200" cy="548640"/>
          </a:xfrm>
          <a:prstGeom prst="rect">
            <a:avLst/>
          </a:prstGeom>
          <a:noFill/>
        </p:spPr>
        <p:txBody>
          <a:bodyPr wrap="square">
            <a:spAutoFit/>
          </a:bodyPr>
          <a:lstStyle/>
          <a:p>
            <a:pPr algn="ctr">
              <a:defRPr sz="2800" b="1">
                <a:solidFill>
                  <a:srgbClr val="FFFFFF"/>
                </a:solidFill>
                <a:latin typeface="Calibri"/>
              </a:defRPr>
            </a:pPr>
            <a:r>
              <a:t>EARLY SOFTWARE</a:t>
            </a:r>
          </a:p>
        </p:txBody>
      </p:sp>
      <p:sp>
        <p:nvSpPr>
          <p:cNvPr id="7" name="TextBox 6"/>
          <p:cNvSpPr txBox="1"/>
          <p:nvPr/>
        </p:nvSpPr>
        <p:spPr>
          <a:xfrm>
            <a:off x="1371600" y="2377440"/>
            <a:ext cx="3840480" cy="640080"/>
          </a:xfrm>
          <a:prstGeom prst="rect">
            <a:avLst/>
          </a:prstGeom>
          <a:noFill/>
        </p:spPr>
        <p:txBody>
          <a:bodyPr wrap="square">
            <a:spAutoFit/>
          </a:bodyPr>
          <a:lstStyle/>
          <a:p>
            <a:pPr algn="l">
              <a:defRPr sz="2200" b="0">
                <a:solidFill>
                  <a:srgbClr val="FFFFFF"/>
                </a:solidFill>
                <a:latin typeface="Calibri"/>
              </a:defRPr>
            </a:pPr>
            <a:r>
              <a:t>• Small single programs</a:t>
            </a:r>
          </a:p>
        </p:txBody>
      </p:sp>
      <p:sp>
        <p:nvSpPr>
          <p:cNvPr id="8" name="TextBox 7"/>
          <p:cNvSpPr txBox="1"/>
          <p:nvPr/>
        </p:nvSpPr>
        <p:spPr>
          <a:xfrm>
            <a:off x="1371600" y="3200400"/>
            <a:ext cx="3840480" cy="640080"/>
          </a:xfrm>
          <a:prstGeom prst="rect">
            <a:avLst/>
          </a:prstGeom>
          <a:noFill/>
        </p:spPr>
        <p:txBody>
          <a:bodyPr wrap="square">
            <a:spAutoFit/>
          </a:bodyPr>
          <a:lstStyle/>
          <a:p>
            <a:pPr algn="l">
              <a:defRPr sz="2200" b="0">
                <a:solidFill>
                  <a:srgbClr val="FFFFFF"/>
                </a:solidFill>
                <a:latin typeface="Calibri"/>
              </a:defRPr>
            </a:pPr>
            <a:r>
              <a:t>• Ran on one machine</a:t>
            </a:r>
          </a:p>
        </p:txBody>
      </p:sp>
      <p:sp>
        <p:nvSpPr>
          <p:cNvPr id="9" name="TextBox 8"/>
          <p:cNvSpPr txBox="1"/>
          <p:nvPr/>
        </p:nvSpPr>
        <p:spPr>
          <a:xfrm>
            <a:off x="1371600" y="4023360"/>
            <a:ext cx="3840480" cy="640080"/>
          </a:xfrm>
          <a:prstGeom prst="rect">
            <a:avLst/>
          </a:prstGeom>
          <a:noFill/>
        </p:spPr>
        <p:txBody>
          <a:bodyPr wrap="square">
            <a:spAutoFit/>
          </a:bodyPr>
          <a:lstStyle/>
          <a:p>
            <a:pPr algn="l">
              <a:defRPr sz="2200" b="0">
                <a:solidFill>
                  <a:srgbClr val="FFFFFF"/>
                </a:solidFill>
                <a:latin typeface="Calibri"/>
              </a:defRPr>
            </a:pPr>
            <a:r>
              <a:t>• Used by few people</a:t>
            </a:r>
          </a:p>
        </p:txBody>
      </p:sp>
      <p:sp>
        <p:nvSpPr>
          <p:cNvPr id="10" name="Rounded Rectangle 9"/>
          <p:cNvSpPr/>
          <p:nvPr/>
        </p:nvSpPr>
        <p:spPr>
          <a:xfrm>
            <a:off x="6400800" y="1463040"/>
            <a:ext cx="5029200" cy="47548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554480"/>
            <a:ext cx="5029200" cy="548640"/>
          </a:xfrm>
          <a:prstGeom prst="rect">
            <a:avLst/>
          </a:prstGeom>
          <a:noFill/>
        </p:spPr>
        <p:txBody>
          <a:bodyPr wrap="square">
            <a:spAutoFit/>
          </a:bodyPr>
          <a:lstStyle/>
          <a:p>
            <a:pPr algn="ctr">
              <a:defRPr sz="2800" b="1">
                <a:solidFill>
                  <a:srgbClr val="FFFFFF"/>
                </a:solidFill>
                <a:latin typeface="Calibri"/>
              </a:defRPr>
            </a:pPr>
            <a:r>
              <a:t>MODERN SOFTWARE</a:t>
            </a:r>
          </a:p>
        </p:txBody>
      </p:sp>
      <p:sp>
        <p:nvSpPr>
          <p:cNvPr id="12" name="TextBox 11"/>
          <p:cNvSpPr txBox="1"/>
          <p:nvPr/>
        </p:nvSpPr>
        <p:spPr>
          <a:xfrm>
            <a:off x="7040880" y="2377440"/>
            <a:ext cx="3840480" cy="548640"/>
          </a:xfrm>
          <a:prstGeom prst="rect">
            <a:avLst/>
          </a:prstGeom>
          <a:noFill/>
        </p:spPr>
        <p:txBody>
          <a:bodyPr wrap="square">
            <a:spAutoFit/>
          </a:bodyPr>
          <a:lstStyle/>
          <a:p>
            <a:pPr algn="l">
              <a:defRPr sz="2000" b="0">
                <a:solidFill>
                  <a:srgbClr val="FFFFFF"/>
                </a:solidFill>
                <a:latin typeface="Calibri"/>
              </a:defRPr>
            </a:pPr>
            <a:r>
              <a:t>• Millions of users worldwide</a:t>
            </a:r>
          </a:p>
        </p:txBody>
      </p:sp>
      <p:sp>
        <p:nvSpPr>
          <p:cNvPr id="13" name="TextBox 12"/>
          <p:cNvSpPr txBox="1"/>
          <p:nvPr/>
        </p:nvSpPr>
        <p:spPr>
          <a:xfrm>
            <a:off x="7040880" y="3108960"/>
            <a:ext cx="3840480" cy="548640"/>
          </a:xfrm>
          <a:prstGeom prst="rect">
            <a:avLst/>
          </a:prstGeom>
          <a:noFill/>
        </p:spPr>
        <p:txBody>
          <a:bodyPr wrap="square">
            <a:spAutoFit/>
          </a:bodyPr>
          <a:lstStyle/>
          <a:p>
            <a:pPr algn="l">
              <a:defRPr sz="2000" b="0">
                <a:solidFill>
                  <a:srgbClr val="FFFFFF"/>
                </a:solidFill>
                <a:latin typeface="Calibri"/>
              </a:defRPr>
            </a:pPr>
            <a:r>
              <a:t>• Cloud-based infrastructure</a:t>
            </a:r>
          </a:p>
        </p:txBody>
      </p:sp>
      <p:sp>
        <p:nvSpPr>
          <p:cNvPr id="14" name="TextBox 13"/>
          <p:cNvSpPr txBox="1"/>
          <p:nvPr/>
        </p:nvSpPr>
        <p:spPr>
          <a:xfrm>
            <a:off x="7040880" y="3840480"/>
            <a:ext cx="3840480" cy="548640"/>
          </a:xfrm>
          <a:prstGeom prst="rect">
            <a:avLst/>
          </a:prstGeom>
          <a:noFill/>
        </p:spPr>
        <p:txBody>
          <a:bodyPr wrap="square">
            <a:spAutoFit/>
          </a:bodyPr>
          <a:lstStyle/>
          <a:p>
            <a:pPr algn="l">
              <a:defRPr sz="2000" b="0">
                <a:solidFill>
                  <a:srgbClr val="FFFFFF"/>
                </a:solidFill>
                <a:latin typeface="Calibri"/>
              </a:defRPr>
            </a:pPr>
            <a:r>
              <a:t>• Complex databases and APIs</a:t>
            </a:r>
          </a:p>
        </p:txBody>
      </p:sp>
      <p:sp>
        <p:nvSpPr>
          <p:cNvPr id="15" name="TextBox 14"/>
          <p:cNvSpPr txBox="1"/>
          <p:nvPr/>
        </p:nvSpPr>
        <p:spPr>
          <a:xfrm>
            <a:off x="7040880" y="4572000"/>
            <a:ext cx="3840480" cy="548640"/>
          </a:xfrm>
          <a:prstGeom prst="rect">
            <a:avLst/>
          </a:prstGeom>
          <a:noFill/>
        </p:spPr>
        <p:txBody>
          <a:bodyPr wrap="square">
            <a:spAutoFit/>
          </a:bodyPr>
          <a:lstStyle/>
          <a:p>
            <a:pPr algn="l">
              <a:defRPr sz="2000" b="0">
                <a:solidFill>
                  <a:srgbClr val="FFFFFF"/>
                </a:solidFill>
                <a:latin typeface="Calibri"/>
              </a:defRPr>
            </a:pPr>
            <a:r>
              <a:t>• Distributed microservices</a:t>
            </a:r>
          </a:p>
        </p:txBody>
      </p:sp>
      <p:sp>
        <p:nvSpPr>
          <p:cNvPr id="16" name="TextBox 15"/>
          <p:cNvSpPr txBox="1"/>
          <p:nvPr/>
        </p:nvSpPr>
        <p:spPr>
          <a:xfrm>
            <a:off x="7040880" y="5303520"/>
            <a:ext cx="3840480" cy="548640"/>
          </a:xfrm>
          <a:prstGeom prst="rect">
            <a:avLst/>
          </a:prstGeom>
          <a:noFill/>
        </p:spPr>
        <p:txBody>
          <a:bodyPr wrap="square">
            <a:spAutoFit/>
          </a:bodyPr>
          <a:lstStyle/>
          <a:p>
            <a:pPr algn="l">
              <a:defRPr sz="2000" b="0">
                <a:solidFill>
                  <a:srgbClr val="FFFFFF"/>
                </a:solidFill>
                <a:latin typeface="Calibri"/>
              </a:defRPr>
            </a:pPr>
            <a:r>
              <a:t>• AI-powered features</a:t>
            </a:r>
          </a:p>
        </p:txBody>
      </p:sp>
      <p:sp>
        <p:nvSpPr>
          <p:cNvPr id="17" name="Rectangle 16"/>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From Programs to Systems</a:t>
            </a:r>
          </a:p>
        </p:txBody>
      </p:sp>
      <p:sp>
        <p:nvSpPr>
          <p:cNvPr id="5" name="Rounded Rectangle 4"/>
          <p:cNvSpPr/>
          <p:nvPr/>
        </p:nvSpPr>
        <p:spPr>
          <a:xfrm>
            <a:off x="914400" y="1645920"/>
            <a:ext cx="4114800" cy="22860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286000"/>
            <a:ext cx="4114800" cy="548640"/>
          </a:xfrm>
          <a:prstGeom prst="rect">
            <a:avLst/>
          </a:prstGeom>
          <a:noFill/>
        </p:spPr>
        <p:txBody>
          <a:bodyPr wrap="square">
            <a:spAutoFit/>
          </a:bodyPr>
          <a:lstStyle/>
          <a:p>
            <a:pPr algn="ctr">
              <a:defRPr sz="3200" b="1">
                <a:solidFill>
                  <a:srgbClr val="FFFFFF"/>
                </a:solidFill>
                <a:latin typeface="Calibri"/>
              </a:defRPr>
            </a:pPr>
            <a:r>
              <a:t>Calculator</a:t>
            </a:r>
          </a:p>
        </p:txBody>
      </p:sp>
      <p:sp>
        <p:nvSpPr>
          <p:cNvPr id="7" name="TextBox 6"/>
          <p:cNvSpPr txBox="1"/>
          <p:nvPr/>
        </p:nvSpPr>
        <p:spPr>
          <a:xfrm>
            <a:off x="914400" y="2926080"/>
            <a:ext cx="4114800" cy="548640"/>
          </a:xfrm>
          <a:prstGeom prst="rect">
            <a:avLst/>
          </a:prstGeom>
          <a:noFill/>
        </p:spPr>
        <p:txBody>
          <a:bodyPr wrap="square">
            <a:spAutoFit/>
          </a:bodyPr>
          <a:lstStyle/>
          <a:p>
            <a:pPr algn="ctr">
              <a:defRPr sz="2200" b="0">
                <a:solidFill>
                  <a:srgbClr val="FFFFFF"/>
                </a:solidFill>
                <a:latin typeface="Calibri"/>
              </a:defRPr>
            </a:pPr>
            <a:r>
              <a:t>A simple, single-purpose program</a:t>
            </a:r>
          </a:p>
        </p:txBody>
      </p:sp>
      <p:sp>
        <p:nvSpPr>
          <p:cNvPr id="8" name="TextBox 7"/>
          <p:cNvSpPr txBox="1"/>
          <p:nvPr/>
        </p:nvSpPr>
        <p:spPr>
          <a:xfrm>
            <a:off x="5029200" y="2286000"/>
            <a:ext cx="1828800" cy="548640"/>
          </a:xfrm>
          <a:prstGeom prst="rect">
            <a:avLst/>
          </a:prstGeom>
          <a:noFill/>
        </p:spPr>
        <p:txBody>
          <a:bodyPr wrap="square">
            <a:spAutoFit/>
          </a:bodyPr>
          <a:lstStyle/>
          <a:p>
            <a:pPr algn="ctr">
              <a:defRPr sz="3200" b="1">
                <a:solidFill>
                  <a:srgbClr val="FF6B35"/>
                </a:solidFill>
                <a:latin typeface="Calibri"/>
              </a:defRPr>
            </a:pPr>
            <a:r>
              <a:t>vs</a:t>
            </a:r>
          </a:p>
        </p:txBody>
      </p:sp>
      <p:sp>
        <p:nvSpPr>
          <p:cNvPr id="9" name="Rounded Rectangle 8"/>
          <p:cNvSpPr/>
          <p:nvPr/>
        </p:nvSpPr>
        <p:spPr>
          <a:xfrm>
            <a:off x="6858000" y="1645920"/>
            <a:ext cx="4114800" cy="41148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0" y="1828800"/>
            <a:ext cx="4114800" cy="548640"/>
          </a:xfrm>
          <a:prstGeom prst="rect">
            <a:avLst/>
          </a:prstGeom>
          <a:noFill/>
        </p:spPr>
        <p:txBody>
          <a:bodyPr wrap="square">
            <a:spAutoFit/>
          </a:bodyPr>
          <a:lstStyle/>
          <a:p>
            <a:pPr algn="ctr">
              <a:defRPr sz="2600" b="1">
                <a:solidFill>
                  <a:srgbClr val="FFFFFF"/>
                </a:solidFill>
                <a:latin typeface="Calibri"/>
              </a:defRPr>
            </a:pPr>
            <a:r>
              <a:t>Banking Platform</a:t>
            </a:r>
          </a:p>
        </p:txBody>
      </p:sp>
      <p:sp>
        <p:nvSpPr>
          <p:cNvPr id="11" name="TextBox 10"/>
          <p:cNvSpPr txBox="1"/>
          <p:nvPr/>
        </p:nvSpPr>
        <p:spPr>
          <a:xfrm>
            <a:off x="7315200" y="2560320"/>
            <a:ext cx="3200400" cy="457200"/>
          </a:xfrm>
          <a:prstGeom prst="rect">
            <a:avLst/>
          </a:prstGeom>
          <a:noFill/>
        </p:spPr>
        <p:txBody>
          <a:bodyPr wrap="square">
            <a:spAutoFit/>
          </a:bodyPr>
          <a:lstStyle/>
          <a:p>
            <a:pPr algn="l">
              <a:defRPr sz="2200" b="0">
                <a:solidFill>
                  <a:srgbClr val="FFFFFF"/>
                </a:solidFill>
                <a:latin typeface="Calibri"/>
              </a:defRPr>
            </a:pPr>
            <a:r>
              <a:t>• Authentication</a:t>
            </a:r>
          </a:p>
        </p:txBody>
      </p:sp>
      <p:sp>
        <p:nvSpPr>
          <p:cNvPr id="12" name="TextBox 11"/>
          <p:cNvSpPr txBox="1"/>
          <p:nvPr/>
        </p:nvSpPr>
        <p:spPr>
          <a:xfrm>
            <a:off x="7315200" y="3108960"/>
            <a:ext cx="3200400" cy="457200"/>
          </a:xfrm>
          <a:prstGeom prst="rect">
            <a:avLst/>
          </a:prstGeom>
          <a:noFill/>
        </p:spPr>
        <p:txBody>
          <a:bodyPr wrap="square">
            <a:spAutoFit/>
          </a:bodyPr>
          <a:lstStyle/>
          <a:p>
            <a:pPr algn="l">
              <a:defRPr sz="2200" b="0">
                <a:solidFill>
                  <a:srgbClr val="FFFFFF"/>
                </a:solidFill>
                <a:latin typeface="Calibri"/>
              </a:defRPr>
            </a:pPr>
            <a:r>
              <a:t>• Database</a:t>
            </a:r>
          </a:p>
        </p:txBody>
      </p:sp>
      <p:sp>
        <p:nvSpPr>
          <p:cNvPr id="13" name="TextBox 12"/>
          <p:cNvSpPr txBox="1"/>
          <p:nvPr/>
        </p:nvSpPr>
        <p:spPr>
          <a:xfrm>
            <a:off x="7315200" y="3657600"/>
            <a:ext cx="3200400" cy="457200"/>
          </a:xfrm>
          <a:prstGeom prst="rect">
            <a:avLst/>
          </a:prstGeom>
          <a:noFill/>
        </p:spPr>
        <p:txBody>
          <a:bodyPr wrap="square">
            <a:spAutoFit/>
          </a:bodyPr>
          <a:lstStyle/>
          <a:p>
            <a:pPr algn="l">
              <a:defRPr sz="2200" b="0">
                <a:solidFill>
                  <a:srgbClr val="FFFFFF"/>
                </a:solidFill>
                <a:latin typeface="Calibri"/>
              </a:defRPr>
            </a:pPr>
            <a:r>
              <a:t>• Transactions</a:t>
            </a:r>
          </a:p>
        </p:txBody>
      </p:sp>
      <p:sp>
        <p:nvSpPr>
          <p:cNvPr id="14" name="TextBox 13"/>
          <p:cNvSpPr txBox="1"/>
          <p:nvPr/>
        </p:nvSpPr>
        <p:spPr>
          <a:xfrm>
            <a:off x="7315200" y="4206240"/>
            <a:ext cx="3200400" cy="457200"/>
          </a:xfrm>
          <a:prstGeom prst="rect">
            <a:avLst/>
          </a:prstGeom>
          <a:noFill/>
        </p:spPr>
        <p:txBody>
          <a:bodyPr wrap="square">
            <a:spAutoFit/>
          </a:bodyPr>
          <a:lstStyle/>
          <a:p>
            <a:pPr algn="l">
              <a:defRPr sz="2200" b="0">
                <a:solidFill>
                  <a:srgbClr val="FFFFFF"/>
                </a:solidFill>
                <a:latin typeface="Calibri"/>
              </a:defRPr>
            </a:pPr>
            <a:r>
              <a:t>• Security</a:t>
            </a:r>
          </a:p>
        </p:txBody>
      </p:sp>
      <p:sp>
        <p:nvSpPr>
          <p:cNvPr id="15" name="TextBox 14"/>
          <p:cNvSpPr txBox="1"/>
          <p:nvPr/>
        </p:nvSpPr>
        <p:spPr>
          <a:xfrm>
            <a:off x="7315200" y="4754879"/>
            <a:ext cx="3200400" cy="457200"/>
          </a:xfrm>
          <a:prstGeom prst="rect">
            <a:avLst/>
          </a:prstGeom>
          <a:noFill/>
        </p:spPr>
        <p:txBody>
          <a:bodyPr wrap="square">
            <a:spAutoFit/>
          </a:bodyPr>
          <a:lstStyle/>
          <a:p>
            <a:pPr algn="l">
              <a:defRPr sz="2200" b="0">
                <a:solidFill>
                  <a:srgbClr val="FFFFFF"/>
                </a:solidFill>
                <a:latin typeface="Calibri"/>
              </a:defRPr>
            </a:pPr>
            <a:r>
              <a:t>• Monitoring</a:t>
            </a:r>
          </a:p>
        </p:txBody>
      </p:sp>
      <p:sp>
        <p:nvSpPr>
          <p:cNvPr id="16" name="Rounded Rectangle 15"/>
          <p:cNvSpPr/>
          <p:nvPr/>
        </p:nvSpPr>
        <p:spPr>
          <a:xfrm>
            <a:off x="1371600" y="5486400"/>
            <a:ext cx="9144000" cy="9144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54480" y="5577840"/>
            <a:ext cx="8778240" cy="731520"/>
          </a:xfrm>
          <a:prstGeom prst="rect">
            <a:avLst/>
          </a:prstGeom>
          <a:noFill/>
        </p:spPr>
        <p:txBody>
          <a:bodyPr wrap="square">
            <a:spAutoFit/>
          </a:bodyPr>
          <a:lstStyle/>
          <a:p>
            <a:pPr algn="ctr">
              <a:defRPr sz="2200" b="1">
                <a:solidFill>
                  <a:srgbClr val="FFFFFF"/>
                </a:solidFill>
                <a:latin typeface="Calibri"/>
              </a:defRPr>
            </a:pPr>
            <a:r>
              <a:t>Key Message: As software complexity grew, engineering discipline became necessary to manage it successfully.</a:t>
            </a:r>
          </a:p>
        </p:txBody>
      </p:sp>
      <p:sp>
        <p:nvSpPr>
          <p:cNvPr id="18" name="Rectangle 17"/>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4 — SOFTWARE CRISIS</a:t>
            </a:r>
          </a:p>
        </p:txBody>
      </p:sp>
      <p:sp>
        <p:nvSpPr>
          <p:cNvPr id="5" name="TextBox 4"/>
          <p:cNvSpPr txBox="1"/>
          <p:nvPr/>
        </p:nvSpPr>
        <p:spPr>
          <a:xfrm>
            <a:off x="914400" y="1371600"/>
            <a:ext cx="10058400" cy="548640"/>
          </a:xfrm>
          <a:prstGeom prst="rect">
            <a:avLst/>
          </a:prstGeom>
          <a:noFill/>
        </p:spPr>
        <p:txBody>
          <a:bodyPr wrap="square">
            <a:spAutoFit/>
          </a:bodyPr>
          <a:lstStyle/>
          <a:p>
            <a:pPr algn="ctr">
              <a:defRPr sz="3200" b="1">
                <a:solidFill>
                  <a:srgbClr val="1A3A5C"/>
                </a:solidFill>
                <a:latin typeface="Calibri"/>
              </a:defRPr>
            </a:pPr>
            <a:r>
              <a:t>What Was the Software Crisis?</a:t>
            </a:r>
          </a:p>
        </p:txBody>
      </p:sp>
      <p:sp>
        <p:nvSpPr>
          <p:cNvPr id="6" name="Oval 5"/>
          <p:cNvSpPr/>
          <p:nvPr/>
        </p:nvSpPr>
        <p:spPr>
          <a:xfrm>
            <a:off x="5303520" y="2103120"/>
            <a:ext cx="1371600" cy="137160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0" y="2446020"/>
            <a:ext cx="1371600" cy="685800"/>
          </a:xfrm>
          <a:prstGeom prst="rect">
            <a:avLst/>
          </a:prstGeom>
          <a:noFill/>
        </p:spPr>
        <p:txBody>
          <a:bodyPr wrap="none">
            <a:spAutoFit/>
          </a:bodyPr>
          <a:lstStyle/>
          <a:p>
            <a:pPr algn="ctr">
              <a:defRPr sz="4800" b="1">
                <a:solidFill>
                  <a:srgbClr val="FFFFFF"/>
                </a:solidFill>
              </a:defRPr>
            </a:pPr>
            <a:r>
              <a:t>!</a:t>
            </a:r>
          </a:p>
        </p:txBody>
      </p:sp>
      <p:sp>
        <p:nvSpPr>
          <p:cNvPr id="8" name="Rounded Rectangle 7"/>
          <p:cNvSpPr/>
          <p:nvPr/>
        </p:nvSpPr>
        <p:spPr>
          <a:xfrm>
            <a:off x="914400" y="384048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160520"/>
            <a:ext cx="3017520" cy="457200"/>
          </a:xfrm>
          <a:prstGeom prst="rect">
            <a:avLst/>
          </a:prstGeom>
          <a:noFill/>
        </p:spPr>
        <p:txBody>
          <a:bodyPr wrap="square">
            <a:spAutoFit/>
          </a:bodyPr>
          <a:lstStyle/>
          <a:p>
            <a:pPr algn="ctr">
              <a:defRPr sz="2000" b="1">
                <a:solidFill>
                  <a:srgbClr val="FFFFFF"/>
                </a:solidFill>
                <a:latin typeface="Calibri"/>
              </a:defRPr>
            </a:pPr>
            <a:r>
              <a:t>Delays</a:t>
            </a:r>
          </a:p>
        </p:txBody>
      </p:sp>
      <p:sp>
        <p:nvSpPr>
          <p:cNvPr id="10" name="Rounded Rectangle 9"/>
          <p:cNvSpPr/>
          <p:nvPr/>
        </p:nvSpPr>
        <p:spPr>
          <a:xfrm>
            <a:off x="4389120" y="3840480"/>
            <a:ext cx="3017520" cy="10972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4160520"/>
            <a:ext cx="3017520" cy="457200"/>
          </a:xfrm>
          <a:prstGeom prst="rect">
            <a:avLst/>
          </a:prstGeom>
          <a:noFill/>
        </p:spPr>
        <p:txBody>
          <a:bodyPr wrap="square">
            <a:spAutoFit/>
          </a:bodyPr>
          <a:lstStyle/>
          <a:p>
            <a:pPr algn="ctr">
              <a:defRPr sz="2000" b="1">
                <a:solidFill>
                  <a:srgbClr val="FFFFFF"/>
                </a:solidFill>
                <a:latin typeface="Calibri"/>
              </a:defRPr>
            </a:pPr>
            <a:r>
              <a:t>Budget Overruns</a:t>
            </a:r>
          </a:p>
        </p:txBody>
      </p:sp>
      <p:sp>
        <p:nvSpPr>
          <p:cNvPr id="12" name="Rounded Rectangle 11"/>
          <p:cNvSpPr/>
          <p:nvPr/>
        </p:nvSpPr>
        <p:spPr>
          <a:xfrm>
            <a:off x="7863840" y="3840480"/>
            <a:ext cx="3017520" cy="109728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0" y="4160520"/>
            <a:ext cx="3017520" cy="457200"/>
          </a:xfrm>
          <a:prstGeom prst="rect">
            <a:avLst/>
          </a:prstGeom>
          <a:noFill/>
        </p:spPr>
        <p:txBody>
          <a:bodyPr wrap="square">
            <a:spAutoFit/>
          </a:bodyPr>
          <a:lstStyle/>
          <a:p>
            <a:pPr algn="ctr">
              <a:defRPr sz="2000" b="1">
                <a:solidFill>
                  <a:srgbClr val="FFFFFF"/>
                </a:solidFill>
                <a:latin typeface="Calibri"/>
              </a:defRPr>
            </a:pPr>
            <a:r>
              <a:t>Poor Quality</a:t>
            </a:r>
          </a:p>
        </p:txBody>
      </p:sp>
      <p:sp>
        <p:nvSpPr>
          <p:cNvPr id="14" name="Rounded Rectangle 13"/>
          <p:cNvSpPr/>
          <p:nvPr/>
        </p:nvSpPr>
        <p:spPr>
          <a:xfrm>
            <a:off x="914400" y="521208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532120"/>
            <a:ext cx="3017520" cy="457200"/>
          </a:xfrm>
          <a:prstGeom prst="rect">
            <a:avLst/>
          </a:prstGeom>
          <a:noFill/>
        </p:spPr>
        <p:txBody>
          <a:bodyPr wrap="square">
            <a:spAutoFit/>
          </a:bodyPr>
          <a:lstStyle/>
          <a:p>
            <a:pPr algn="ctr">
              <a:defRPr sz="2000" b="1">
                <a:solidFill>
                  <a:srgbClr val="FFFFFF"/>
                </a:solidFill>
                <a:latin typeface="Calibri"/>
              </a:defRPr>
            </a:pPr>
            <a:r>
              <a:t>Reliability Problems</a:t>
            </a:r>
          </a:p>
        </p:txBody>
      </p:sp>
      <p:sp>
        <p:nvSpPr>
          <p:cNvPr id="16" name="Rounded Rectangle 15"/>
          <p:cNvSpPr/>
          <p:nvPr/>
        </p:nvSpPr>
        <p:spPr>
          <a:xfrm>
            <a:off x="4389120" y="5212080"/>
            <a:ext cx="3017520" cy="10972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20" y="5532120"/>
            <a:ext cx="3017520" cy="457200"/>
          </a:xfrm>
          <a:prstGeom prst="rect">
            <a:avLst/>
          </a:prstGeom>
          <a:noFill/>
        </p:spPr>
        <p:txBody>
          <a:bodyPr wrap="square">
            <a:spAutoFit/>
          </a:bodyPr>
          <a:lstStyle/>
          <a:p>
            <a:pPr algn="ctr">
              <a:defRPr sz="2000" b="1">
                <a:solidFill>
                  <a:srgbClr val="FFFFFF"/>
                </a:solidFill>
                <a:latin typeface="Calibri"/>
              </a:defRPr>
            </a:pPr>
            <a:r>
              <a:t>Maintenance Difficulties</a:t>
            </a:r>
          </a:p>
        </p:txBody>
      </p:sp>
      <p:sp>
        <p:nvSpPr>
          <p:cNvPr id="18" name="Rounded Rectangle 17"/>
          <p:cNvSpPr/>
          <p:nvPr/>
        </p:nvSpPr>
        <p:spPr>
          <a:xfrm>
            <a:off x="3200400" y="5943600"/>
            <a:ext cx="5486400" cy="6400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0" y="5989320"/>
            <a:ext cx="5120640" cy="548640"/>
          </a:xfrm>
          <a:prstGeom prst="rect">
            <a:avLst/>
          </a:prstGeom>
          <a:noFill/>
        </p:spPr>
        <p:txBody>
          <a:bodyPr wrap="square">
            <a:spAutoFit/>
          </a:bodyPr>
          <a:lstStyle/>
          <a:p>
            <a:pPr algn="ctr">
              <a:defRPr sz="2200" b="1">
                <a:solidFill>
                  <a:srgbClr val="FFFFFF"/>
                </a:solidFill>
                <a:latin typeface="Calibri"/>
              </a:defRPr>
            </a:pPr>
            <a:r>
              <a:t>The Software Crisis</a:t>
            </a:r>
          </a:p>
        </p:txBody>
      </p:sp>
      <p:sp>
        <p:nvSpPr>
          <p:cNvPr id="20" name="Rectangle 19"/>
          <p:cNvSpPr/>
          <p:nvPr/>
        </p:nvSpPr>
        <p:spPr>
          <a:xfrm>
            <a:off x="0" y="6675120"/>
            <a:ext cx="12191695" cy="1828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Why Were Projects Failing?</a:t>
            </a:r>
          </a:p>
        </p:txBody>
      </p:sp>
      <p:sp>
        <p:nvSpPr>
          <p:cNvPr id="5" name="Rounded Rectangle 4"/>
          <p:cNvSpPr/>
          <p:nvPr/>
        </p:nvSpPr>
        <p:spPr>
          <a:xfrm>
            <a:off x="731520" y="1645920"/>
            <a:ext cx="2560320" cy="18288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286000"/>
            <a:ext cx="2377440" cy="548640"/>
          </a:xfrm>
          <a:prstGeom prst="rect">
            <a:avLst/>
          </a:prstGeom>
          <a:noFill/>
        </p:spPr>
        <p:txBody>
          <a:bodyPr wrap="square">
            <a:spAutoFit/>
          </a:bodyPr>
          <a:lstStyle/>
          <a:p>
            <a:pPr algn="ctr">
              <a:defRPr sz="1500" b="1">
                <a:solidFill>
                  <a:srgbClr val="FFFFFF"/>
                </a:solidFill>
                <a:latin typeface="Calibri"/>
              </a:defRPr>
            </a:pPr>
            <a:r>
              <a:t>Poor Requirements</a:t>
            </a:r>
          </a:p>
        </p:txBody>
      </p:sp>
      <p:sp>
        <p:nvSpPr>
          <p:cNvPr id="7" name="Rounded Rectangle 6"/>
          <p:cNvSpPr/>
          <p:nvPr/>
        </p:nvSpPr>
        <p:spPr>
          <a:xfrm>
            <a:off x="3566160" y="1645920"/>
            <a:ext cx="2560320" cy="18288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0" y="2286000"/>
            <a:ext cx="2377440" cy="548640"/>
          </a:xfrm>
          <a:prstGeom prst="rect">
            <a:avLst/>
          </a:prstGeom>
          <a:noFill/>
        </p:spPr>
        <p:txBody>
          <a:bodyPr wrap="square">
            <a:spAutoFit/>
          </a:bodyPr>
          <a:lstStyle/>
          <a:p>
            <a:pPr algn="ctr">
              <a:defRPr sz="1500" b="1">
                <a:solidFill>
                  <a:srgbClr val="FFFFFF"/>
                </a:solidFill>
                <a:latin typeface="Calibri"/>
              </a:defRPr>
            </a:pPr>
            <a:r>
              <a:t>Poor Planning</a:t>
            </a:r>
          </a:p>
        </p:txBody>
      </p:sp>
      <p:sp>
        <p:nvSpPr>
          <p:cNvPr id="9" name="Rounded Rectangle 8"/>
          <p:cNvSpPr/>
          <p:nvPr/>
        </p:nvSpPr>
        <p:spPr>
          <a:xfrm>
            <a:off x="6400800" y="1645920"/>
            <a:ext cx="2560320" cy="1828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286000"/>
            <a:ext cx="2377440" cy="548640"/>
          </a:xfrm>
          <a:prstGeom prst="rect">
            <a:avLst/>
          </a:prstGeom>
          <a:noFill/>
        </p:spPr>
        <p:txBody>
          <a:bodyPr wrap="square">
            <a:spAutoFit/>
          </a:bodyPr>
          <a:lstStyle/>
          <a:p>
            <a:pPr algn="ctr">
              <a:defRPr sz="1500" b="1">
                <a:solidFill>
                  <a:srgbClr val="FFFFFF"/>
                </a:solidFill>
                <a:latin typeface="Calibri"/>
              </a:defRPr>
            </a:pPr>
            <a:r>
              <a:t>Increasing Complexity</a:t>
            </a:r>
          </a:p>
        </p:txBody>
      </p:sp>
      <p:sp>
        <p:nvSpPr>
          <p:cNvPr id="11" name="Rounded Rectangle 10"/>
          <p:cNvSpPr/>
          <p:nvPr/>
        </p:nvSpPr>
        <p:spPr>
          <a:xfrm>
            <a:off x="9235440" y="1645920"/>
            <a:ext cx="2560320" cy="18288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0" y="2286000"/>
            <a:ext cx="2377440" cy="548640"/>
          </a:xfrm>
          <a:prstGeom prst="rect">
            <a:avLst/>
          </a:prstGeom>
          <a:noFill/>
        </p:spPr>
        <p:txBody>
          <a:bodyPr wrap="square">
            <a:spAutoFit/>
          </a:bodyPr>
          <a:lstStyle/>
          <a:p>
            <a:pPr algn="ctr">
              <a:defRPr sz="1500" b="1">
                <a:solidFill>
                  <a:srgbClr val="FFFFFF"/>
                </a:solidFill>
                <a:latin typeface="Calibri"/>
              </a:defRPr>
            </a:pPr>
            <a:r>
              <a:rPr dirty="0"/>
              <a:t>Inadequate Testing</a:t>
            </a:r>
          </a:p>
        </p:txBody>
      </p:sp>
      <p:sp>
        <p:nvSpPr>
          <p:cNvPr id="13" name="Rounded Rectangle 12"/>
          <p:cNvSpPr/>
          <p:nvPr/>
        </p:nvSpPr>
        <p:spPr>
          <a:xfrm>
            <a:off x="731520" y="3931920"/>
            <a:ext cx="2560320" cy="18288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572000"/>
            <a:ext cx="2377440" cy="548640"/>
          </a:xfrm>
          <a:prstGeom prst="rect">
            <a:avLst/>
          </a:prstGeom>
          <a:noFill/>
        </p:spPr>
        <p:txBody>
          <a:bodyPr wrap="square">
            <a:spAutoFit/>
          </a:bodyPr>
          <a:lstStyle/>
          <a:p>
            <a:pPr algn="ctr">
              <a:defRPr sz="1500" b="1">
                <a:solidFill>
                  <a:srgbClr val="FFFFFF"/>
                </a:solidFill>
                <a:latin typeface="Calibri"/>
              </a:defRPr>
            </a:pPr>
            <a:r>
              <a:t>Poor Communication</a:t>
            </a:r>
          </a:p>
        </p:txBody>
      </p:sp>
      <p:sp>
        <p:nvSpPr>
          <p:cNvPr id="15" name="Rounded Rectangle 14"/>
          <p:cNvSpPr/>
          <p:nvPr/>
        </p:nvSpPr>
        <p:spPr>
          <a:xfrm>
            <a:off x="3566160" y="3931920"/>
            <a:ext cx="2560320" cy="18288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0" y="4572000"/>
            <a:ext cx="2377440" cy="548640"/>
          </a:xfrm>
          <a:prstGeom prst="rect">
            <a:avLst/>
          </a:prstGeom>
          <a:noFill/>
        </p:spPr>
        <p:txBody>
          <a:bodyPr wrap="square">
            <a:spAutoFit/>
          </a:bodyPr>
          <a:lstStyle/>
          <a:p>
            <a:pPr algn="ctr">
              <a:defRPr sz="1500" b="1">
                <a:solidFill>
                  <a:srgbClr val="FFFFFF"/>
                </a:solidFill>
                <a:latin typeface="Calibri"/>
              </a:defRPr>
            </a:pPr>
            <a:r>
              <a:t>Poor Project Management</a:t>
            </a:r>
          </a:p>
        </p:txBody>
      </p:sp>
      <p:sp>
        <p:nvSpPr>
          <p:cNvPr id="17" name="Rounded Rectangle 16"/>
          <p:cNvSpPr/>
          <p:nvPr/>
        </p:nvSpPr>
        <p:spPr>
          <a:xfrm>
            <a:off x="6400800" y="3931920"/>
            <a:ext cx="2560320" cy="182880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572000"/>
            <a:ext cx="2377440" cy="548640"/>
          </a:xfrm>
          <a:prstGeom prst="rect">
            <a:avLst/>
          </a:prstGeom>
          <a:noFill/>
        </p:spPr>
        <p:txBody>
          <a:bodyPr wrap="square">
            <a:spAutoFit/>
          </a:bodyPr>
          <a:lstStyle/>
          <a:p>
            <a:pPr algn="ctr">
              <a:defRPr sz="1500" b="1">
                <a:solidFill>
                  <a:srgbClr val="FFFFFF"/>
                </a:solidFill>
                <a:latin typeface="Calibri"/>
              </a:defRPr>
            </a:pPr>
            <a:r>
              <a:t>Changing Requirements</a:t>
            </a:r>
          </a:p>
        </p:txBody>
      </p:sp>
      <p:sp>
        <p:nvSpPr>
          <p:cNvPr id="19" name="Rectangle 18"/>
          <p:cNvSpPr/>
          <p:nvPr/>
        </p:nvSpPr>
        <p:spPr>
          <a:xfrm>
            <a:off x="0" y="6675120"/>
            <a:ext cx="12191695" cy="1828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SCENARIO: University Portal</a:t>
            </a:r>
          </a:p>
        </p:txBody>
      </p:sp>
      <p:sp>
        <p:nvSpPr>
          <p:cNvPr id="5" name="Rounded Rectangle 4"/>
          <p:cNvSpPr/>
          <p:nvPr/>
        </p:nvSpPr>
        <p:spPr>
          <a:xfrm>
            <a:off x="1371600" y="1645920"/>
            <a:ext cx="9144000" cy="54864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1737360"/>
            <a:ext cx="8778240" cy="365760"/>
          </a:xfrm>
          <a:prstGeom prst="rect">
            <a:avLst/>
          </a:prstGeom>
          <a:noFill/>
        </p:spPr>
        <p:txBody>
          <a:bodyPr wrap="square">
            <a:spAutoFit/>
          </a:bodyPr>
          <a:lstStyle/>
          <a:p>
            <a:pPr algn="l">
              <a:defRPr sz="1800" b="0">
                <a:solidFill>
                  <a:srgbClr val="FFFFFF"/>
                </a:solidFill>
                <a:latin typeface="Calibri"/>
              </a:defRPr>
            </a:pPr>
            <a:r>
              <a:t>Client: "Build us a student portal."</a:t>
            </a:r>
          </a:p>
        </p:txBody>
      </p:sp>
      <p:sp>
        <p:nvSpPr>
          <p:cNvPr id="7" name="Rounded Rectangle 6"/>
          <p:cNvSpPr/>
          <p:nvPr/>
        </p:nvSpPr>
        <p:spPr>
          <a:xfrm>
            <a:off x="1371600" y="2560320"/>
            <a:ext cx="9144000" cy="548640"/>
          </a:xfrm>
          <a:prstGeom prst="roundRect">
            <a:avLst>
              <a:gd name="adj" fmla="val 10000"/>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54480" y="2651760"/>
            <a:ext cx="8778240" cy="365760"/>
          </a:xfrm>
          <a:prstGeom prst="rect">
            <a:avLst/>
          </a:prstGeom>
          <a:noFill/>
        </p:spPr>
        <p:txBody>
          <a:bodyPr wrap="square">
            <a:spAutoFit/>
          </a:bodyPr>
          <a:lstStyle/>
          <a:p>
            <a:pPr algn="l">
              <a:defRPr sz="1800" b="0">
                <a:solidFill>
                  <a:srgbClr val="FFFFFF"/>
                </a:solidFill>
                <a:latin typeface="Calibri"/>
              </a:defRPr>
            </a:pPr>
            <a:r>
              <a:t>Developer starts coding immediately.</a:t>
            </a:r>
          </a:p>
        </p:txBody>
      </p:sp>
      <p:sp>
        <p:nvSpPr>
          <p:cNvPr id="9" name="Rounded Rectangle 8"/>
          <p:cNvSpPr/>
          <p:nvPr/>
        </p:nvSpPr>
        <p:spPr>
          <a:xfrm>
            <a:off x="1371600" y="3291840"/>
            <a:ext cx="9144000" cy="5486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80" y="3383280"/>
            <a:ext cx="8778240" cy="365760"/>
          </a:xfrm>
          <a:prstGeom prst="rect">
            <a:avLst/>
          </a:prstGeom>
          <a:noFill/>
        </p:spPr>
        <p:txBody>
          <a:bodyPr wrap="square">
            <a:spAutoFit/>
          </a:bodyPr>
          <a:lstStyle/>
          <a:p>
            <a:pPr algn="l">
              <a:defRPr sz="1800" b="0">
                <a:solidFill>
                  <a:srgbClr val="FFFFFF"/>
                </a:solidFill>
                <a:latin typeface="Calibri"/>
              </a:defRPr>
            </a:pPr>
            <a:r>
              <a:t>Client: "Add attendance."</a:t>
            </a:r>
          </a:p>
        </p:txBody>
      </p:sp>
      <p:sp>
        <p:nvSpPr>
          <p:cNvPr id="11" name="Rounded Rectangle 10"/>
          <p:cNvSpPr/>
          <p:nvPr/>
        </p:nvSpPr>
        <p:spPr>
          <a:xfrm>
            <a:off x="1371600" y="3931920"/>
            <a:ext cx="9144000" cy="5486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54480" y="4023360"/>
            <a:ext cx="8778240" cy="365760"/>
          </a:xfrm>
          <a:prstGeom prst="rect">
            <a:avLst/>
          </a:prstGeom>
          <a:noFill/>
        </p:spPr>
        <p:txBody>
          <a:bodyPr wrap="square">
            <a:spAutoFit/>
          </a:bodyPr>
          <a:lstStyle/>
          <a:p>
            <a:pPr algn="l">
              <a:defRPr sz="1800" b="0">
                <a:solidFill>
                  <a:srgbClr val="FFFFFF"/>
                </a:solidFill>
                <a:latin typeface="Calibri"/>
              </a:defRPr>
            </a:pPr>
            <a:r>
              <a:t>Client: "Add fees."</a:t>
            </a:r>
          </a:p>
        </p:txBody>
      </p:sp>
      <p:sp>
        <p:nvSpPr>
          <p:cNvPr id="13" name="Rounded Rectangle 12"/>
          <p:cNvSpPr/>
          <p:nvPr/>
        </p:nvSpPr>
        <p:spPr>
          <a:xfrm>
            <a:off x="1371600" y="4572000"/>
            <a:ext cx="9144000" cy="5486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54480" y="4663440"/>
            <a:ext cx="8778240" cy="365760"/>
          </a:xfrm>
          <a:prstGeom prst="rect">
            <a:avLst/>
          </a:prstGeom>
          <a:noFill/>
        </p:spPr>
        <p:txBody>
          <a:bodyPr wrap="square">
            <a:spAutoFit/>
          </a:bodyPr>
          <a:lstStyle/>
          <a:p>
            <a:pPr algn="l">
              <a:defRPr sz="1800" b="0">
                <a:solidFill>
                  <a:srgbClr val="FFFFFF"/>
                </a:solidFill>
                <a:latin typeface="Calibri"/>
              </a:defRPr>
            </a:pPr>
            <a:r>
              <a:t>Client: "Add teacher management."</a:t>
            </a:r>
          </a:p>
        </p:txBody>
      </p:sp>
      <p:sp>
        <p:nvSpPr>
          <p:cNvPr id="15" name="Rounded Rectangle 14"/>
          <p:cNvSpPr/>
          <p:nvPr/>
        </p:nvSpPr>
        <p:spPr>
          <a:xfrm>
            <a:off x="1371600" y="5212080"/>
            <a:ext cx="9144000" cy="5486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54480" y="5303520"/>
            <a:ext cx="8778240" cy="365760"/>
          </a:xfrm>
          <a:prstGeom prst="rect">
            <a:avLst/>
          </a:prstGeom>
          <a:noFill/>
        </p:spPr>
        <p:txBody>
          <a:bodyPr wrap="square">
            <a:spAutoFit/>
          </a:bodyPr>
          <a:lstStyle/>
          <a:p>
            <a:pPr algn="l">
              <a:defRPr sz="1800" b="0">
                <a:solidFill>
                  <a:srgbClr val="FFFFFF"/>
                </a:solidFill>
                <a:latin typeface="Calibri"/>
              </a:defRPr>
            </a:pPr>
            <a:r>
              <a:t>Client: "Add mobile application."</a:t>
            </a:r>
          </a:p>
        </p:txBody>
      </p:sp>
      <p:sp>
        <p:nvSpPr>
          <p:cNvPr id="17" name="Rounded Rectangle 16"/>
          <p:cNvSpPr/>
          <p:nvPr/>
        </p:nvSpPr>
        <p:spPr>
          <a:xfrm>
            <a:off x="2743200" y="5943600"/>
            <a:ext cx="6400800" cy="73152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26080" y="5989320"/>
            <a:ext cx="6035040" cy="640080"/>
          </a:xfrm>
          <a:prstGeom prst="rect">
            <a:avLst/>
          </a:prstGeom>
          <a:noFill/>
        </p:spPr>
        <p:txBody>
          <a:bodyPr wrap="square">
            <a:spAutoFit/>
          </a:bodyPr>
          <a:lstStyle/>
          <a:p>
            <a:pPr algn="ctr">
              <a:defRPr sz="1800" b="1">
                <a:solidFill>
                  <a:srgbClr val="FFFFFF"/>
                </a:solidFill>
                <a:latin typeface="Calibri"/>
              </a:defRPr>
            </a:pPr>
            <a:r>
              <a:t>Question: What went wrong? Answer: Requirements were not properly analyzed and managed.</a:t>
            </a:r>
          </a:p>
        </p:txBody>
      </p:sp>
      <p:sp>
        <p:nvSpPr>
          <p:cNvPr id="19" name="Rectangle 18"/>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SCENARIO: Banking Software</a:t>
            </a:r>
          </a:p>
        </p:txBody>
      </p:sp>
      <p:sp>
        <p:nvSpPr>
          <p:cNvPr id="5" name="Rounded Rectangle 4"/>
          <p:cNvSpPr/>
          <p:nvPr/>
        </p:nvSpPr>
        <p:spPr>
          <a:xfrm>
            <a:off x="1828800" y="1645920"/>
            <a:ext cx="8229600" cy="10972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737360"/>
            <a:ext cx="7863840" cy="914400"/>
          </a:xfrm>
          <a:prstGeom prst="rect">
            <a:avLst/>
          </a:prstGeom>
          <a:noFill/>
        </p:spPr>
        <p:txBody>
          <a:bodyPr wrap="square">
            <a:spAutoFit/>
          </a:bodyPr>
          <a:lstStyle/>
          <a:p>
            <a:pPr algn="ctr">
              <a:defRPr sz="2400" b="1">
                <a:solidFill>
                  <a:srgbClr val="FFFFFF"/>
                </a:solidFill>
                <a:latin typeface="Calibri"/>
              </a:defRPr>
            </a:pPr>
            <a:r>
              <a:t>Developer says: "I can build a banking system in one week."</a:t>
            </a:r>
          </a:p>
        </p:txBody>
      </p:sp>
      <p:sp>
        <p:nvSpPr>
          <p:cNvPr id="7" name="TextBox 6"/>
          <p:cNvSpPr txBox="1"/>
          <p:nvPr/>
        </p:nvSpPr>
        <p:spPr>
          <a:xfrm>
            <a:off x="1828800" y="3017520"/>
            <a:ext cx="8229600" cy="457200"/>
          </a:xfrm>
          <a:prstGeom prst="rect">
            <a:avLst/>
          </a:prstGeom>
          <a:noFill/>
        </p:spPr>
        <p:txBody>
          <a:bodyPr wrap="square">
            <a:spAutoFit/>
          </a:bodyPr>
          <a:lstStyle/>
          <a:p>
            <a:pPr algn="ctr">
              <a:defRPr sz="2600" b="1">
                <a:solidFill>
                  <a:srgbClr val="1A3A5C"/>
                </a:solidFill>
                <a:latin typeface="Calibri"/>
              </a:defRPr>
            </a:pPr>
            <a:r>
              <a:t>Would you trust it? Why?</a:t>
            </a:r>
          </a:p>
        </p:txBody>
      </p:sp>
      <p:sp>
        <p:nvSpPr>
          <p:cNvPr id="8" name="Rounded Rectangle 7"/>
          <p:cNvSpPr/>
          <p:nvPr/>
        </p:nvSpPr>
        <p:spPr>
          <a:xfrm>
            <a:off x="731520" y="3840480"/>
            <a:ext cx="1371600" cy="13716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297680"/>
            <a:ext cx="1371600" cy="338554"/>
          </a:xfrm>
          <a:prstGeom prst="rect">
            <a:avLst/>
          </a:prstGeom>
          <a:noFill/>
        </p:spPr>
        <p:txBody>
          <a:bodyPr wrap="square">
            <a:spAutoFit/>
          </a:bodyPr>
          <a:lstStyle/>
          <a:p>
            <a:pPr algn="ctr">
              <a:defRPr sz="1200" b="1">
                <a:solidFill>
                  <a:srgbClr val="FFFFFF"/>
                </a:solidFill>
                <a:latin typeface="Calibri"/>
              </a:defRPr>
            </a:pPr>
            <a:r>
              <a:rPr sz="1600" dirty="0"/>
              <a:t>Security</a:t>
            </a:r>
            <a:endParaRPr dirty="0"/>
          </a:p>
        </p:txBody>
      </p:sp>
      <p:sp>
        <p:nvSpPr>
          <p:cNvPr id="10" name="Rounded Rectangle 9"/>
          <p:cNvSpPr/>
          <p:nvPr/>
        </p:nvSpPr>
        <p:spPr>
          <a:xfrm>
            <a:off x="2286000" y="3840480"/>
            <a:ext cx="1371600" cy="13716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0" y="4297680"/>
            <a:ext cx="137160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Reliability</a:t>
            </a:r>
          </a:p>
        </p:txBody>
      </p:sp>
      <p:sp>
        <p:nvSpPr>
          <p:cNvPr id="12" name="Rounded Rectangle 11"/>
          <p:cNvSpPr/>
          <p:nvPr/>
        </p:nvSpPr>
        <p:spPr>
          <a:xfrm>
            <a:off x="3840480" y="3840480"/>
            <a:ext cx="1371600" cy="13716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0" y="4297680"/>
            <a:ext cx="137160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Accuracy</a:t>
            </a:r>
          </a:p>
        </p:txBody>
      </p:sp>
      <p:sp>
        <p:nvSpPr>
          <p:cNvPr id="14" name="Rounded Rectangle 13"/>
          <p:cNvSpPr/>
          <p:nvPr/>
        </p:nvSpPr>
        <p:spPr>
          <a:xfrm>
            <a:off x="5394959" y="3840480"/>
            <a:ext cx="1371600" cy="13716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94959" y="4297680"/>
            <a:ext cx="137160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Testing</a:t>
            </a:r>
          </a:p>
        </p:txBody>
      </p:sp>
      <p:sp>
        <p:nvSpPr>
          <p:cNvPr id="16" name="Rounded Rectangle 15"/>
          <p:cNvSpPr/>
          <p:nvPr/>
        </p:nvSpPr>
        <p:spPr>
          <a:xfrm>
            <a:off x="6949440" y="3840480"/>
            <a:ext cx="1371600" cy="13716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0" y="4297680"/>
            <a:ext cx="137160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Backup</a:t>
            </a:r>
          </a:p>
        </p:txBody>
      </p:sp>
      <p:sp>
        <p:nvSpPr>
          <p:cNvPr id="18" name="Rounded Rectangle 17"/>
          <p:cNvSpPr/>
          <p:nvPr/>
        </p:nvSpPr>
        <p:spPr>
          <a:xfrm>
            <a:off x="8503920" y="3840480"/>
            <a:ext cx="1371600" cy="13716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0" y="4297680"/>
            <a:ext cx="137160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Monitoring</a:t>
            </a:r>
          </a:p>
        </p:txBody>
      </p:sp>
      <p:sp>
        <p:nvSpPr>
          <p:cNvPr id="20" name="Rounded Rectangle 19"/>
          <p:cNvSpPr/>
          <p:nvPr/>
        </p:nvSpPr>
        <p:spPr>
          <a:xfrm>
            <a:off x="10058400" y="3840480"/>
            <a:ext cx="1371600" cy="137160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0" y="4297680"/>
            <a:ext cx="137160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Compliance</a:t>
            </a:r>
          </a:p>
        </p:txBody>
      </p:sp>
      <p:sp>
        <p:nvSpPr>
          <p:cNvPr id="22" name="Rectangle 21"/>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Cost of Failure</a:t>
            </a:r>
          </a:p>
        </p:txBody>
      </p:sp>
      <p:sp>
        <p:nvSpPr>
          <p:cNvPr id="5" name="Rounded Rectangle 4"/>
          <p:cNvSpPr/>
          <p:nvPr/>
        </p:nvSpPr>
        <p:spPr>
          <a:xfrm>
            <a:off x="914400" y="1645920"/>
            <a:ext cx="3017520" cy="12801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11680"/>
            <a:ext cx="3017520" cy="457200"/>
          </a:xfrm>
          <a:prstGeom prst="rect">
            <a:avLst/>
          </a:prstGeom>
          <a:noFill/>
        </p:spPr>
        <p:txBody>
          <a:bodyPr wrap="square">
            <a:spAutoFit/>
          </a:bodyPr>
          <a:lstStyle/>
          <a:p>
            <a:pPr algn="ctr">
              <a:defRPr sz="2000" b="1">
                <a:solidFill>
                  <a:srgbClr val="FFFFFF"/>
                </a:solidFill>
                <a:latin typeface="Calibri"/>
              </a:defRPr>
            </a:pPr>
            <a:r>
              <a:t>Financial Loss</a:t>
            </a:r>
          </a:p>
        </p:txBody>
      </p:sp>
      <p:sp>
        <p:nvSpPr>
          <p:cNvPr id="7" name="Rounded Rectangle 6"/>
          <p:cNvSpPr/>
          <p:nvPr/>
        </p:nvSpPr>
        <p:spPr>
          <a:xfrm>
            <a:off x="4389120" y="1645920"/>
            <a:ext cx="3017520" cy="12801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89120" y="2011680"/>
            <a:ext cx="3017520" cy="457200"/>
          </a:xfrm>
          <a:prstGeom prst="rect">
            <a:avLst/>
          </a:prstGeom>
          <a:noFill/>
        </p:spPr>
        <p:txBody>
          <a:bodyPr wrap="square">
            <a:spAutoFit/>
          </a:bodyPr>
          <a:lstStyle/>
          <a:p>
            <a:pPr algn="ctr">
              <a:defRPr sz="2000" b="1">
                <a:solidFill>
                  <a:srgbClr val="FFFFFF"/>
                </a:solidFill>
                <a:latin typeface="Calibri"/>
              </a:defRPr>
            </a:pPr>
            <a:r>
              <a:t>Data Loss</a:t>
            </a:r>
          </a:p>
        </p:txBody>
      </p:sp>
      <p:sp>
        <p:nvSpPr>
          <p:cNvPr id="9" name="Rounded Rectangle 8"/>
          <p:cNvSpPr/>
          <p:nvPr/>
        </p:nvSpPr>
        <p:spPr>
          <a:xfrm>
            <a:off x="7863840" y="1645920"/>
            <a:ext cx="3017520" cy="12801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2011680"/>
            <a:ext cx="3017520" cy="457200"/>
          </a:xfrm>
          <a:prstGeom prst="rect">
            <a:avLst/>
          </a:prstGeom>
          <a:noFill/>
        </p:spPr>
        <p:txBody>
          <a:bodyPr wrap="square">
            <a:spAutoFit/>
          </a:bodyPr>
          <a:lstStyle/>
          <a:p>
            <a:pPr algn="ctr">
              <a:defRPr sz="2000" b="1">
                <a:solidFill>
                  <a:srgbClr val="FFFFFF"/>
                </a:solidFill>
                <a:latin typeface="Calibri"/>
              </a:defRPr>
            </a:pPr>
            <a:r>
              <a:t>Security Breaches</a:t>
            </a:r>
          </a:p>
        </p:txBody>
      </p:sp>
      <p:sp>
        <p:nvSpPr>
          <p:cNvPr id="11" name="Rounded Rectangle 10"/>
          <p:cNvSpPr/>
          <p:nvPr/>
        </p:nvSpPr>
        <p:spPr>
          <a:xfrm>
            <a:off x="914400" y="3291840"/>
            <a:ext cx="3017520" cy="12801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657600"/>
            <a:ext cx="3017520" cy="457200"/>
          </a:xfrm>
          <a:prstGeom prst="rect">
            <a:avLst/>
          </a:prstGeom>
          <a:noFill/>
        </p:spPr>
        <p:txBody>
          <a:bodyPr wrap="square">
            <a:spAutoFit/>
          </a:bodyPr>
          <a:lstStyle/>
          <a:p>
            <a:pPr algn="ctr">
              <a:defRPr sz="2000" b="1">
                <a:solidFill>
                  <a:srgbClr val="FFFFFF"/>
                </a:solidFill>
                <a:latin typeface="Calibri"/>
              </a:defRPr>
            </a:pPr>
            <a:r>
              <a:rPr dirty="0"/>
              <a:t>Safety Problems</a:t>
            </a:r>
          </a:p>
        </p:txBody>
      </p:sp>
      <p:sp>
        <p:nvSpPr>
          <p:cNvPr id="13" name="Rounded Rectangle 12"/>
          <p:cNvSpPr/>
          <p:nvPr/>
        </p:nvSpPr>
        <p:spPr>
          <a:xfrm>
            <a:off x="4389120" y="3291840"/>
            <a:ext cx="3017520" cy="12801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3657600"/>
            <a:ext cx="3017520" cy="457200"/>
          </a:xfrm>
          <a:prstGeom prst="rect">
            <a:avLst/>
          </a:prstGeom>
          <a:noFill/>
        </p:spPr>
        <p:txBody>
          <a:bodyPr wrap="square">
            <a:spAutoFit/>
          </a:bodyPr>
          <a:lstStyle/>
          <a:p>
            <a:pPr algn="ctr">
              <a:defRPr sz="2000" b="1">
                <a:solidFill>
                  <a:srgbClr val="FFFFFF"/>
                </a:solidFill>
                <a:latin typeface="Calibri"/>
              </a:defRPr>
            </a:pPr>
            <a:r>
              <a:rPr dirty="0"/>
              <a:t>Legal Problems</a:t>
            </a:r>
          </a:p>
        </p:txBody>
      </p:sp>
      <p:sp>
        <p:nvSpPr>
          <p:cNvPr id="15" name="Rounded Rectangle 14"/>
          <p:cNvSpPr/>
          <p:nvPr/>
        </p:nvSpPr>
        <p:spPr>
          <a:xfrm>
            <a:off x="7863840" y="3291840"/>
            <a:ext cx="3017520" cy="12801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3657600"/>
            <a:ext cx="3017520" cy="457200"/>
          </a:xfrm>
          <a:prstGeom prst="rect">
            <a:avLst/>
          </a:prstGeom>
          <a:noFill/>
        </p:spPr>
        <p:txBody>
          <a:bodyPr wrap="square">
            <a:spAutoFit/>
          </a:bodyPr>
          <a:lstStyle/>
          <a:p>
            <a:pPr algn="ctr">
              <a:defRPr sz="2000" b="1">
                <a:solidFill>
                  <a:srgbClr val="FFFFFF"/>
                </a:solidFill>
                <a:latin typeface="Calibri"/>
              </a:defRPr>
            </a:pPr>
            <a:r>
              <a:rPr dirty="0"/>
              <a:t>Reputation Damage</a:t>
            </a:r>
          </a:p>
        </p:txBody>
      </p:sp>
      <p:sp>
        <p:nvSpPr>
          <p:cNvPr id="17" name="Rounded Rectangle 16"/>
          <p:cNvSpPr/>
          <p:nvPr/>
        </p:nvSpPr>
        <p:spPr>
          <a:xfrm>
            <a:off x="1371600" y="5029200"/>
            <a:ext cx="9144000" cy="13716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554480" y="5120640"/>
            <a:ext cx="8778240" cy="365760"/>
          </a:xfrm>
          <a:prstGeom prst="rect">
            <a:avLst/>
          </a:prstGeom>
          <a:noFill/>
        </p:spPr>
        <p:txBody>
          <a:bodyPr wrap="square">
            <a:spAutoFit/>
          </a:bodyPr>
          <a:lstStyle/>
          <a:p>
            <a:pPr algn="l">
              <a:defRPr sz="2000" b="1">
                <a:solidFill>
                  <a:srgbClr val="FFFFFF"/>
                </a:solidFill>
                <a:latin typeface="Calibri"/>
              </a:defRPr>
            </a:pPr>
            <a:r>
              <a:t>AI Example:</a:t>
            </a:r>
          </a:p>
        </p:txBody>
      </p:sp>
      <p:sp>
        <p:nvSpPr>
          <p:cNvPr id="19" name="TextBox 18"/>
          <p:cNvSpPr txBox="1"/>
          <p:nvPr/>
        </p:nvSpPr>
        <p:spPr>
          <a:xfrm>
            <a:off x="1554480" y="5486400"/>
            <a:ext cx="8778240" cy="731520"/>
          </a:xfrm>
          <a:prstGeom prst="rect">
            <a:avLst/>
          </a:prstGeom>
          <a:noFill/>
        </p:spPr>
        <p:txBody>
          <a:bodyPr wrap="square">
            <a:spAutoFit/>
          </a:bodyPr>
          <a:lstStyle/>
          <a:p>
            <a:pPr algn="l">
              <a:defRPr sz="1800" b="0">
                <a:solidFill>
                  <a:srgbClr val="FFFFFF"/>
                </a:solidFill>
                <a:latin typeface="Calibri"/>
              </a:defRPr>
            </a:pPr>
            <a:r>
              <a:t>Imagine an AI financial assistant gives a customer completely incorrect financial information.</a:t>
            </a:r>
            <a:br/>
            <a:r>
              <a:t>Who is responsible? This introduces: AI reliability + validation + governance</a:t>
            </a:r>
          </a:p>
        </p:txBody>
      </p:sp>
      <p:sp>
        <p:nvSpPr>
          <p:cNvPr id="20" name="Rectangle 19"/>
          <p:cNvSpPr/>
          <p:nvPr/>
        </p:nvSpPr>
        <p:spPr>
          <a:xfrm>
            <a:off x="0" y="6675120"/>
            <a:ext cx="12191695" cy="1828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5 — BIRTH OF SOFTWARE ENGINEERING</a:t>
            </a:r>
          </a:p>
        </p:txBody>
      </p:sp>
      <p:sp>
        <p:nvSpPr>
          <p:cNvPr id="5" name="Rounded Rectangle 4"/>
          <p:cNvSpPr/>
          <p:nvPr/>
        </p:nvSpPr>
        <p:spPr>
          <a:xfrm>
            <a:off x="1828800" y="1828800"/>
            <a:ext cx="8229600" cy="32004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2011680"/>
            <a:ext cx="8229600" cy="548640"/>
          </a:xfrm>
          <a:prstGeom prst="rect">
            <a:avLst/>
          </a:prstGeom>
          <a:noFill/>
        </p:spPr>
        <p:txBody>
          <a:bodyPr wrap="square">
            <a:spAutoFit/>
          </a:bodyPr>
          <a:lstStyle/>
          <a:p>
            <a:pPr algn="ctr">
              <a:defRPr sz="3200" b="1">
                <a:solidFill>
                  <a:srgbClr val="FFFFFF"/>
                </a:solidFill>
                <a:latin typeface="Calibri"/>
              </a:defRPr>
            </a:pPr>
            <a:r>
              <a:t>NATO Software Engineering Conference</a:t>
            </a:r>
          </a:p>
        </p:txBody>
      </p:sp>
      <p:sp>
        <p:nvSpPr>
          <p:cNvPr id="7" name="TextBox 6"/>
          <p:cNvSpPr txBox="1"/>
          <p:nvPr/>
        </p:nvSpPr>
        <p:spPr>
          <a:xfrm>
            <a:off x="1828800" y="2743200"/>
            <a:ext cx="8229600" cy="457200"/>
          </a:xfrm>
          <a:prstGeom prst="rect">
            <a:avLst/>
          </a:prstGeom>
          <a:noFill/>
        </p:spPr>
        <p:txBody>
          <a:bodyPr wrap="square">
            <a:spAutoFit/>
          </a:bodyPr>
          <a:lstStyle/>
          <a:p>
            <a:pPr algn="ctr">
              <a:defRPr sz="4800" b="1">
                <a:solidFill>
                  <a:srgbClr val="00B4D8"/>
                </a:solidFill>
                <a:latin typeface="Calibri"/>
              </a:defRPr>
            </a:pPr>
            <a:r>
              <a:t>1968</a:t>
            </a:r>
          </a:p>
        </p:txBody>
      </p:sp>
      <p:sp>
        <p:nvSpPr>
          <p:cNvPr id="8" name="TextBox 7"/>
          <p:cNvSpPr txBox="1"/>
          <p:nvPr/>
        </p:nvSpPr>
        <p:spPr>
          <a:xfrm>
            <a:off x="1828800" y="3657600"/>
            <a:ext cx="8229600" cy="1097280"/>
          </a:xfrm>
          <a:prstGeom prst="rect">
            <a:avLst/>
          </a:prstGeom>
          <a:noFill/>
        </p:spPr>
        <p:txBody>
          <a:bodyPr wrap="square">
            <a:spAutoFit/>
          </a:bodyPr>
          <a:lstStyle/>
          <a:p>
            <a:pPr algn="ctr">
              <a:defRPr sz="2000" b="0">
                <a:solidFill>
                  <a:srgbClr val="FFFFFF"/>
                </a:solidFill>
                <a:latin typeface="Calibri"/>
              </a:defRPr>
            </a:pPr>
            <a:r>
              <a:t>An important milestone in the history of the discipline.</a:t>
            </a:r>
            <a:br/>
            <a:r>
              <a:t>The term Software Engineering became strongly associated with</a:t>
            </a:r>
            <a:br/>
            <a:r>
              <a:t>addressing the problems of large-scale software development.</a:t>
            </a:r>
          </a:p>
        </p:txBody>
      </p:sp>
      <p:sp>
        <p:nvSpPr>
          <p:cNvPr id="9" name="Rectangle 8"/>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Why "Engineering"?</a:t>
            </a:r>
          </a:p>
        </p:txBody>
      </p:sp>
      <p:sp>
        <p:nvSpPr>
          <p:cNvPr id="5" name="Rounded Rectangle 4"/>
          <p:cNvSpPr/>
          <p:nvPr/>
        </p:nvSpPr>
        <p:spPr>
          <a:xfrm>
            <a:off x="5303520" y="1051560"/>
            <a:ext cx="1645920" cy="6400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0" y="1188720"/>
            <a:ext cx="1645920" cy="338554"/>
          </a:xfrm>
          <a:prstGeom prst="rect">
            <a:avLst/>
          </a:prstGeom>
          <a:noFill/>
        </p:spPr>
        <p:txBody>
          <a:bodyPr wrap="square">
            <a:spAutoFit/>
          </a:bodyPr>
          <a:lstStyle/>
          <a:p>
            <a:pPr algn="ctr">
              <a:defRPr sz="1200" b="1">
                <a:solidFill>
                  <a:srgbClr val="FFFFFF"/>
                </a:solidFill>
                <a:latin typeface="Calibri"/>
              </a:defRPr>
            </a:pPr>
            <a:r>
              <a:rPr sz="1600" dirty="0"/>
              <a:t>Planning</a:t>
            </a:r>
          </a:p>
        </p:txBody>
      </p:sp>
      <p:sp>
        <p:nvSpPr>
          <p:cNvPr id="7" name="Rounded Rectangle 6"/>
          <p:cNvSpPr/>
          <p:nvPr/>
        </p:nvSpPr>
        <p:spPr>
          <a:xfrm>
            <a:off x="6919966" y="1721114"/>
            <a:ext cx="1645920" cy="6400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19966" y="1858274"/>
            <a:ext cx="164592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Design</a:t>
            </a:r>
          </a:p>
        </p:txBody>
      </p:sp>
      <p:sp>
        <p:nvSpPr>
          <p:cNvPr id="9" name="Rounded Rectangle 8"/>
          <p:cNvSpPr/>
          <p:nvPr/>
        </p:nvSpPr>
        <p:spPr>
          <a:xfrm>
            <a:off x="7589520" y="3337560"/>
            <a:ext cx="164592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0" y="3474720"/>
            <a:ext cx="164592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Standards</a:t>
            </a:r>
          </a:p>
        </p:txBody>
      </p:sp>
      <p:sp>
        <p:nvSpPr>
          <p:cNvPr id="11" name="Rounded Rectangle 10"/>
          <p:cNvSpPr/>
          <p:nvPr/>
        </p:nvSpPr>
        <p:spPr>
          <a:xfrm>
            <a:off x="6919966" y="4954006"/>
            <a:ext cx="1645920" cy="6400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19966" y="5091166"/>
            <a:ext cx="164592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Measurement</a:t>
            </a:r>
          </a:p>
        </p:txBody>
      </p:sp>
      <p:sp>
        <p:nvSpPr>
          <p:cNvPr id="13" name="Rounded Rectangle 12"/>
          <p:cNvSpPr/>
          <p:nvPr/>
        </p:nvSpPr>
        <p:spPr>
          <a:xfrm>
            <a:off x="5303520" y="5623560"/>
            <a:ext cx="1645920" cy="6400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3520" y="5760720"/>
            <a:ext cx="164592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Verification</a:t>
            </a:r>
          </a:p>
        </p:txBody>
      </p:sp>
      <p:sp>
        <p:nvSpPr>
          <p:cNvPr id="15" name="Rounded Rectangle 14"/>
          <p:cNvSpPr/>
          <p:nvPr/>
        </p:nvSpPr>
        <p:spPr>
          <a:xfrm>
            <a:off x="3687074" y="4954006"/>
            <a:ext cx="1645920" cy="6400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87074" y="5091166"/>
            <a:ext cx="164592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Quality</a:t>
            </a:r>
          </a:p>
        </p:txBody>
      </p:sp>
      <p:sp>
        <p:nvSpPr>
          <p:cNvPr id="17" name="Rounded Rectangle 16"/>
          <p:cNvSpPr/>
          <p:nvPr/>
        </p:nvSpPr>
        <p:spPr>
          <a:xfrm>
            <a:off x="3017520" y="3337560"/>
            <a:ext cx="1645920" cy="64008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017520" y="3474720"/>
            <a:ext cx="1645920" cy="584775"/>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Risk</a:t>
            </a:r>
            <a:r>
              <a:rPr dirty="0"/>
              <a:t> </a:t>
            </a:r>
            <a:r>
              <a:rPr sz="1600" b="1" dirty="0">
                <a:solidFill>
                  <a:srgbClr val="FFFFFF"/>
                </a:solidFill>
                <a:latin typeface="Calibri"/>
              </a:rPr>
              <a:t>Management</a:t>
            </a:r>
          </a:p>
        </p:txBody>
      </p:sp>
      <p:sp>
        <p:nvSpPr>
          <p:cNvPr id="19" name="Rounded Rectangle 18"/>
          <p:cNvSpPr/>
          <p:nvPr/>
        </p:nvSpPr>
        <p:spPr>
          <a:xfrm>
            <a:off x="3687074" y="1721114"/>
            <a:ext cx="1645920" cy="640080"/>
          </a:xfrm>
          <a:prstGeom prst="roundRect">
            <a:avLst>
              <a:gd name="adj" fmla="val 10000"/>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87074" y="1858274"/>
            <a:ext cx="1645920" cy="338554"/>
          </a:xfrm>
          <a:prstGeom prst="rect">
            <a:avLst/>
          </a:prstGeom>
          <a:noFill/>
        </p:spPr>
        <p:txBody>
          <a:bodyPr wrap="square">
            <a:spAutoFit/>
          </a:bodyPr>
          <a:lstStyle/>
          <a:p>
            <a:pPr algn="ctr">
              <a:defRPr sz="1200" b="1">
                <a:solidFill>
                  <a:srgbClr val="FFFFFF"/>
                </a:solidFill>
                <a:latin typeface="Calibri"/>
              </a:defRPr>
            </a:pPr>
            <a:r>
              <a:rPr sz="1600" b="1" dirty="0">
                <a:solidFill>
                  <a:srgbClr val="FFFFFF"/>
                </a:solidFill>
                <a:latin typeface="Calibri"/>
              </a:rPr>
              <a:t>Maintenance</a:t>
            </a:r>
          </a:p>
        </p:txBody>
      </p:sp>
      <p:sp>
        <p:nvSpPr>
          <p:cNvPr id="21" name="Oval 20"/>
          <p:cNvSpPr/>
          <p:nvPr/>
        </p:nvSpPr>
        <p:spPr>
          <a:xfrm>
            <a:off x="5394960" y="3017520"/>
            <a:ext cx="1280160" cy="1280160"/>
          </a:xfrm>
          <a:prstGeom prst="ellipse">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94960" y="3337560"/>
            <a:ext cx="1280160" cy="640080"/>
          </a:xfrm>
          <a:prstGeom prst="rect">
            <a:avLst/>
          </a:prstGeom>
          <a:noFill/>
        </p:spPr>
        <p:txBody>
          <a:bodyPr wrap="none">
            <a:spAutoFit/>
          </a:bodyPr>
          <a:lstStyle/>
          <a:p>
            <a:pPr algn="ctr">
              <a:defRPr sz="2400" b="1">
                <a:solidFill>
                  <a:srgbClr val="FFFFFF"/>
                </a:solidFill>
              </a:defRPr>
            </a:pPr>
            <a:r>
              <a:t>SE</a:t>
            </a:r>
          </a:p>
        </p:txBody>
      </p:sp>
      <p:sp>
        <p:nvSpPr>
          <p:cNvPr id="23" name="TextBox 22"/>
          <p:cNvSpPr txBox="1"/>
          <p:nvPr/>
        </p:nvSpPr>
        <p:spPr>
          <a:xfrm>
            <a:off x="1828800" y="6228880"/>
            <a:ext cx="8229600" cy="457200"/>
          </a:xfrm>
          <a:prstGeom prst="rect">
            <a:avLst/>
          </a:prstGeom>
          <a:noFill/>
        </p:spPr>
        <p:txBody>
          <a:bodyPr wrap="square">
            <a:spAutoFit/>
          </a:bodyPr>
          <a:lstStyle/>
          <a:p>
            <a:pPr algn="ctr">
              <a:defRPr sz="2200" b="1">
                <a:solidFill>
                  <a:srgbClr val="1A3A5C"/>
                </a:solidFill>
                <a:latin typeface="Calibri"/>
              </a:defRPr>
            </a:pPr>
            <a:r>
              <a:rPr dirty="0"/>
              <a:t>Software development also needs these principles.</a:t>
            </a:r>
          </a:p>
        </p:txBody>
      </p:sp>
      <p:sp>
        <p:nvSpPr>
          <p:cNvPr id="24" name="Rectangle 23"/>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Programming vs Engineering</a:t>
            </a:r>
          </a:p>
        </p:txBody>
      </p:sp>
      <p:sp>
        <p:nvSpPr>
          <p:cNvPr id="5" name="Rounded Rectangle 4"/>
          <p:cNvSpPr/>
          <p:nvPr/>
        </p:nvSpPr>
        <p:spPr>
          <a:xfrm>
            <a:off x="731520" y="1645920"/>
            <a:ext cx="5029200" cy="41148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737360"/>
            <a:ext cx="5029200" cy="457200"/>
          </a:xfrm>
          <a:prstGeom prst="rect">
            <a:avLst/>
          </a:prstGeom>
          <a:noFill/>
        </p:spPr>
        <p:txBody>
          <a:bodyPr wrap="square">
            <a:spAutoFit/>
          </a:bodyPr>
          <a:lstStyle/>
          <a:p>
            <a:pPr algn="ctr">
              <a:defRPr sz="2800" b="1">
                <a:solidFill>
                  <a:srgbClr val="FFFFFF"/>
                </a:solidFill>
                <a:latin typeface="Calibri"/>
              </a:defRPr>
            </a:pPr>
            <a:r>
              <a:t>PROGRAMMING</a:t>
            </a:r>
          </a:p>
        </p:txBody>
      </p:sp>
      <p:sp>
        <p:nvSpPr>
          <p:cNvPr id="7" name="TextBox 6"/>
          <p:cNvSpPr txBox="1"/>
          <p:nvPr/>
        </p:nvSpPr>
        <p:spPr>
          <a:xfrm>
            <a:off x="1188720" y="2560320"/>
            <a:ext cx="4114800" cy="1828800"/>
          </a:xfrm>
          <a:prstGeom prst="rect">
            <a:avLst/>
          </a:prstGeom>
          <a:noFill/>
        </p:spPr>
        <p:txBody>
          <a:bodyPr wrap="square">
            <a:spAutoFit/>
          </a:bodyPr>
          <a:lstStyle/>
          <a:p>
            <a:pPr algn="ctr">
              <a:defRPr sz="2200" b="0">
                <a:solidFill>
                  <a:srgbClr val="FFFFFF"/>
                </a:solidFill>
                <a:latin typeface="Calibri"/>
              </a:defRPr>
            </a:pPr>
            <a:r>
              <a:t>"How do I write this code?"</a:t>
            </a:r>
          </a:p>
        </p:txBody>
      </p:sp>
      <p:sp>
        <p:nvSpPr>
          <p:cNvPr id="8" name="Rounded Rectangle 7"/>
          <p:cNvSpPr/>
          <p:nvPr/>
        </p:nvSpPr>
        <p:spPr>
          <a:xfrm>
            <a:off x="6400800" y="1645920"/>
            <a:ext cx="5029200" cy="41148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5029200" cy="457200"/>
          </a:xfrm>
          <a:prstGeom prst="rect">
            <a:avLst/>
          </a:prstGeom>
          <a:noFill/>
        </p:spPr>
        <p:txBody>
          <a:bodyPr wrap="square">
            <a:spAutoFit/>
          </a:bodyPr>
          <a:lstStyle/>
          <a:p>
            <a:pPr algn="ctr">
              <a:defRPr sz="2800" b="1">
                <a:solidFill>
                  <a:srgbClr val="FFFFFF"/>
                </a:solidFill>
                <a:latin typeface="Calibri"/>
              </a:defRPr>
            </a:pPr>
            <a:r>
              <a:t>SOFTWARE ENGINEERING</a:t>
            </a:r>
          </a:p>
        </p:txBody>
      </p:sp>
      <p:sp>
        <p:nvSpPr>
          <p:cNvPr id="10" name="TextBox 9"/>
          <p:cNvSpPr txBox="1"/>
          <p:nvPr/>
        </p:nvSpPr>
        <p:spPr>
          <a:xfrm>
            <a:off x="6858000" y="2560320"/>
            <a:ext cx="4114800" cy="1785104"/>
          </a:xfrm>
          <a:prstGeom prst="rect">
            <a:avLst/>
          </a:prstGeom>
          <a:noFill/>
        </p:spPr>
        <p:txBody>
          <a:bodyPr wrap="square">
            <a:spAutoFit/>
          </a:bodyPr>
          <a:lstStyle/>
          <a:p>
            <a:pPr algn="ctr">
              <a:defRPr sz="2200" b="0">
                <a:solidFill>
                  <a:srgbClr val="FFFFFF"/>
                </a:solidFill>
                <a:latin typeface="Calibri"/>
              </a:defRPr>
            </a:pPr>
            <a:r>
              <a:rPr dirty="0"/>
              <a:t>"How do we build and maintain this complete system successfully?"</a:t>
            </a:r>
            <a:br>
              <a:rPr lang="en-US" dirty="0"/>
            </a:br>
            <a:br>
              <a:rPr lang="en-US" dirty="0"/>
            </a:br>
            <a:r>
              <a:rPr lang="en-US" dirty="0"/>
              <a:t>A systematic  Way</a:t>
            </a:r>
            <a:endParaRPr dirty="0"/>
          </a:p>
        </p:txBody>
      </p:sp>
      <p:sp>
        <p:nvSpPr>
          <p:cNvPr id="11" name="Rectangle 10"/>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The Main Definition</a:t>
            </a:r>
          </a:p>
        </p:txBody>
      </p:sp>
      <p:sp>
        <p:nvSpPr>
          <p:cNvPr id="5" name="Rounded Rectangle 4"/>
          <p:cNvSpPr/>
          <p:nvPr/>
        </p:nvSpPr>
        <p:spPr>
          <a:xfrm>
            <a:off x="914400" y="1828800"/>
            <a:ext cx="10058400" cy="36576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11680"/>
            <a:ext cx="10058400" cy="548640"/>
          </a:xfrm>
          <a:prstGeom prst="rect">
            <a:avLst/>
          </a:prstGeom>
          <a:noFill/>
        </p:spPr>
        <p:txBody>
          <a:bodyPr wrap="square">
            <a:spAutoFit/>
          </a:bodyPr>
          <a:lstStyle/>
          <a:p>
            <a:pPr algn="ctr">
              <a:defRPr sz="3200" b="1">
                <a:solidFill>
                  <a:srgbClr val="00B4D8"/>
                </a:solidFill>
                <a:latin typeface="Calibri"/>
              </a:defRPr>
            </a:pPr>
            <a:r>
              <a:t>Software Engineering</a:t>
            </a:r>
          </a:p>
        </p:txBody>
      </p:sp>
      <p:sp>
        <p:nvSpPr>
          <p:cNvPr id="7" name="TextBox 6"/>
          <p:cNvSpPr txBox="1"/>
          <p:nvPr/>
        </p:nvSpPr>
        <p:spPr>
          <a:xfrm>
            <a:off x="1371600" y="2926080"/>
            <a:ext cx="9144000" cy="2286000"/>
          </a:xfrm>
          <a:prstGeom prst="rect">
            <a:avLst/>
          </a:prstGeom>
          <a:noFill/>
        </p:spPr>
        <p:txBody>
          <a:bodyPr wrap="square">
            <a:spAutoFit/>
          </a:bodyPr>
          <a:lstStyle/>
          <a:p>
            <a:pPr algn="ctr">
              <a:defRPr sz="2200" b="0">
                <a:solidFill>
                  <a:srgbClr val="FFFFFF"/>
                </a:solidFill>
                <a:latin typeface="Calibri"/>
              </a:defRPr>
            </a:pPr>
            <a:r>
              <a:t>Software engineering is the application of systematic, disciplined, and measurable approaches to the development, operation, maintenance, and evolution of software.</a:t>
            </a:r>
          </a:p>
        </p:txBody>
      </p:sp>
      <p:sp>
        <p:nvSpPr>
          <p:cNvPr id="8" name="TextBox 7"/>
          <p:cNvSpPr txBox="1"/>
          <p:nvPr/>
        </p:nvSpPr>
        <p:spPr>
          <a:xfrm>
            <a:off x="914400" y="5669280"/>
            <a:ext cx="10058400" cy="457200"/>
          </a:xfrm>
          <a:prstGeom prst="rect">
            <a:avLst/>
          </a:prstGeom>
          <a:noFill/>
        </p:spPr>
        <p:txBody>
          <a:bodyPr wrap="square">
            <a:spAutoFit/>
          </a:bodyPr>
          <a:lstStyle/>
          <a:p>
            <a:pPr algn="ctr">
              <a:defRPr sz="1600" b="0">
                <a:solidFill>
                  <a:srgbClr val="6B7280"/>
                </a:solidFill>
                <a:latin typeface="Calibri"/>
              </a:defRPr>
            </a:pPr>
            <a:r>
              <a:t>Students should understand this rather than simply memorize it.</a:t>
            </a:r>
          </a:p>
        </p:txBody>
      </p:sp>
      <p:sp>
        <p:nvSpPr>
          <p:cNvPr id="9" name="Rectangle 8"/>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6 — SOFTWARE DEVELOPMENT PROCESS</a:t>
            </a:r>
          </a:p>
        </p:txBody>
      </p:sp>
      <p:sp>
        <p:nvSpPr>
          <p:cNvPr id="5" name="Rounded Rectangle 4"/>
          <p:cNvSpPr/>
          <p:nvPr/>
        </p:nvSpPr>
        <p:spPr>
          <a:xfrm>
            <a:off x="457200" y="3200400"/>
            <a:ext cx="1463040" cy="9144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3200400"/>
            <a:ext cx="1463040" cy="707886"/>
          </a:xfrm>
          <a:prstGeom prst="rect">
            <a:avLst/>
          </a:prstGeom>
          <a:noFill/>
        </p:spPr>
        <p:txBody>
          <a:bodyPr wrap="square">
            <a:spAutoFit/>
          </a:bodyPr>
          <a:lstStyle/>
          <a:p>
            <a:pPr algn="ctr">
              <a:defRPr sz="1600" b="1">
                <a:solidFill>
                  <a:srgbClr val="FFFFFF"/>
                </a:solidFill>
                <a:latin typeface="Calibri"/>
              </a:defRPr>
            </a:pPr>
            <a:r>
              <a:rPr sz="2000" dirty="0"/>
              <a:t>Requirements</a:t>
            </a:r>
          </a:p>
        </p:txBody>
      </p:sp>
      <p:sp>
        <p:nvSpPr>
          <p:cNvPr id="7" name="Right Arrow 6"/>
          <p:cNvSpPr/>
          <p:nvPr/>
        </p:nvSpPr>
        <p:spPr>
          <a:xfrm>
            <a:off x="1920240"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057400" y="3200400"/>
            <a:ext cx="1463040" cy="9144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57400" y="3200400"/>
            <a:ext cx="1463040" cy="400110"/>
          </a:xfrm>
          <a:prstGeom prst="rect">
            <a:avLst/>
          </a:prstGeom>
          <a:noFill/>
        </p:spPr>
        <p:txBody>
          <a:bodyPr wrap="square">
            <a:spAutoFit/>
          </a:bodyPr>
          <a:lstStyle/>
          <a:p>
            <a:pPr algn="ctr">
              <a:defRPr sz="1600" b="1">
                <a:solidFill>
                  <a:srgbClr val="FFFFFF"/>
                </a:solidFill>
                <a:latin typeface="Calibri"/>
              </a:defRPr>
            </a:pPr>
            <a:r>
              <a:rPr sz="2000" b="1" dirty="0">
                <a:solidFill>
                  <a:srgbClr val="FFFFFF"/>
                </a:solidFill>
                <a:latin typeface="Calibri"/>
              </a:rPr>
              <a:t>Planning</a:t>
            </a:r>
          </a:p>
        </p:txBody>
      </p:sp>
      <p:sp>
        <p:nvSpPr>
          <p:cNvPr id="10" name="Right Arrow 9"/>
          <p:cNvSpPr/>
          <p:nvPr/>
        </p:nvSpPr>
        <p:spPr>
          <a:xfrm>
            <a:off x="3520440"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57600" y="3200400"/>
            <a:ext cx="1463040" cy="9144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3200400"/>
            <a:ext cx="1463040" cy="400110"/>
          </a:xfrm>
          <a:prstGeom prst="rect">
            <a:avLst/>
          </a:prstGeom>
          <a:noFill/>
        </p:spPr>
        <p:txBody>
          <a:bodyPr wrap="square">
            <a:spAutoFit/>
          </a:bodyPr>
          <a:lstStyle/>
          <a:p>
            <a:pPr algn="ctr">
              <a:defRPr sz="1600" b="1">
                <a:solidFill>
                  <a:srgbClr val="FFFFFF"/>
                </a:solidFill>
                <a:latin typeface="Calibri"/>
              </a:defRPr>
            </a:pPr>
            <a:r>
              <a:rPr sz="2000" b="1" dirty="0">
                <a:solidFill>
                  <a:srgbClr val="FFFFFF"/>
                </a:solidFill>
                <a:latin typeface="Calibri"/>
              </a:rPr>
              <a:t>Design</a:t>
            </a:r>
          </a:p>
        </p:txBody>
      </p:sp>
      <p:sp>
        <p:nvSpPr>
          <p:cNvPr id="13" name="Right Arrow 12"/>
          <p:cNvSpPr/>
          <p:nvPr/>
        </p:nvSpPr>
        <p:spPr>
          <a:xfrm>
            <a:off x="5120640"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257800" y="3200400"/>
            <a:ext cx="1463040" cy="9144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57800" y="3200400"/>
            <a:ext cx="1463040" cy="707886"/>
          </a:xfrm>
          <a:prstGeom prst="rect">
            <a:avLst/>
          </a:prstGeom>
          <a:noFill/>
        </p:spPr>
        <p:txBody>
          <a:bodyPr wrap="square">
            <a:spAutoFit/>
          </a:bodyPr>
          <a:lstStyle/>
          <a:p>
            <a:pPr algn="ctr">
              <a:defRPr sz="1600" b="1">
                <a:solidFill>
                  <a:srgbClr val="FFFFFF"/>
                </a:solidFill>
                <a:latin typeface="Calibri"/>
              </a:defRPr>
            </a:pPr>
            <a:r>
              <a:rPr sz="2000" b="1" dirty="0">
                <a:solidFill>
                  <a:srgbClr val="FFFFFF"/>
                </a:solidFill>
                <a:latin typeface="Calibri"/>
              </a:rPr>
              <a:t>Implementation</a:t>
            </a:r>
          </a:p>
        </p:txBody>
      </p:sp>
      <p:sp>
        <p:nvSpPr>
          <p:cNvPr id="16" name="Right Arrow 15"/>
          <p:cNvSpPr/>
          <p:nvPr/>
        </p:nvSpPr>
        <p:spPr>
          <a:xfrm>
            <a:off x="6720840"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858000" y="3200400"/>
            <a:ext cx="1463040" cy="9144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0" y="3200400"/>
            <a:ext cx="1463040" cy="400110"/>
          </a:xfrm>
          <a:prstGeom prst="rect">
            <a:avLst/>
          </a:prstGeom>
          <a:noFill/>
        </p:spPr>
        <p:txBody>
          <a:bodyPr wrap="square">
            <a:spAutoFit/>
          </a:bodyPr>
          <a:lstStyle/>
          <a:p>
            <a:pPr algn="ctr">
              <a:defRPr sz="1600" b="1">
                <a:solidFill>
                  <a:srgbClr val="FFFFFF"/>
                </a:solidFill>
                <a:latin typeface="Calibri"/>
              </a:defRPr>
            </a:pPr>
            <a:r>
              <a:rPr sz="2000" b="1" dirty="0">
                <a:solidFill>
                  <a:srgbClr val="FFFFFF"/>
                </a:solidFill>
                <a:latin typeface="Calibri"/>
              </a:rPr>
              <a:t>Testing</a:t>
            </a:r>
          </a:p>
        </p:txBody>
      </p:sp>
      <p:sp>
        <p:nvSpPr>
          <p:cNvPr id="19" name="Right Arrow 18"/>
          <p:cNvSpPr/>
          <p:nvPr/>
        </p:nvSpPr>
        <p:spPr>
          <a:xfrm>
            <a:off x="8321040"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458200" y="3200400"/>
            <a:ext cx="1463040" cy="9144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58200" y="3200400"/>
            <a:ext cx="1463040" cy="707886"/>
          </a:xfrm>
          <a:prstGeom prst="rect">
            <a:avLst/>
          </a:prstGeom>
          <a:noFill/>
        </p:spPr>
        <p:txBody>
          <a:bodyPr wrap="square">
            <a:spAutoFit/>
          </a:bodyPr>
          <a:lstStyle/>
          <a:p>
            <a:pPr algn="ctr">
              <a:defRPr sz="1600" b="1">
                <a:solidFill>
                  <a:srgbClr val="FFFFFF"/>
                </a:solidFill>
                <a:latin typeface="Calibri"/>
              </a:defRPr>
            </a:pPr>
            <a:r>
              <a:rPr sz="2000" b="1" dirty="0">
                <a:solidFill>
                  <a:srgbClr val="FFFFFF"/>
                </a:solidFill>
                <a:latin typeface="Calibri"/>
              </a:rPr>
              <a:t>Deployment</a:t>
            </a:r>
          </a:p>
        </p:txBody>
      </p:sp>
      <p:sp>
        <p:nvSpPr>
          <p:cNvPr id="22" name="Right Arrow 21"/>
          <p:cNvSpPr/>
          <p:nvPr/>
        </p:nvSpPr>
        <p:spPr>
          <a:xfrm>
            <a:off x="9921240"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058400" y="3200400"/>
            <a:ext cx="1463040" cy="91440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0" y="3200400"/>
            <a:ext cx="1463040" cy="707886"/>
          </a:xfrm>
          <a:prstGeom prst="rect">
            <a:avLst/>
          </a:prstGeom>
          <a:noFill/>
        </p:spPr>
        <p:txBody>
          <a:bodyPr wrap="square">
            <a:spAutoFit/>
          </a:bodyPr>
          <a:lstStyle/>
          <a:p>
            <a:pPr algn="ctr">
              <a:defRPr sz="1600" b="1">
                <a:solidFill>
                  <a:srgbClr val="FFFFFF"/>
                </a:solidFill>
                <a:latin typeface="Calibri"/>
              </a:defRPr>
            </a:pPr>
            <a:r>
              <a:rPr sz="2000" b="1" dirty="0">
                <a:solidFill>
                  <a:srgbClr val="FFFFFF"/>
                </a:solidFill>
                <a:latin typeface="Calibri"/>
              </a:rPr>
              <a:t>Maintenance</a:t>
            </a:r>
          </a:p>
        </p:txBody>
      </p:sp>
      <p:sp>
        <p:nvSpPr>
          <p:cNvPr id="25" name="TextBox 24"/>
          <p:cNvSpPr txBox="1"/>
          <p:nvPr/>
        </p:nvSpPr>
        <p:spPr>
          <a:xfrm>
            <a:off x="914400" y="5943600"/>
            <a:ext cx="10058400" cy="457200"/>
          </a:xfrm>
          <a:prstGeom prst="rect">
            <a:avLst/>
          </a:prstGeom>
          <a:noFill/>
        </p:spPr>
        <p:txBody>
          <a:bodyPr wrap="square">
            <a:spAutoFit/>
          </a:bodyPr>
          <a:lstStyle/>
          <a:p>
            <a:pPr algn="ctr">
              <a:defRPr sz="2400" b="1">
                <a:solidFill>
                  <a:srgbClr val="1A3A5C"/>
                </a:solidFill>
                <a:latin typeface="Calibri"/>
              </a:defRPr>
            </a:pPr>
            <a:r>
              <a:t>Basic Software Development Lifecycle</a:t>
            </a:r>
          </a:p>
        </p:txBody>
      </p:sp>
      <p:sp>
        <p:nvSpPr>
          <p:cNvPr id="26" name="Rectangle 25"/>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Requirements</a:t>
            </a:r>
          </a:p>
        </p:txBody>
      </p:sp>
      <p:sp>
        <p:nvSpPr>
          <p:cNvPr id="5" name="TextBox 4"/>
          <p:cNvSpPr txBox="1"/>
          <p:nvPr/>
        </p:nvSpPr>
        <p:spPr>
          <a:xfrm>
            <a:off x="914400" y="1371600"/>
            <a:ext cx="10058400" cy="548640"/>
          </a:xfrm>
          <a:prstGeom prst="rect">
            <a:avLst/>
          </a:prstGeom>
          <a:noFill/>
        </p:spPr>
        <p:txBody>
          <a:bodyPr wrap="square">
            <a:spAutoFit/>
          </a:bodyPr>
          <a:lstStyle/>
          <a:p>
            <a:pPr algn="ctr">
              <a:defRPr sz="2800" b="1">
                <a:solidFill>
                  <a:srgbClr val="1A3A5C"/>
                </a:solidFill>
                <a:latin typeface="Calibri"/>
              </a:defRPr>
            </a:pPr>
            <a:r>
              <a:t>Question: What should the system do?</a:t>
            </a:r>
          </a:p>
        </p:txBody>
      </p:sp>
      <p:sp>
        <p:nvSpPr>
          <p:cNvPr id="6" name="Rounded Rectangle 5"/>
          <p:cNvSpPr/>
          <p:nvPr/>
        </p:nvSpPr>
        <p:spPr>
          <a:xfrm>
            <a:off x="1828800" y="2286000"/>
            <a:ext cx="8229600" cy="365760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2377440"/>
            <a:ext cx="7863840" cy="457200"/>
          </a:xfrm>
          <a:prstGeom prst="rect">
            <a:avLst/>
          </a:prstGeom>
          <a:noFill/>
        </p:spPr>
        <p:txBody>
          <a:bodyPr wrap="square">
            <a:spAutoFit/>
          </a:bodyPr>
          <a:lstStyle/>
          <a:p>
            <a:pPr algn="l">
              <a:defRPr sz="2400" b="1">
                <a:solidFill>
                  <a:srgbClr val="1A3A5C"/>
                </a:solidFill>
                <a:latin typeface="Calibri"/>
              </a:defRPr>
            </a:pPr>
            <a:r>
              <a:t>University System Example:</a:t>
            </a:r>
          </a:p>
        </p:txBody>
      </p:sp>
      <p:sp>
        <p:nvSpPr>
          <p:cNvPr id="8" name="Rounded Rectangle 7"/>
          <p:cNvSpPr/>
          <p:nvPr/>
        </p:nvSpPr>
        <p:spPr>
          <a:xfrm>
            <a:off x="2286000" y="3017520"/>
            <a:ext cx="6400800" cy="59436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68880" y="3063240"/>
            <a:ext cx="6035040" cy="502920"/>
          </a:xfrm>
          <a:prstGeom prst="rect">
            <a:avLst/>
          </a:prstGeom>
          <a:noFill/>
        </p:spPr>
        <p:txBody>
          <a:bodyPr wrap="square">
            <a:spAutoFit/>
          </a:bodyPr>
          <a:lstStyle/>
          <a:p>
            <a:pPr algn="l">
              <a:defRPr sz="2000" b="0">
                <a:solidFill>
                  <a:srgbClr val="FFFFFF"/>
                </a:solidFill>
                <a:latin typeface="Calibri"/>
              </a:defRPr>
            </a:pPr>
            <a:r>
              <a:t>• Registration</a:t>
            </a:r>
          </a:p>
        </p:txBody>
      </p:sp>
      <p:sp>
        <p:nvSpPr>
          <p:cNvPr id="10" name="Rounded Rectangle 9"/>
          <p:cNvSpPr/>
          <p:nvPr/>
        </p:nvSpPr>
        <p:spPr>
          <a:xfrm>
            <a:off x="2286000" y="3749039"/>
            <a:ext cx="6400800" cy="59436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68880" y="3794760"/>
            <a:ext cx="6035040" cy="502920"/>
          </a:xfrm>
          <a:prstGeom prst="rect">
            <a:avLst/>
          </a:prstGeom>
          <a:noFill/>
        </p:spPr>
        <p:txBody>
          <a:bodyPr wrap="square">
            <a:spAutoFit/>
          </a:bodyPr>
          <a:lstStyle/>
          <a:p>
            <a:pPr algn="l">
              <a:defRPr sz="2000" b="0">
                <a:solidFill>
                  <a:srgbClr val="FFFFFF"/>
                </a:solidFill>
                <a:latin typeface="Calibri"/>
              </a:defRPr>
            </a:pPr>
            <a:r>
              <a:t>• Attendance</a:t>
            </a:r>
          </a:p>
        </p:txBody>
      </p:sp>
      <p:sp>
        <p:nvSpPr>
          <p:cNvPr id="12" name="Rounded Rectangle 11"/>
          <p:cNvSpPr/>
          <p:nvPr/>
        </p:nvSpPr>
        <p:spPr>
          <a:xfrm>
            <a:off x="2286000" y="4480560"/>
            <a:ext cx="6400800" cy="59436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68880" y="4526280"/>
            <a:ext cx="6035040" cy="502920"/>
          </a:xfrm>
          <a:prstGeom prst="rect">
            <a:avLst/>
          </a:prstGeom>
          <a:noFill/>
        </p:spPr>
        <p:txBody>
          <a:bodyPr wrap="square">
            <a:spAutoFit/>
          </a:bodyPr>
          <a:lstStyle/>
          <a:p>
            <a:pPr algn="l">
              <a:defRPr sz="2000" b="0">
                <a:solidFill>
                  <a:srgbClr val="FFFFFF"/>
                </a:solidFill>
                <a:latin typeface="Calibri"/>
              </a:defRPr>
            </a:pPr>
            <a:r>
              <a:t>• Results</a:t>
            </a:r>
          </a:p>
        </p:txBody>
      </p:sp>
      <p:sp>
        <p:nvSpPr>
          <p:cNvPr id="14" name="Rounded Rectangle 13"/>
          <p:cNvSpPr/>
          <p:nvPr/>
        </p:nvSpPr>
        <p:spPr>
          <a:xfrm>
            <a:off x="2286000" y="5212080"/>
            <a:ext cx="6400800" cy="59436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68880" y="5257800"/>
            <a:ext cx="6035040" cy="502920"/>
          </a:xfrm>
          <a:prstGeom prst="rect">
            <a:avLst/>
          </a:prstGeom>
          <a:noFill/>
        </p:spPr>
        <p:txBody>
          <a:bodyPr wrap="square">
            <a:spAutoFit/>
          </a:bodyPr>
          <a:lstStyle/>
          <a:p>
            <a:pPr algn="l">
              <a:defRPr sz="2000" b="0">
                <a:solidFill>
                  <a:srgbClr val="FFFFFF"/>
                </a:solidFill>
                <a:latin typeface="Calibri"/>
              </a:defRPr>
            </a:pPr>
            <a:r>
              <a:t>• Timetable</a:t>
            </a:r>
          </a:p>
        </p:txBody>
      </p:sp>
      <p:sp>
        <p:nvSpPr>
          <p:cNvPr id="16" name="Rectangle 15"/>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Design</a:t>
            </a:r>
          </a:p>
        </p:txBody>
      </p:sp>
      <p:sp>
        <p:nvSpPr>
          <p:cNvPr id="5" name="TextBox 4"/>
          <p:cNvSpPr txBox="1"/>
          <p:nvPr/>
        </p:nvSpPr>
        <p:spPr>
          <a:xfrm>
            <a:off x="914400" y="1371600"/>
            <a:ext cx="10058400" cy="548640"/>
          </a:xfrm>
          <a:prstGeom prst="rect">
            <a:avLst/>
          </a:prstGeom>
          <a:noFill/>
        </p:spPr>
        <p:txBody>
          <a:bodyPr wrap="square">
            <a:spAutoFit/>
          </a:bodyPr>
          <a:lstStyle/>
          <a:p>
            <a:pPr algn="ctr">
              <a:defRPr sz="2800" b="1">
                <a:solidFill>
                  <a:srgbClr val="1A3A5C"/>
                </a:solidFill>
                <a:latin typeface="Calibri"/>
              </a:defRPr>
            </a:pPr>
            <a:r>
              <a:t>Question: How will the system work?</a:t>
            </a:r>
          </a:p>
        </p:txBody>
      </p:sp>
      <p:sp>
        <p:nvSpPr>
          <p:cNvPr id="6" name="Rounded Rectangle 5"/>
          <p:cNvSpPr/>
          <p:nvPr/>
        </p:nvSpPr>
        <p:spPr>
          <a:xfrm>
            <a:off x="914400" y="2286000"/>
            <a:ext cx="3017520" cy="164592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834640"/>
            <a:ext cx="3017520" cy="457200"/>
          </a:xfrm>
          <a:prstGeom prst="rect">
            <a:avLst/>
          </a:prstGeom>
          <a:noFill/>
        </p:spPr>
        <p:txBody>
          <a:bodyPr wrap="square">
            <a:spAutoFit/>
          </a:bodyPr>
          <a:lstStyle/>
          <a:p>
            <a:pPr algn="ctr">
              <a:defRPr sz="2200" b="1">
                <a:solidFill>
                  <a:srgbClr val="FFFFFF"/>
                </a:solidFill>
                <a:latin typeface="Calibri"/>
              </a:defRPr>
            </a:pPr>
            <a:r>
              <a:t>Architecture</a:t>
            </a:r>
          </a:p>
        </p:txBody>
      </p:sp>
      <p:sp>
        <p:nvSpPr>
          <p:cNvPr id="8" name="Rounded Rectangle 7"/>
          <p:cNvSpPr/>
          <p:nvPr/>
        </p:nvSpPr>
        <p:spPr>
          <a:xfrm>
            <a:off x="4389120" y="2286000"/>
            <a:ext cx="3017520" cy="16459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0" y="2834640"/>
            <a:ext cx="3017520" cy="457200"/>
          </a:xfrm>
          <a:prstGeom prst="rect">
            <a:avLst/>
          </a:prstGeom>
          <a:noFill/>
        </p:spPr>
        <p:txBody>
          <a:bodyPr wrap="square">
            <a:spAutoFit/>
          </a:bodyPr>
          <a:lstStyle/>
          <a:p>
            <a:pPr algn="ctr">
              <a:defRPr sz="2200" b="1">
                <a:solidFill>
                  <a:srgbClr val="FFFFFF"/>
                </a:solidFill>
                <a:latin typeface="Calibri"/>
              </a:defRPr>
            </a:pPr>
            <a:r>
              <a:t>Database</a:t>
            </a:r>
          </a:p>
        </p:txBody>
      </p:sp>
      <p:sp>
        <p:nvSpPr>
          <p:cNvPr id="10" name="Rounded Rectangle 9"/>
          <p:cNvSpPr/>
          <p:nvPr/>
        </p:nvSpPr>
        <p:spPr>
          <a:xfrm>
            <a:off x="7863840" y="2286000"/>
            <a:ext cx="3017520" cy="16459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0" y="2834640"/>
            <a:ext cx="3017520" cy="457200"/>
          </a:xfrm>
          <a:prstGeom prst="rect">
            <a:avLst/>
          </a:prstGeom>
          <a:noFill/>
        </p:spPr>
        <p:txBody>
          <a:bodyPr wrap="square">
            <a:spAutoFit/>
          </a:bodyPr>
          <a:lstStyle/>
          <a:p>
            <a:pPr algn="ctr">
              <a:defRPr sz="2200" b="1">
                <a:solidFill>
                  <a:srgbClr val="FFFFFF"/>
                </a:solidFill>
                <a:latin typeface="Calibri"/>
              </a:defRPr>
            </a:pPr>
            <a:r>
              <a:t>APIs</a:t>
            </a:r>
          </a:p>
        </p:txBody>
      </p:sp>
      <p:sp>
        <p:nvSpPr>
          <p:cNvPr id="12" name="Rounded Rectangle 11"/>
          <p:cNvSpPr/>
          <p:nvPr/>
        </p:nvSpPr>
        <p:spPr>
          <a:xfrm>
            <a:off x="914400" y="4297680"/>
            <a:ext cx="3017520" cy="16459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846320"/>
            <a:ext cx="3017520" cy="457200"/>
          </a:xfrm>
          <a:prstGeom prst="rect">
            <a:avLst/>
          </a:prstGeom>
          <a:noFill/>
        </p:spPr>
        <p:txBody>
          <a:bodyPr wrap="square">
            <a:spAutoFit/>
          </a:bodyPr>
          <a:lstStyle/>
          <a:p>
            <a:pPr algn="ctr">
              <a:defRPr sz="2200" b="1">
                <a:solidFill>
                  <a:srgbClr val="FFFFFF"/>
                </a:solidFill>
                <a:latin typeface="Calibri"/>
              </a:defRPr>
            </a:pPr>
            <a:r>
              <a:t>Components</a:t>
            </a:r>
          </a:p>
        </p:txBody>
      </p:sp>
      <p:sp>
        <p:nvSpPr>
          <p:cNvPr id="14" name="Rounded Rectangle 13"/>
          <p:cNvSpPr/>
          <p:nvPr/>
        </p:nvSpPr>
        <p:spPr>
          <a:xfrm>
            <a:off x="4389120" y="4297680"/>
            <a:ext cx="3017520" cy="164592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89120" y="4846320"/>
            <a:ext cx="3017520" cy="457200"/>
          </a:xfrm>
          <a:prstGeom prst="rect">
            <a:avLst/>
          </a:prstGeom>
          <a:noFill/>
        </p:spPr>
        <p:txBody>
          <a:bodyPr wrap="square">
            <a:spAutoFit/>
          </a:bodyPr>
          <a:lstStyle/>
          <a:p>
            <a:pPr algn="ctr">
              <a:defRPr sz="2200" b="1">
                <a:solidFill>
                  <a:srgbClr val="FFFFFF"/>
                </a:solidFill>
                <a:latin typeface="Calibri"/>
              </a:defRPr>
            </a:pPr>
            <a:r>
              <a:t>Security</a:t>
            </a:r>
          </a:p>
        </p:txBody>
      </p:sp>
      <p:sp>
        <p:nvSpPr>
          <p:cNvPr id="16" name="Rounded Rectangle 15"/>
          <p:cNvSpPr/>
          <p:nvPr/>
        </p:nvSpPr>
        <p:spPr>
          <a:xfrm>
            <a:off x="7863840" y="4297680"/>
            <a:ext cx="3017520" cy="164592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0" y="4846320"/>
            <a:ext cx="3017520" cy="457200"/>
          </a:xfrm>
          <a:prstGeom prst="rect">
            <a:avLst/>
          </a:prstGeom>
          <a:noFill/>
        </p:spPr>
        <p:txBody>
          <a:bodyPr wrap="square">
            <a:spAutoFit/>
          </a:bodyPr>
          <a:lstStyle/>
          <a:p>
            <a:pPr algn="ctr">
              <a:defRPr sz="2200" b="1">
                <a:solidFill>
                  <a:srgbClr val="FFFFFF"/>
                </a:solidFill>
                <a:latin typeface="Calibri"/>
              </a:defRPr>
            </a:pPr>
            <a:r>
              <a:t>Technology</a:t>
            </a:r>
          </a:p>
        </p:txBody>
      </p:sp>
      <p:sp>
        <p:nvSpPr>
          <p:cNvPr id="18" name="Rectangle 17"/>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Implementation</a:t>
            </a:r>
          </a:p>
        </p:txBody>
      </p:sp>
      <p:sp>
        <p:nvSpPr>
          <p:cNvPr id="5" name="TextBox 4"/>
          <p:cNvSpPr txBox="1"/>
          <p:nvPr/>
        </p:nvSpPr>
        <p:spPr>
          <a:xfrm>
            <a:off x="914400" y="1463040"/>
            <a:ext cx="10058400" cy="548640"/>
          </a:xfrm>
          <a:prstGeom prst="rect">
            <a:avLst/>
          </a:prstGeom>
          <a:noFill/>
        </p:spPr>
        <p:txBody>
          <a:bodyPr wrap="square">
            <a:spAutoFit/>
          </a:bodyPr>
          <a:lstStyle/>
          <a:p>
            <a:pPr algn="ctr">
              <a:defRPr sz="2600" b="0">
                <a:solidFill>
                  <a:srgbClr val="1A1A2E"/>
                </a:solidFill>
                <a:latin typeface="Calibri"/>
              </a:defRPr>
            </a:pPr>
            <a:r>
              <a:t>Developers convert designs into working software</a:t>
            </a:r>
          </a:p>
        </p:txBody>
      </p:sp>
      <p:sp>
        <p:nvSpPr>
          <p:cNvPr id="6" name="Rounded Rectangle 5"/>
          <p:cNvSpPr/>
          <p:nvPr/>
        </p:nvSpPr>
        <p:spPr>
          <a:xfrm>
            <a:off x="1371600" y="2286000"/>
            <a:ext cx="1463040" cy="146304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2743200"/>
            <a:ext cx="1463040" cy="457200"/>
          </a:xfrm>
          <a:prstGeom prst="rect">
            <a:avLst/>
          </a:prstGeom>
          <a:noFill/>
        </p:spPr>
        <p:txBody>
          <a:bodyPr wrap="square">
            <a:spAutoFit/>
          </a:bodyPr>
          <a:lstStyle/>
          <a:p>
            <a:pPr algn="ctr">
              <a:defRPr sz="2000" b="1">
                <a:solidFill>
                  <a:srgbClr val="FFFFFF"/>
                </a:solidFill>
                <a:latin typeface="Calibri"/>
              </a:defRPr>
            </a:pPr>
            <a:r>
              <a:t>Python</a:t>
            </a:r>
          </a:p>
        </p:txBody>
      </p:sp>
      <p:sp>
        <p:nvSpPr>
          <p:cNvPr id="8" name="Rounded Rectangle 7"/>
          <p:cNvSpPr/>
          <p:nvPr/>
        </p:nvSpPr>
        <p:spPr>
          <a:xfrm>
            <a:off x="3108960" y="2286000"/>
            <a:ext cx="1463040" cy="146304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108960" y="2743200"/>
            <a:ext cx="1463040" cy="457200"/>
          </a:xfrm>
          <a:prstGeom prst="rect">
            <a:avLst/>
          </a:prstGeom>
          <a:noFill/>
        </p:spPr>
        <p:txBody>
          <a:bodyPr wrap="square">
            <a:spAutoFit/>
          </a:bodyPr>
          <a:lstStyle/>
          <a:p>
            <a:pPr algn="ctr">
              <a:defRPr sz="2000" b="1">
                <a:solidFill>
                  <a:srgbClr val="FFFFFF"/>
                </a:solidFill>
                <a:latin typeface="Calibri"/>
              </a:defRPr>
            </a:pPr>
            <a:r>
              <a:t>Java</a:t>
            </a:r>
          </a:p>
        </p:txBody>
      </p:sp>
      <p:sp>
        <p:nvSpPr>
          <p:cNvPr id="10" name="Rounded Rectangle 9"/>
          <p:cNvSpPr/>
          <p:nvPr/>
        </p:nvSpPr>
        <p:spPr>
          <a:xfrm>
            <a:off x="4846320" y="2286000"/>
            <a:ext cx="1463040" cy="146304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46320" y="2743200"/>
            <a:ext cx="1463040" cy="457200"/>
          </a:xfrm>
          <a:prstGeom prst="rect">
            <a:avLst/>
          </a:prstGeom>
          <a:noFill/>
        </p:spPr>
        <p:txBody>
          <a:bodyPr wrap="square">
            <a:spAutoFit/>
          </a:bodyPr>
          <a:lstStyle/>
          <a:p>
            <a:pPr algn="ctr">
              <a:defRPr sz="2000" b="1">
                <a:solidFill>
                  <a:srgbClr val="FFFFFF"/>
                </a:solidFill>
                <a:latin typeface="Calibri"/>
              </a:defRPr>
            </a:pPr>
            <a:r>
              <a:t>C++</a:t>
            </a:r>
          </a:p>
        </p:txBody>
      </p:sp>
      <p:sp>
        <p:nvSpPr>
          <p:cNvPr id="12" name="Rounded Rectangle 11"/>
          <p:cNvSpPr/>
          <p:nvPr/>
        </p:nvSpPr>
        <p:spPr>
          <a:xfrm>
            <a:off x="6583679" y="2286000"/>
            <a:ext cx="1463040" cy="14630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79" y="2743200"/>
            <a:ext cx="1463040" cy="457200"/>
          </a:xfrm>
          <a:prstGeom prst="rect">
            <a:avLst/>
          </a:prstGeom>
          <a:noFill/>
        </p:spPr>
        <p:txBody>
          <a:bodyPr wrap="square">
            <a:spAutoFit/>
          </a:bodyPr>
          <a:lstStyle/>
          <a:p>
            <a:pPr algn="ctr">
              <a:defRPr sz="2000" b="1">
                <a:solidFill>
                  <a:srgbClr val="FFFFFF"/>
                </a:solidFill>
                <a:latin typeface="Calibri"/>
              </a:defRPr>
            </a:pPr>
            <a:r>
              <a:t>JavaScript</a:t>
            </a:r>
          </a:p>
        </p:txBody>
      </p:sp>
      <p:sp>
        <p:nvSpPr>
          <p:cNvPr id="14" name="Rounded Rectangle 13"/>
          <p:cNvSpPr/>
          <p:nvPr/>
        </p:nvSpPr>
        <p:spPr>
          <a:xfrm>
            <a:off x="8321040" y="2286000"/>
            <a:ext cx="1463040" cy="146304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743200"/>
            <a:ext cx="1463040" cy="457200"/>
          </a:xfrm>
          <a:prstGeom prst="rect">
            <a:avLst/>
          </a:prstGeom>
          <a:noFill/>
        </p:spPr>
        <p:txBody>
          <a:bodyPr wrap="square">
            <a:spAutoFit/>
          </a:bodyPr>
          <a:lstStyle/>
          <a:p>
            <a:pPr algn="ctr">
              <a:defRPr sz="2000" b="1">
                <a:solidFill>
                  <a:srgbClr val="FFFFFF"/>
                </a:solidFill>
                <a:latin typeface="Calibri"/>
              </a:defRPr>
            </a:pPr>
            <a:r>
              <a:t>C#</a:t>
            </a:r>
          </a:p>
        </p:txBody>
      </p:sp>
      <p:sp>
        <p:nvSpPr>
          <p:cNvPr id="16" name="Rounded Rectangle 15"/>
          <p:cNvSpPr/>
          <p:nvPr/>
        </p:nvSpPr>
        <p:spPr>
          <a:xfrm>
            <a:off x="10058400" y="2286000"/>
            <a:ext cx="1463040" cy="146304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0" y="2743200"/>
            <a:ext cx="1463040" cy="457200"/>
          </a:xfrm>
          <a:prstGeom prst="rect">
            <a:avLst/>
          </a:prstGeom>
          <a:noFill/>
        </p:spPr>
        <p:txBody>
          <a:bodyPr wrap="square">
            <a:spAutoFit/>
          </a:bodyPr>
          <a:lstStyle/>
          <a:p>
            <a:pPr algn="ctr">
              <a:defRPr sz="2000" b="1">
                <a:solidFill>
                  <a:srgbClr val="FFFFFF"/>
                </a:solidFill>
                <a:latin typeface="Calibri"/>
              </a:defRPr>
            </a:pPr>
            <a:r>
              <a:t>Go</a:t>
            </a:r>
          </a:p>
        </p:txBody>
      </p:sp>
      <p:sp>
        <p:nvSpPr>
          <p:cNvPr id="18" name="Rectangle 17"/>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Testing</a:t>
            </a:r>
          </a:p>
        </p:txBody>
      </p:sp>
      <p:sp>
        <p:nvSpPr>
          <p:cNvPr id="5" name="TextBox 4"/>
          <p:cNvSpPr txBox="1"/>
          <p:nvPr/>
        </p:nvSpPr>
        <p:spPr>
          <a:xfrm>
            <a:off x="914400" y="1371600"/>
            <a:ext cx="10058400" cy="548640"/>
          </a:xfrm>
          <a:prstGeom prst="rect">
            <a:avLst/>
          </a:prstGeom>
          <a:noFill/>
        </p:spPr>
        <p:txBody>
          <a:bodyPr wrap="square">
            <a:spAutoFit/>
          </a:bodyPr>
          <a:lstStyle/>
          <a:p>
            <a:pPr algn="ctr">
              <a:defRPr sz="2800" b="1">
                <a:solidFill>
                  <a:srgbClr val="1A3A5C"/>
                </a:solidFill>
                <a:latin typeface="Calibri"/>
              </a:defRPr>
            </a:pPr>
            <a:r>
              <a:t>Question: Does the software work correctly?</a:t>
            </a:r>
          </a:p>
        </p:txBody>
      </p:sp>
      <p:sp>
        <p:nvSpPr>
          <p:cNvPr id="6" name="Rounded Rectangle 5"/>
          <p:cNvSpPr/>
          <p:nvPr/>
        </p:nvSpPr>
        <p:spPr>
          <a:xfrm>
            <a:off x="731520" y="2286000"/>
            <a:ext cx="2560320" cy="32004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74720"/>
            <a:ext cx="2560320" cy="457200"/>
          </a:xfrm>
          <a:prstGeom prst="rect">
            <a:avLst/>
          </a:prstGeom>
          <a:noFill/>
        </p:spPr>
        <p:txBody>
          <a:bodyPr wrap="square">
            <a:spAutoFit/>
          </a:bodyPr>
          <a:lstStyle/>
          <a:p>
            <a:pPr algn="ctr">
              <a:defRPr sz="2000" b="1">
                <a:solidFill>
                  <a:srgbClr val="FFFFFF"/>
                </a:solidFill>
                <a:latin typeface="Calibri"/>
              </a:defRPr>
            </a:pPr>
            <a:r>
              <a:t>Unit Testing</a:t>
            </a:r>
          </a:p>
        </p:txBody>
      </p:sp>
      <p:sp>
        <p:nvSpPr>
          <p:cNvPr id="8" name="Rounded Rectangle 7"/>
          <p:cNvSpPr/>
          <p:nvPr/>
        </p:nvSpPr>
        <p:spPr>
          <a:xfrm>
            <a:off x="3566160" y="2286000"/>
            <a:ext cx="2560320" cy="32004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3474720"/>
            <a:ext cx="2560320" cy="457200"/>
          </a:xfrm>
          <a:prstGeom prst="rect">
            <a:avLst/>
          </a:prstGeom>
          <a:noFill/>
        </p:spPr>
        <p:txBody>
          <a:bodyPr wrap="square">
            <a:spAutoFit/>
          </a:bodyPr>
          <a:lstStyle/>
          <a:p>
            <a:pPr algn="ctr">
              <a:defRPr sz="2000" b="1">
                <a:solidFill>
                  <a:srgbClr val="FFFFFF"/>
                </a:solidFill>
                <a:latin typeface="Calibri"/>
              </a:defRPr>
            </a:pPr>
            <a:r>
              <a:t>Integration Testing</a:t>
            </a:r>
          </a:p>
        </p:txBody>
      </p:sp>
      <p:sp>
        <p:nvSpPr>
          <p:cNvPr id="10" name="Rounded Rectangle 9"/>
          <p:cNvSpPr/>
          <p:nvPr/>
        </p:nvSpPr>
        <p:spPr>
          <a:xfrm>
            <a:off x="6400800" y="2286000"/>
            <a:ext cx="2560320" cy="32004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3474720"/>
            <a:ext cx="2560320" cy="457200"/>
          </a:xfrm>
          <a:prstGeom prst="rect">
            <a:avLst/>
          </a:prstGeom>
          <a:noFill/>
        </p:spPr>
        <p:txBody>
          <a:bodyPr wrap="square">
            <a:spAutoFit/>
          </a:bodyPr>
          <a:lstStyle/>
          <a:p>
            <a:pPr algn="ctr">
              <a:defRPr sz="2000" b="1">
                <a:solidFill>
                  <a:srgbClr val="FFFFFF"/>
                </a:solidFill>
                <a:latin typeface="Calibri"/>
              </a:defRPr>
            </a:pPr>
            <a:r>
              <a:t>System Testing</a:t>
            </a:r>
          </a:p>
        </p:txBody>
      </p:sp>
      <p:sp>
        <p:nvSpPr>
          <p:cNvPr id="12" name="Rounded Rectangle 11"/>
          <p:cNvSpPr/>
          <p:nvPr/>
        </p:nvSpPr>
        <p:spPr>
          <a:xfrm>
            <a:off x="9235440" y="2286000"/>
            <a:ext cx="2560320" cy="32004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0" y="3474720"/>
            <a:ext cx="2560320" cy="457200"/>
          </a:xfrm>
          <a:prstGeom prst="rect">
            <a:avLst/>
          </a:prstGeom>
          <a:noFill/>
        </p:spPr>
        <p:txBody>
          <a:bodyPr wrap="square">
            <a:spAutoFit/>
          </a:bodyPr>
          <a:lstStyle/>
          <a:p>
            <a:pPr algn="ctr">
              <a:defRPr sz="2000" b="1">
                <a:solidFill>
                  <a:srgbClr val="FFFFFF"/>
                </a:solidFill>
                <a:latin typeface="Calibri"/>
              </a:defRPr>
            </a:pPr>
            <a:r>
              <a:t>Acceptance Testing</a:t>
            </a:r>
          </a:p>
        </p:txBody>
      </p:sp>
      <p:sp>
        <p:nvSpPr>
          <p:cNvPr id="14" name="Rectangle 13"/>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Deployment</a:t>
            </a:r>
          </a:p>
        </p:txBody>
      </p:sp>
      <p:sp>
        <p:nvSpPr>
          <p:cNvPr id="5" name="TextBox 4"/>
          <p:cNvSpPr txBox="1"/>
          <p:nvPr/>
        </p:nvSpPr>
        <p:spPr>
          <a:xfrm>
            <a:off x="914400" y="1371600"/>
            <a:ext cx="10058400" cy="457200"/>
          </a:xfrm>
          <a:prstGeom prst="rect">
            <a:avLst/>
          </a:prstGeom>
          <a:noFill/>
        </p:spPr>
        <p:txBody>
          <a:bodyPr wrap="square">
            <a:spAutoFit/>
          </a:bodyPr>
          <a:lstStyle/>
          <a:p>
            <a:pPr algn="ctr">
              <a:defRPr sz="2200" b="0">
                <a:solidFill>
                  <a:srgbClr val="1A1A2E"/>
                </a:solidFill>
                <a:latin typeface="Calibri"/>
              </a:defRPr>
            </a:pPr>
            <a:r>
              <a:t>Software becomes available to users</a:t>
            </a:r>
          </a:p>
        </p:txBody>
      </p:sp>
      <p:sp>
        <p:nvSpPr>
          <p:cNvPr id="6" name="Rounded Rectangle 5"/>
          <p:cNvSpPr/>
          <p:nvPr/>
        </p:nvSpPr>
        <p:spPr>
          <a:xfrm>
            <a:off x="731520" y="2286000"/>
            <a:ext cx="2560320" cy="32004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74720"/>
            <a:ext cx="2560320" cy="457200"/>
          </a:xfrm>
          <a:prstGeom prst="rect">
            <a:avLst/>
          </a:prstGeom>
          <a:noFill/>
        </p:spPr>
        <p:txBody>
          <a:bodyPr wrap="square">
            <a:spAutoFit/>
          </a:bodyPr>
          <a:lstStyle/>
          <a:p>
            <a:pPr algn="ctr">
              <a:defRPr sz="2000" b="1">
                <a:solidFill>
                  <a:srgbClr val="FFFFFF"/>
                </a:solidFill>
                <a:latin typeface="Calibri"/>
              </a:defRPr>
            </a:pPr>
            <a:r>
              <a:t>Cloud</a:t>
            </a:r>
          </a:p>
        </p:txBody>
      </p:sp>
      <p:sp>
        <p:nvSpPr>
          <p:cNvPr id="8" name="Rounded Rectangle 7"/>
          <p:cNvSpPr/>
          <p:nvPr/>
        </p:nvSpPr>
        <p:spPr>
          <a:xfrm>
            <a:off x="3566160" y="2286000"/>
            <a:ext cx="2560320" cy="32004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3474720"/>
            <a:ext cx="2560320" cy="457200"/>
          </a:xfrm>
          <a:prstGeom prst="rect">
            <a:avLst/>
          </a:prstGeom>
          <a:noFill/>
        </p:spPr>
        <p:txBody>
          <a:bodyPr wrap="square">
            <a:spAutoFit/>
          </a:bodyPr>
          <a:lstStyle/>
          <a:p>
            <a:pPr algn="ctr">
              <a:defRPr sz="2000" b="1">
                <a:solidFill>
                  <a:srgbClr val="FFFFFF"/>
                </a:solidFill>
                <a:latin typeface="Calibri"/>
              </a:defRPr>
            </a:pPr>
            <a:r>
              <a:t>Web Server</a:t>
            </a:r>
          </a:p>
        </p:txBody>
      </p:sp>
      <p:sp>
        <p:nvSpPr>
          <p:cNvPr id="10" name="Rounded Rectangle 9"/>
          <p:cNvSpPr/>
          <p:nvPr/>
        </p:nvSpPr>
        <p:spPr>
          <a:xfrm>
            <a:off x="6400800" y="2286000"/>
            <a:ext cx="2560320" cy="32004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3474720"/>
            <a:ext cx="2560320" cy="457200"/>
          </a:xfrm>
          <a:prstGeom prst="rect">
            <a:avLst/>
          </a:prstGeom>
          <a:noFill/>
        </p:spPr>
        <p:txBody>
          <a:bodyPr wrap="square">
            <a:spAutoFit/>
          </a:bodyPr>
          <a:lstStyle/>
          <a:p>
            <a:pPr algn="ctr">
              <a:defRPr sz="2000" b="1">
                <a:solidFill>
                  <a:srgbClr val="FFFFFF"/>
                </a:solidFill>
                <a:latin typeface="Calibri"/>
              </a:defRPr>
            </a:pPr>
            <a:r>
              <a:t>Mobile App Store</a:t>
            </a:r>
          </a:p>
        </p:txBody>
      </p:sp>
      <p:sp>
        <p:nvSpPr>
          <p:cNvPr id="12" name="Rounded Rectangle 11"/>
          <p:cNvSpPr/>
          <p:nvPr/>
        </p:nvSpPr>
        <p:spPr>
          <a:xfrm>
            <a:off x="9235440" y="2286000"/>
            <a:ext cx="2560320" cy="32004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0" y="3474720"/>
            <a:ext cx="2560320" cy="457200"/>
          </a:xfrm>
          <a:prstGeom prst="rect">
            <a:avLst/>
          </a:prstGeom>
          <a:noFill/>
        </p:spPr>
        <p:txBody>
          <a:bodyPr wrap="square">
            <a:spAutoFit/>
          </a:bodyPr>
          <a:lstStyle/>
          <a:p>
            <a:pPr algn="ctr">
              <a:defRPr sz="2000" b="1">
                <a:solidFill>
                  <a:srgbClr val="FFFFFF"/>
                </a:solidFill>
                <a:latin typeface="Calibri"/>
              </a:defRPr>
            </a:pPr>
            <a:r>
              <a:t>Desktop Installation</a:t>
            </a:r>
          </a:p>
        </p:txBody>
      </p:sp>
      <p:sp>
        <p:nvSpPr>
          <p:cNvPr id="14" name="Rectangle 13"/>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Maintenance</a:t>
            </a:r>
          </a:p>
        </p:txBody>
      </p:sp>
      <p:sp>
        <p:nvSpPr>
          <p:cNvPr id="5" name="TextBox 4"/>
          <p:cNvSpPr txBox="1"/>
          <p:nvPr/>
        </p:nvSpPr>
        <p:spPr>
          <a:xfrm>
            <a:off x="914400" y="1463040"/>
            <a:ext cx="10058400" cy="548640"/>
          </a:xfrm>
          <a:prstGeom prst="rect">
            <a:avLst/>
          </a:prstGeom>
          <a:noFill/>
        </p:spPr>
        <p:txBody>
          <a:bodyPr wrap="square">
            <a:spAutoFit/>
          </a:bodyPr>
          <a:lstStyle/>
          <a:p>
            <a:pPr algn="ctr">
              <a:defRPr sz="2600" b="0">
                <a:solidFill>
                  <a:srgbClr val="1A1A2E"/>
                </a:solidFill>
                <a:latin typeface="Calibri"/>
              </a:defRPr>
            </a:pPr>
            <a:r>
              <a:t>After deployment:</a:t>
            </a:r>
          </a:p>
        </p:txBody>
      </p:sp>
      <p:sp>
        <p:nvSpPr>
          <p:cNvPr id="6" name="Rounded Rectangle 5"/>
          <p:cNvSpPr/>
          <p:nvPr/>
        </p:nvSpPr>
        <p:spPr>
          <a:xfrm>
            <a:off x="1828800" y="2103120"/>
            <a:ext cx="8229600" cy="73152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2148840"/>
            <a:ext cx="7863840" cy="640080"/>
          </a:xfrm>
          <a:prstGeom prst="rect">
            <a:avLst/>
          </a:prstGeom>
          <a:noFill/>
        </p:spPr>
        <p:txBody>
          <a:bodyPr wrap="square">
            <a:spAutoFit/>
          </a:bodyPr>
          <a:lstStyle/>
          <a:p>
            <a:pPr algn="l">
              <a:defRPr sz="2200" b="0">
                <a:solidFill>
                  <a:srgbClr val="FFFFFF"/>
                </a:solidFill>
                <a:latin typeface="Calibri"/>
              </a:defRPr>
            </a:pPr>
            <a:r>
              <a:t>• Bugs are fixed</a:t>
            </a:r>
          </a:p>
        </p:txBody>
      </p:sp>
      <p:sp>
        <p:nvSpPr>
          <p:cNvPr id="8" name="Rounded Rectangle 7"/>
          <p:cNvSpPr/>
          <p:nvPr/>
        </p:nvSpPr>
        <p:spPr>
          <a:xfrm>
            <a:off x="1828800" y="3017520"/>
            <a:ext cx="8229600" cy="7315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3063240"/>
            <a:ext cx="7863840" cy="640080"/>
          </a:xfrm>
          <a:prstGeom prst="rect">
            <a:avLst/>
          </a:prstGeom>
          <a:noFill/>
        </p:spPr>
        <p:txBody>
          <a:bodyPr wrap="square">
            <a:spAutoFit/>
          </a:bodyPr>
          <a:lstStyle/>
          <a:p>
            <a:pPr algn="l">
              <a:defRPr sz="2200" b="0">
                <a:solidFill>
                  <a:srgbClr val="FFFFFF"/>
                </a:solidFill>
                <a:latin typeface="Calibri"/>
              </a:defRPr>
            </a:pPr>
            <a:r>
              <a:t>• Features evolve</a:t>
            </a:r>
          </a:p>
        </p:txBody>
      </p:sp>
      <p:sp>
        <p:nvSpPr>
          <p:cNvPr id="10" name="Rounded Rectangle 9"/>
          <p:cNvSpPr/>
          <p:nvPr/>
        </p:nvSpPr>
        <p:spPr>
          <a:xfrm>
            <a:off x="1828800" y="3931920"/>
            <a:ext cx="8229600" cy="7315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11680" y="3977639"/>
            <a:ext cx="7863840" cy="640080"/>
          </a:xfrm>
          <a:prstGeom prst="rect">
            <a:avLst/>
          </a:prstGeom>
          <a:noFill/>
        </p:spPr>
        <p:txBody>
          <a:bodyPr wrap="square">
            <a:spAutoFit/>
          </a:bodyPr>
          <a:lstStyle/>
          <a:p>
            <a:pPr algn="l">
              <a:defRPr sz="2200" b="0">
                <a:solidFill>
                  <a:srgbClr val="FFFFFF"/>
                </a:solidFill>
                <a:latin typeface="Calibri"/>
              </a:defRPr>
            </a:pPr>
            <a:r>
              <a:t>• Security vulnerabilities are patched</a:t>
            </a:r>
          </a:p>
        </p:txBody>
      </p:sp>
      <p:sp>
        <p:nvSpPr>
          <p:cNvPr id="12" name="Rounded Rectangle 11"/>
          <p:cNvSpPr/>
          <p:nvPr/>
        </p:nvSpPr>
        <p:spPr>
          <a:xfrm>
            <a:off x="1828800" y="4846320"/>
            <a:ext cx="8229600" cy="7315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11680" y="4892040"/>
            <a:ext cx="7863840" cy="640080"/>
          </a:xfrm>
          <a:prstGeom prst="rect">
            <a:avLst/>
          </a:prstGeom>
          <a:noFill/>
        </p:spPr>
        <p:txBody>
          <a:bodyPr wrap="square">
            <a:spAutoFit/>
          </a:bodyPr>
          <a:lstStyle/>
          <a:p>
            <a:pPr algn="l">
              <a:defRPr sz="2200" b="0">
                <a:solidFill>
                  <a:srgbClr val="FFFFFF"/>
                </a:solidFill>
                <a:latin typeface="Calibri"/>
              </a:defRPr>
            </a:pPr>
            <a:r>
              <a:t>• Performance is improved</a:t>
            </a:r>
          </a:p>
        </p:txBody>
      </p:sp>
      <p:sp>
        <p:nvSpPr>
          <p:cNvPr id="14" name="Rounded Rectangle 13"/>
          <p:cNvSpPr/>
          <p:nvPr/>
        </p:nvSpPr>
        <p:spPr>
          <a:xfrm>
            <a:off x="2743200" y="5943600"/>
            <a:ext cx="6400800" cy="6400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26080" y="5989320"/>
            <a:ext cx="6035040" cy="548640"/>
          </a:xfrm>
          <a:prstGeom prst="rect">
            <a:avLst/>
          </a:prstGeom>
          <a:noFill/>
        </p:spPr>
        <p:txBody>
          <a:bodyPr wrap="square">
            <a:spAutoFit/>
          </a:bodyPr>
          <a:lstStyle/>
          <a:p>
            <a:pPr algn="ctr">
              <a:defRPr sz="2200" b="1">
                <a:solidFill>
                  <a:srgbClr val="FFFFFF"/>
                </a:solidFill>
                <a:latin typeface="Calibri"/>
              </a:defRPr>
            </a:pPr>
            <a:r>
              <a:t>Key Message: Software is rarely 'finished.'</a:t>
            </a:r>
          </a:p>
        </p:txBody>
      </p:sp>
      <p:sp>
        <p:nvSpPr>
          <p:cNvPr id="16" name="Rectangle 15"/>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Continuous Software Evolution</a:t>
            </a:r>
          </a:p>
        </p:txBody>
      </p:sp>
      <p:sp>
        <p:nvSpPr>
          <p:cNvPr id="5" name="Rounded Rectangle 4"/>
          <p:cNvSpPr/>
          <p:nvPr/>
        </p:nvSpPr>
        <p:spPr>
          <a:xfrm>
            <a:off x="5212080" y="1234440"/>
            <a:ext cx="1828800" cy="6400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12080" y="1371600"/>
            <a:ext cx="1828800" cy="400110"/>
          </a:xfrm>
          <a:prstGeom prst="rect">
            <a:avLst/>
          </a:prstGeom>
          <a:noFill/>
        </p:spPr>
        <p:txBody>
          <a:bodyPr wrap="square">
            <a:spAutoFit/>
          </a:bodyPr>
          <a:lstStyle/>
          <a:p>
            <a:pPr algn="ctr">
              <a:defRPr sz="1200" b="1">
                <a:solidFill>
                  <a:srgbClr val="FFFFFF"/>
                </a:solidFill>
                <a:latin typeface="Calibri"/>
              </a:defRPr>
            </a:pPr>
            <a:r>
              <a:rPr sz="2000" dirty="0"/>
              <a:t>Release</a:t>
            </a:r>
          </a:p>
        </p:txBody>
      </p:sp>
      <p:sp>
        <p:nvSpPr>
          <p:cNvPr id="7" name="Rounded Rectangle 6"/>
          <p:cNvSpPr/>
          <p:nvPr/>
        </p:nvSpPr>
        <p:spPr>
          <a:xfrm>
            <a:off x="6999346" y="2095143"/>
            <a:ext cx="1828800" cy="6400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99346" y="2232303"/>
            <a:ext cx="1828800" cy="400110"/>
          </a:xfrm>
          <a:prstGeom prst="rect">
            <a:avLst/>
          </a:prstGeom>
          <a:noFill/>
        </p:spPr>
        <p:txBody>
          <a:bodyPr wrap="square">
            <a:spAutoFit/>
          </a:bodyPr>
          <a:lstStyle/>
          <a:p>
            <a:pPr algn="ctr">
              <a:defRPr sz="1200" b="1">
                <a:solidFill>
                  <a:srgbClr val="FFFFFF"/>
                </a:solidFill>
                <a:latin typeface="Calibri"/>
              </a:defRPr>
            </a:pPr>
            <a:r>
              <a:rPr sz="2000" b="1" dirty="0">
                <a:solidFill>
                  <a:srgbClr val="FFFFFF"/>
                </a:solidFill>
                <a:latin typeface="Calibri"/>
              </a:rPr>
              <a:t>Feedback</a:t>
            </a:r>
          </a:p>
        </p:txBody>
      </p:sp>
      <p:sp>
        <p:nvSpPr>
          <p:cNvPr id="9" name="Rounded Rectangle 8"/>
          <p:cNvSpPr/>
          <p:nvPr/>
        </p:nvSpPr>
        <p:spPr>
          <a:xfrm>
            <a:off x="7440765" y="4029122"/>
            <a:ext cx="182880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40765" y="4166282"/>
            <a:ext cx="1828800" cy="400110"/>
          </a:xfrm>
          <a:prstGeom prst="rect">
            <a:avLst/>
          </a:prstGeom>
          <a:noFill/>
        </p:spPr>
        <p:txBody>
          <a:bodyPr wrap="square">
            <a:spAutoFit/>
          </a:bodyPr>
          <a:lstStyle/>
          <a:p>
            <a:pPr algn="ctr">
              <a:defRPr sz="1200" b="1">
                <a:solidFill>
                  <a:srgbClr val="FFFFFF"/>
                </a:solidFill>
                <a:latin typeface="Calibri"/>
              </a:defRPr>
            </a:pPr>
            <a:r>
              <a:rPr sz="2000" b="1" dirty="0">
                <a:solidFill>
                  <a:srgbClr val="FFFFFF"/>
                </a:solidFill>
                <a:latin typeface="Calibri"/>
              </a:rPr>
              <a:t>Bug</a:t>
            </a:r>
            <a:r>
              <a:rPr dirty="0"/>
              <a:t> </a:t>
            </a:r>
            <a:r>
              <a:rPr sz="2000" b="1" dirty="0">
                <a:solidFill>
                  <a:srgbClr val="FFFFFF"/>
                </a:solidFill>
                <a:latin typeface="Calibri"/>
              </a:rPr>
              <a:t>Fixes</a:t>
            </a:r>
          </a:p>
        </p:txBody>
      </p:sp>
      <p:sp>
        <p:nvSpPr>
          <p:cNvPr id="11" name="Rounded Rectangle 10"/>
          <p:cNvSpPr/>
          <p:nvPr/>
        </p:nvSpPr>
        <p:spPr>
          <a:xfrm>
            <a:off x="6203938" y="5580054"/>
            <a:ext cx="1828800" cy="6400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03938" y="5546151"/>
            <a:ext cx="1828800" cy="707886"/>
          </a:xfrm>
          <a:prstGeom prst="rect">
            <a:avLst/>
          </a:prstGeom>
          <a:noFill/>
        </p:spPr>
        <p:txBody>
          <a:bodyPr wrap="square">
            <a:spAutoFit/>
          </a:bodyPr>
          <a:lstStyle/>
          <a:p>
            <a:pPr algn="ctr">
              <a:defRPr sz="1200" b="1">
                <a:solidFill>
                  <a:srgbClr val="FFFFFF"/>
                </a:solidFill>
                <a:latin typeface="Calibri"/>
              </a:defRPr>
            </a:pPr>
            <a:r>
              <a:rPr sz="2000" b="1" dirty="0">
                <a:solidFill>
                  <a:srgbClr val="FFFFFF"/>
                </a:solidFill>
                <a:latin typeface="Calibri"/>
              </a:rPr>
              <a:t>New</a:t>
            </a:r>
            <a:r>
              <a:rPr dirty="0"/>
              <a:t> </a:t>
            </a:r>
            <a:r>
              <a:rPr sz="2000" b="1" dirty="0">
                <a:solidFill>
                  <a:srgbClr val="FFFFFF"/>
                </a:solidFill>
                <a:latin typeface="Calibri"/>
              </a:rPr>
              <a:t>Requirements</a:t>
            </a:r>
          </a:p>
        </p:txBody>
      </p:sp>
      <p:sp>
        <p:nvSpPr>
          <p:cNvPr id="13" name="Rounded Rectangle 12"/>
          <p:cNvSpPr/>
          <p:nvPr/>
        </p:nvSpPr>
        <p:spPr>
          <a:xfrm>
            <a:off x="4220222" y="5580054"/>
            <a:ext cx="1828800" cy="6400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53930" y="5717214"/>
            <a:ext cx="1828800" cy="400110"/>
          </a:xfrm>
          <a:prstGeom prst="rect">
            <a:avLst/>
          </a:prstGeom>
          <a:noFill/>
        </p:spPr>
        <p:txBody>
          <a:bodyPr wrap="square">
            <a:spAutoFit/>
          </a:bodyPr>
          <a:lstStyle/>
          <a:p>
            <a:pPr algn="ctr">
              <a:defRPr sz="1200" b="1">
                <a:solidFill>
                  <a:srgbClr val="FFFFFF"/>
                </a:solidFill>
                <a:latin typeface="Calibri"/>
              </a:defRPr>
            </a:pPr>
            <a:r>
              <a:rPr sz="2000" b="1" dirty="0">
                <a:solidFill>
                  <a:srgbClr val="FFFFFF"/>
                </a:solidFill>
                <a:latin typeface="Calibri"/>
              </a:rPr>
              <a:t>New</a:t>
            </a:r>
            <a:r>
              <a:rPr dirty="0"/>
              <a:t> </a:t>
            </a:r>
            <a:r>
              <a:rPr sz="2000" b="1" dirty="0">
                <a:solidFill>
                  <a:srgbClr val="FFFFFF"/>
                </a:solidFill>
                <a:latin typeface="Calibri"/>
              </a:rPr>
              <a:t>Release</a:t>
            </a:r>
          </a:p>
        </p:txBody>
      </p:sp>
      <p:sp>
        <p:nvSpPr>
          <p:cNvPr id="15" name="Rounded Rectangle 14"/>
          <p:cNvSpPr/>
          <p:nvPr/>
        </p:nvSpPr>
        <p:spPr>
          <a:xfrm>
            <a:off x="2983395" y="4029122"/>
            <a:ext cx="1828800" cy="6400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83395" y="4166282"/>
            <a:ext cx="1828800" cy="400110"/>
          </a:xfrm>
          <a:prstGeom prst="rect">
            <a:avLst/>
          </a:prstGeom>
          <a:noFill/>
        </p:spPr>
        <p:txBody>
          <a:bodyPr wrap="square">
            <a:spAutoFit/>
          </a:bodyPr>
          <a:lstStyle/>
          <a:p>
            <a:pPr algn="ctr">
              <a:defRPr sz="1200" b="1">
                <a:solidFill>
                  <a:srgbClr val="FFFFFF"/>
                </a:solidFill>
                <a:latin typeface="Calibri"/>
              </a:defRPr>
            </a:pPr>
            <a:r>
              <a:rPr sz="2000" b="1" dirty="0">
                <a:solidFill>
                  <a:srgbClr val="FFFFFF"/>
                </a:solidFill>
                <a:latin typeface="Calibri"/>
              </a:rPr>
              <a:t>Monitoring</a:t>
            </a:r>
          </a:p>
        </p:txBody>
      </p:sp>
      <p:sp>
        <p:nvSpPr>
          <p:cNvPr id="17" name="Rounded Rectangle 16"/>
          <p:cNvSpPr/>
          <p:nvPr/>
        </p:nvSpPr>
        <p:spPr>
          <a:xfrm>
            <a:off x="3424814" y="2095143"/>
            <a:ext cx="1828800" cy="64008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24814" y="2232303"/>
            <a:ext cx="1828800" cy="400110"/>
          </a:xfrm>
          <a:prstGeom prst="rect">
            <a:avLst/>
          </a:prstGeom>
          <a:noFill/>
        </p:spPr>
        <p:txBody>
          <a:bodyPr wrap="square">
            <a:spAutoFit/>
          </a:bodyPr>
          <a:lstStyle/>
          <a:p>
            <a:pPr algn="ctr">
              <a:defRPr sz="1200" b="1">
                <a:solidFill>
                  <a:srgbClr val="FFFFFF"/>
                </a:solidFill>
                <a:latin typeface="Calibri"/>
              </a:defRPr>
            </a:pPr>
            <a:r>
              <a:rPr sz="2000" b="1" dirty="0">
                <a:solidFill>
                  <a:srgbClr val="FFFFFF"/>
                </a:solidFill>
                <a:latin typeface="Calibri"/>
              </a:rPr>
              <a:t>Improvement</a:t>
            </a:r>
          </a:p>
        </p:txBody>
      </p:sp>
      <p:sp>
        <p:nvSpPr>
          <p:cNvPr id="19" name="Oval 18"/>
          <p:cNvSpPr/>
          <p:nvPr/>
        </p:nvSpPr>
        <p:spPr>
          <a:xfrm>
            <a:off x="5577840" y="3383280"/>
            <a:ext cx="914400" cy="914400"/>
          </a:xfrm>
          <a:prstGeom prst="ellipse">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0" y="3611880"/>
            <a:ext cx="914400" cy="457200"/>
          </a:xfrm>
          <a:prstGeom prst="rect">
            <a:avLst/>
          </a:prstGeom>
          <a:noFill/>
        </p:spPr>
        <p:txBody>
          <a:bodyPr wrap="none">
            <a:spAutoFit/>
          </a:bodyPr>
          <a:lstStyle/>
          <a:p>
            <a:pPr algn="ctr">
              <a:defRPr sz="2000" b="1">
                <a:solidFill>
                  <a:srgbClr val="FFFFFF"/>
                </a:solidFill>
              </a:defRPr>
            </a:pPr>
            <a:r>
              <a:t>SE</a:t>
            </a:r>
          </a:p>
        </p:txBody>
      </p:sp>
      <p:sp>
        <p:nvSpPr>
          <p:cNvPr id="21" name="Rectangle 20"/>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7 — MODERN SOFTWARE ENGINEERING</a:t>
            </a:r>
          </a:p>
        </p:txBody>
      </p:sp>
      <p:sp>
        <p:nvSpPr>
          <p:cNvPr id="5" name="Rounded Rectangle 4"/>
          <p:cNvSpPr/>
          <p:nvPr/>
        </p:nvSpPr>
        <p:spPr>
          <a:xfrm>
            <a:off x="457200" y="1645920"/>
            <a:ext cx="2011680" cy="18288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2194560"/>
            <a:ext cx="2011680" cy="731520"/>
          </a:xfrm>
          <a:prstGeom prst="rect">
            <a:avLst/>
          </a:prstGeom>
          <a:noFill/>
        </p:spPr>
        <p:txBody>
          <a:bodyPr wrap="square">
            <a:spAutoFit/>
          </a:bodyPr>
          <a:lstStyle/>
          <a:p>
            <a:pPr algn="ctr">
              <a:defRPr sz="1800" b="1">
                <a:solidFill>
                  <a:srgbClr val="FFFFFF"/>
                </a:solidFill>
                <a:latin typeface="Calibri"/>
              </a:defRPr>
            </a:pPr>
            <a:r>
              <a:t>Cloud Computing</a:t>
            </a:r>
          </a:p>
        </p:txBody>
      </p:sp>
      <p:sp>
        <p:nvSpPr>
          <p:cNvPr id="7" name="Rounded Rectangle 6"/>
          <p:cNvSpPr/>
          <p:nvPr/>
        </p:nvSpPr>
        <p:spPr>
          <a:xfrm>
            <a:off x="2743200" y="1645920"/>
            <a:ext cx="2011680" cy="18288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0" y="2194560"/>
            <a:ext cx="2011680" cy="731520"/>
          </a:xfrm>
          <a:prstGeom prst="rect">
            <a:avLst/>
          </a:prstGeom>
          <a:noFill/>
        </p:spPr>
        <p:txBody>
          <a:bodyPr wrap="square">
            <a:spAutoFit/>
          </a:bodyPr>
          <a:lstStyle/>
          <a:p>
            <a:pPr algn="ctr">
              <a:defRPr sz="1800" b="1">
                <a:solidFill>
                  <a:srgbClr val="FFFFFF"/>
                </a:solidFill>
                <a:latin typeface="Calibri"/>
              </a:defRPr>
            </a:pPr>
            <a:r>
              <a:t>DevOps</a:t>
            </a:r>
          </a:p>
        </p:txBody>
      </p:sp>
      <p:sp>
        <p:nvSpPr>
          <p:cNvPr id="9" name="Rounded Rectangle 8"/>
          <p:cNvSpPr/>
          <p:nvPr/>
        </p:nvSpPr>
        <p:spPr>
          <a:xfrm>
            <a:off x="5029200" y="1645920"/>
            <a:ext cx="2011680" cy="1828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0" y="2194560"/>
            <a:ext cx="2011680" cy="731520"/>
          </a:xfrm>
          <a:prstGeom prst="rect">
            <a:avLst/>
          </a:prstGeom>
          <a:noFill/>
        </p:spPr>
        <p:txBody>
          <a:bodyPr wrap="square">
            <a:spAutoFit/>
          </a:bodyPr>
          <a:lstStyle/>
          <a:p>
            <a:pPr algn="ctr">
              <a:defRPr sz="1800" b="1">
                <a:solidFill>
                  <a:srgbClr val="FFFFFF"/>
                </a:solidFill>
                <a:latin typeface="Calibri"/>
              </a:defRPr>
            </a:pPr>
            <a:r>
              <a:t>CI/CD</a:t>
            </a:r>
          </a:p>
        </p:txBody>
      </p:sp>
      <p:sp>
        <p:nvSpPr>
          <p:cNvPr id="11" name="Rounded Rectangle 10"/>
          <p:cNvSpPr/>
          <p:nvPr/>
        </p:nvSpPr>
        <p:spPr>
          <a:xfrm>
            <a:off x="7315200" y="1645920"/>
            <a:ext cx="2011680" cy="18288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0" y="2194560"/>
            <a:ext cx="2011680" cy="731520"/>
          </a:xfrm>
          <a:prstGeom prst="rect">
            <a:avLst/>
          </a:prstGeom>
          <a:noFill/>
        </p:spPr>
        <p:txBody>
          <a:bodyPr wrap="square">
            <a:spAutoFit/>
          </a:bodyPr>
          <a:lstStyle/>
          <a:p>
            <a:pPr algn="ctr">
              <a:defRPr sz="1800" b="1">
                <a:solidFill>
                  <a:srgbClr val="FFFFFF"/>
                </a:solidFill>
                <a:latin typeface="Calibri"/>
              </a:defRPr>
            </a:pPr>
            <a:r>
              <a:t>Microservices</a:t>
            </a:r>
          </a:p>
        </p:txBody>
      </p:sp>
      <p:sp>
        <p:nvSpPr>
          <p:cNvPr id="13" name="Rounded Rectangle 12"/>
          <p:cNvSpPr/>
          <p:nvPr/>
        </p:nvSpPr>
        <p:spPr>
          <a:xfrm>
            <a:off x="9601200" y="1645920"/>
            <a:ext cx="2011680" cy="18288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0" y="2194560"/>
            <a:ext cx="2011680" cy="731520"/>
          </a:xfrm>
          <a:prstGeom prst="rect">
            <a:avLst/>
          </a:prstGeom>
          <a:noFill/>
        </p:spPr>
        <p:txBody>
          <a:bodyPr wrap="square">
            <a:spAutoFit/>
          </a:bodyPr>
          <a:lstStyle/>
          <a:p>
            <a:pPr algn="ctr">
              <a:defRPr sz="1800" b="1">
                <a:solidFill>
                  <a:srgbClr val="FFFFFF"/>
                </a:solidFill>
                <a:latin typeface="Calibri"/>
              </a:defRPr>
            </a:pPr>
            <a:r>
              <a:t>APIs</a:t>
            </a:r>
          </a:p>
        </p:txBody>
      </p:sp>
      <p:sp>
        <p:nvSpPr>
          <p:cNvPr id="15" name="Rounded Rectangle 14"/>
          <p:cNvSpPr/>
          <p:nvPr/>
        </p:nvSpPr>
        <p:spPr>
          <a:xfrm>
            <a:off x="457200" y="3931920"/>
            <a:ext cx="2011680" cy="18288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4480560"/>
            <a:ext cx="2011680" cy="731520"/>
          </a:xfrm>
          <a:prstGeom prst="rect">
            <a:avLst/>
          </a:prstGeom>
          <a:noFill/>
        </p:spPr>
        <p:txBody>
          <a:bodyPr wrap="square">
            <a:spAutoFit/>
          </a:bodyPr>
          <a:lstStyle/>
          <a:p>
            <a:pPr algn="ctr">
              <a:defRPr sz="1800" b="1">
                <a:solidFill>
                  <a:srgbClr val="FFFFFF"/>
                </a:solidFill>
                <a:latin typeface="Calibri"/>
              </a:defRPr>
            </a:pPr>
            <a:r>
              <a:t>Containers</a:t>
            </a:r>
          </a:p>
        </p:txBody>
      </p:sp>
      <p:sp>
        <p:nvSpPr>
          <p:cNvPr id="17" name="Rounded Rectangle 16"/>
          <p:cNvSpPr/>
          <p:nvPr/>
        </p:nvSpPr>
        <p:spPr>
          <a:xfrm>
            <a:off x="2743200" y="3931920"/>
            <a:ext cx="2011680" cy="182880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43200" y="4480560"/>
            <a:ext cx="2011680" cy="731520"/>
          </a:xfrm>
          <a:prstGeom prst="rect">
            <a:avLst/>
          </a:prstGeom>
          <a:noFill/>
        </p:spPr>
        <p:txBody>
          <a:bodyPr wrap="square">
            <a:spAutoFit/>
          </a:bodyPr>
          <a:lstStyle/>
          <a:p>
            <a:pPr algn="ctr">
              <a:defRPr sz="1800" b="1">
                <a:solidFill>
                  <a:srgbClr val="FFFFFF"/>
                </a:solidFill>
                <a:latin typeface="Calibri"/>
              </a:defRPr>
            </a:pPr>
            <a:r>
              <a:t>Observability</a:t>
            </a:r>
          </a:p>
        </p:txBody>
      </p:sp>
      <p:sp>
        <p:nvSpPr>
          <p:cNvPr id="19" name="Rounded Rectangle 18"/>
          <p:cNvSpPr/>
          <p:nvPr/>
        </p:nvSpPr>
        <p:spPr>
          <a:xfrm>
            <a:off x="5029200" y="3931920"/>
            <a:ext cx="2011680" cy="1828800"/>
          </a:xfrm>
          <a:prstGeom prst="roundRect">
            <a:avLst>
              <a:gd name="adj" fmla="val 10000"/>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0" y="4480560"/>
            <a:ext cx="2011680" cy="731520"/>
          </a:xfrm>
          <a:prstGeom prst="rect">
            <a:avLst/>
          </a:prstGeom>
          <a:noFill/>
        </p:spPr>
        <p:txBody>
          <a:bodyPr wrap="square">
            <a:spAutoFit/>
          </a:bodyPr>
          <a:lstStyle/>
          <a:p>
            <a:pPr algn="ctr">
              <a:defRPr sz="1800" b="1">
                <a:solidFill>
                  <a:srgbClr val="FFFFFF"/>
                </a:solidFill>
                <a:latin typeface="Calibri"/>
              </a:defRPr>
            </a:pPr>
            <a:r>
              <a:t>Cybersecurity</a:t>
            </a:r>
          </a:p>
        </p:txBody>
      </p:sp>
      <p:sp>
        <p:nvSpPr>
          <p:cNvPr id="21" name="Rounded Rectangle 20"/>
          <p:cNvSpPr/>
          <p:nvPr/>
        </p:nvSpPr>
        <p:spPr>
          <a:xfrm>
            <a:off x="7315200" y="3931920"/>
            <a:ext cx="2011680" cy="1828800"/>
          </a:xfrm>
          <a:prstGeom prst="roundRect">
            <a:avLst>
              <a:gd name="adj" fmla="val 10000"/>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0" y="4480560"/>
            <a:ext cx="2011680" cy="731520"/>
          </a:xfrm>
          <a:prstGeom prst="rect">
            <a:avLst/>
          </a:prstGeom>
          <a:noFill/>
        </p:spPr>
        <p:txBody>
          <a:bodyPr wrap="square">
            <a:spAutoFit/>
          </a:bodyPr>
          <a:lstStyle/>
          <a:p>
            <a:pPr algn="ctr">
              <a:defRPr sz="1800" b="1">
                <a:solidFill>
                  <a:srgbClr val="FFFFFF"/>
                </a:solidFill>
                <a:latin typeface="Calibri"/>
              </a:defRPr>
            </a:pPr>
            <a:r>
              <a:t>Data Engineering</a:t>
            </a:r>
          </a:p>
        </p:txBody>
      </p:sp>
      <p:sp>
        <p:nvSpPr>
          <p:cNvPr id="23" name="Rounded Rectangle 22"/>
          <p:cNvSpPr/>
          <p:nvPr/>
        </p:nvSpPr>
        <p:spPr>
          <a:xfrm>
            <a:off x="9601200" y="3931920"/>
            <a:ext cx="2011680" cy="1828800"/>
          </a:xfrm>
          <a:prstGeom prst="roundRect">
            <a:avLst>
              <a:gd name="adj" fmla="val 10000"/>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01200" y="4480560"/>
            <a:ext cx="2011680" cy="731520"/>
          </a:xfrm>
          <a:prstGeom prst="rect">
            <a:avLst/>
          </a:prstGeom>
          <a:noFill/>
        </p:spPr>
        <p:txBody>
          <a:bodyPr wrap="square">
            <a:spAutoFit/>
          </a:bodyPr>
          <a:lstStyle/>
          <a:p>
            <a:pPr algn="ctr">
              <a:defRPr sz="1800" b="1">
                <a:solidFill>
                  <a:srgbClr val="FFFFFF"/>
                </a:solidFill>
                <a:latin typeface="Calibri"/>
              </a:defRPr>
            </a:pPr>
            <a:r>
              <a:t>AI Engineering</a:t>
            </a:r>
          </a:p>
        </p:txBody>
      </p:sp>
      <p:sp>
        <p:nvSpPr>
          <p:cNvPr id="25" name="Rectangle 24"/>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Traditional vs Modern Software</a:t>
            </a:r>
          </a:p>
        </p:txBody>
      </p:sp>
      <p:sp>
        <p:nvSpPr>
          <p:cNvPr id="5" name="Rounded Rectangle 4"/>
          <p:cNvSpPr/>
          <p:nvPr/>
        </p:nvSpPr>
        <p:spPr>
          <a:xfrm>
            <a:off x="731520" y="1463040"/>
            <a:ext cx="5029200" cy="47548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54480"/>
            <a:ext cx="5029200" cy="457200"/>
          </a:xfrm>
          <a:prstGeom prst="rect">
            <a:avLst/>
          </a:prstGeom>
          <a:noFill/>
        </p:spPr>
        <p:txBody>
          <a:bodyPr wrap="square">
            <a:spAutoFit/>
          </a:bodyPr>
          <a:lstStyle/>
          <a:p>
            <a:pPr algn="ctr">
              <a:defRPr sz="2400" b="1">
                <a:solidFill>
                  <a:srgbClr val="FFFFFF"/>
                </a:solidFill>
                <a:latin typeface="Calibri"/>
              </a:defRPr>
            </a:pPr>
            <a:r>
              <a:t>TRADITIONAL</a:t>
            </a:r>
          </a:p>
        </p:txBody>
      </p:sp>
      <p:sp>
        <p:nvSpPr>
          <p:cNvPr id="7" name="Rounded Rectangle 6"/>
          <p:cNvSpPr/>
          <p:nvPr/>
        </p:nvSpPr>
        <p:spPr>
          <a:xfrm>
            <a:off x="1371600" y="2286000"/>
            <a:ext cx="3657600" cy="7315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2377440"/>
            <a:ext cx="3657600" cy="548640"/>
          </a:xfrm>
          <a:prstGeom prst="rect">
            <a:avLst/>
          </a:prstGeom>
          <a:noFill/>
        </p:spPr>
        <p:txBody>
          <a:bodyPr wrap="square">
            <a:spAutoFit/>
          </a:bodyPr>
          <a:lstStyle/>
          <a:p>
            <a:pPr algn="ctr">
              <a:defRPr sz="2000" b="1">
                <a:solidFill>
                  <a:srgbClr val="FFFFFF"/>
                </a:solidFill>
                <a:latin typeface="Calibri"/>
              </a:defRPr>
            </a:pPr>
            <a:r>
              <a:t>Application</a:t>
            </a:r>
          </a:p>
        </p:txBody>
      </p:sp>
      <p:sp>
        <p:nvSpPr>
          <p:cNvPr id="9" name="Down Arrow 8"/>
          <p:cNvSpPr/>
          <p:nvPr/>
        </p:nvSpPr>
        <p:spPr>
          <a:xfrm>
            <a:off x="3063240" y="3017520"/>
            <a:ext cx="274320" cy="365760"/>
          </a:xfrm>
          <a:prstGeom prst="down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371600" y="3383280"/>
            <a:ext cx="3657600" cy="7315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71600" y="3474720"/>
            <a:ext cx="3657600" cy="548640"/>
          </a:xfrm>
          <a:prstGeom prst="rect">
            <a:avLst/>
          </a:prstGeom>
          <a:noFill/>
        </p:spPr>
        <p:txBody>
          <a:bodyPr wrap="square">
            <a:spAutoFit/>
          </a:bodyPr>
          <a:lstStyle/>
          <a:p>
            <a:pPr algn="ctr">
              <a:defRPr sz="2000" b="1">
                <a:solidFill>
                  <a:srgbClr val="FFFFFF"/>
                </a:solidFill>
                <a:latin typeface="Calibri"/>
              </a:defRPr>
            </a:pPr>
            <a:r>
              <a:t>Server</a:t>
            </a:r>
          </a:p>
        </p:txBody>
      </p:sp>
      <p:sp>
        <p:nvSpPr>
          <p:cNvPr id="12" name="Down Arrow 11"/>
          <p:cNvSpPr/>
          <p:nvPr/>
        </p:nvSpPr>
        <p:spPr>
          <a:xfrm>
            <a:off x="3063240" y="4114800"/>
            <a:ext cx="274320" cy="365760"/>
          </a:xfrm>
          <a:prstGeom prst="down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371600" y="4480560"/>
            <a:ext cx="3657600" cy="7315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0" y="4572000"/>
            <a:ext cx="3657600" cy="548640"/>
          </a:xfrm>
          <a:prstGeom prst="rect">
            <a:avLst/>
          </a:prstGeom>
          <a:noFill/>
        </p:spPr>
        <p:txBody>
          <a:bodyPr wrap="square">
            <a:spAutoFit/>
          </a:bodyPr>
          <a:lstStyle/>
          <a:p>
            <a:pPr algn="ctr">
              <a:defRPr sz="2000" b="1">
                <a:solidFill>
                  <a:srgbClr val="FFFFFF"/>
                </a:solidFill>
                <a:latin typeface="Calibri"/>
              </a:defRPr>
            </a:pPr>
            <a:r>
              <a:t>Database</a:t>
            </a:r>
          </a:p>
        </p:txBody>
      </p:sp>
      <p:sp>
        <p:nvSpPr>
          <p:cNvPr id="15" name="Rounded Rectangle 14"/>
          <p:cNvSpPr/>
          <p:nvPr/>
        </p:nvSpPr>
        <p:spPr>
          <a:xfrm>
            <a:off x="6400800" y="1463040"/>
            <a:ext cx="5029200" cy="47548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554480"/>
            <a:ext cx="5029200" cy="457200"/>
          </a:xfrm>
          <a:prstGeom prst="rect">
            <a:avLst/>
          </a:prstGeom>
          <a:noFill/>
        </p:spPr>
        <p:txBody>
          <a:bodyPr wrap="square">
            <a:spAutoFit/>
          </a:bodyPr>
          <a:lstStyle/>
          <a:p>
            <a:pPr algn="ctr">
              <a:defRPr sz="2400" b="1">
                <a:solidFill>
                  <a:srgbClr val="FFFFFF"/>
                </a:solidFill>
                <a:latin typeface="Calibri"/>
              </a:defRPr>
            </a:pPr>
            <a:r>
              <a:t>MODERN</a:t>
            </a:r>
          </a:p>
        </p:txBody>
      </p:sp>
      <p:sp>
        <p:nvSpPr>
          <p:cNvPr id="17" name="Rounded Rectangle 16"/>
          <p:cNvSpPr/>
          <p:nvPr/>
        </p:nvSpPr>
        <p:spPr>
          <a:xfrm>
            <a:off x="6858000" y="2103120"/>
            <a:ext cx="4114800" cy="59436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0" y="2148840"/>
            <a:ext cx="4114800" cy="502920"/>
          </a:xfrm>
          <a:prstGeom prst="rect">
            <a:avLst/>
          </a:prstGeom>
          <a:noFill/>
        </p:spPr>
        <p:txBody>
          <a:bodyPr wrap="square">
            <a:spAutoFit/>
          </a:bodyPr>
          <a:lstStyle/>
          <a:p>
            <a:pPr algn="ctr">
              <a:defRPr sz="1800" b="1">
                <a:solidFill>
                  <a:srgbClr val="FFFFFF"/>
                </a:solidFill>
                <a:latin typeface="Calibri"/>
              </a:defRPr>
            </a:pPr>
            <a:r>
              <a:t>Frontend</a:t>
            </a:r>
          </a:p>
        </p:txBody>
      </p:sp>
      <p:sp>
        <p:nvSpPr>
          <p:cNvPr id="19" name="Rounded Rectangle 18"/>
          <p:cNvSpPr/>
          <p:nvPr/>
        </p:nvSpPr>
        <p:spPr>
          <a:xfrm>
            <a:off x="6858000" y="2880360"/>
            <a:ext cx="4114800" cy="59436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2926080"/>
            <a:ext cx="4114800" cy="502920"/>
          </a:xfrm>
          <a:prstGeom prst="rect">
            <a:avLst/>
          </a:prstGeom>
          <a:noFill/>
        </p:spPr>
        <p:txBody>
          <a:bodyPr wrap="square">
            <a:spAutoFit/>
          </a:bodyPr>
          <a:lstStyle/>
          <a:p>
            <a:pPr algn="ctr">
              <a:defRPr sz="1800" b="1">
                <a:solidFill>
                  <a:srgbClr val="FFFFFF"/>
                </a:solidFill>
                <a:latin typeface="Calibri"/>
              </a:defRPr>
            </a:pPr>
            <a:r>
              <a:t>API Gateway</a:t>
            </a:r>
          </a:p>
        </p:txBody>
      </p:sp>
      <p:sp>
        <p:nvSpPr>
          <p:cNvPr id="21" name="Rounded Rectangle 20"/>
          <p:cNvSpPr/>
          <p:nvPr/>
        </p:nvSpPr>
        <p:spPr>
          <a:xfrm>
            <a:off x="6858000" y="3657600"/>
            <a:ext cx="4114800" cy="59436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0" y="3703320"/>
            <a:ext cx="4114800" cy="502920"/>
          </a:xfrm>
          <a:prstGeom prst="rect">
            <a:avLst/>
          </a:prstGeom>
          <a:noFill/>
        </p:spPr>
        <p:txBody>
          <a:bodyPr wrap="square">
            <a:spAutoFit/>
          </a:bodyPr>
          <a:lstStyle/>
          <a:p>
            <a:pPr algn="ctr">
              <a:defRPr sz="1800" b="1">
                <a:solidFill>
                  <a:srgbClr val="FFFFFF"/>
                </a:solidFill>
                <a:latin typeface="Calibri"/>
              </a:defRPr>
            </a:pPr>
            <a:r>
              <a:t>Microservices</a:t>
            </a:r>
          </a:p>
        </p:txBody>
      </p:sp>
      <p:sp>
        <p:nvSpPr>
          <p:cNvPr id="23" name="Rounded Rectangle 22"/>
          <p:cNvSpPr/>
          <p:nvPr/>
        </p:nvSpPr>
        <p:spPr>
          <a:xfrm>
            <a:off x="6858000" y="4434840"/>
            <a:ext cx="4114800" cy="59436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0" y="4480560"/>
            <a:ext cx="4114800" cy="502920"/>
          </a:xfrm>
          <a:prstGeom prst="rect">
            <a:avLst/>
          </a:prstGeom>
          <a:noFill/>
        </p:spPr>
        <p:txBody>
          <a:bodyPr wrap="square">
            <a:spAutoFit/>
          </a:bodyPr>
          <a:lstStyle/>
          <a:p>
            <a:pPr algn="ctr">
              <a:defRPr sz="1800" b="1">
                <a:solidFill>
                  <a:srgbClr val="FFFFFF"/>
                </a:solidFill>
                <a:latin typeface="Calibri"/>
              </a:defRPr>
            </a:pPr>
            <a:r>
              <a:t>Databases</a:t>
            </a:r>
          </a:p>
        </p:txBody>
      </p:sp>
      <p:sp>
        <p:nvSpPr>
          <p:cNvPr id="25" name="Rounded Rectangle 24"/>
          <p:cNvSpPr/>
          <p:nvPr/>
        </p:nvSpPr>
        <p:spPr>
          <a:xfrm>
            <a:off x="6858000" y="5212079"/>
            <a:ext cx="4114800" cy="59436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0" y="5257800"/>
            <a:ext cx="4114800" cy="502920"/>
          </a:xfrm>
          <a:prstGeom prst="rect">
            <a:avLst/>
          </a:prstGeom>
          <a:noFill/>
        </p:spPr>
        <p:txBody>
          <a:bodyPr wrap="square">
            <a:spAutoFit/>
          </a:bodyPr>
          <a:lstStyle/>
          <a:p>
            <a:pPr algn="ctr">
              <a:defRPr sz="1800" b="1">
                <a:solidFill>
                  <a:srgbClr val="FFFFFF"/>
                </a:solidFill>
                <a:latin typeface="Calibri"/>
              </a:defRPr>
            </a:pPr>
            <a:r>
              <a:t>Cloud</a:t>
            </a:r>
          </a:p>
        </p:txBody>
      </p:sp>
      <p:sp>
        <p:nvSpPr>
          <p:cNvPr id="27" name="Rectangle 26"/>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DevOps Connection</a:t>
            </a:r>
          </a:p>
        </p:txBody>
      </p:sp>
      <p:sp>
        <p:nvSpPr>
          <p:cNvPr id="5" name="Oval 4"/>
          <p:cNvSpPr/>
          <p:nvPr/>
        </p:nvSpPr>
        <p:spPr>
          <a:xfrm>
            <a:off x="3657600" y="2286000"/>
            <a:ext cx="2743200" cy="27432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0" y="2971800"/>
            <a:ext cx="2743200" cy="1371600"/>
          </a:xfrm>
          <a:prstGeom prst="rect">
            <a:avLst/>
          </a:prstGeom>
          <a:noFill/>
        </p:spPr>
        <p:txBody>
          <a:bodyPr wrap="none">
            <a:spAutoFit/>
          </a:bodyPr>
          <a:lstStyle/>
          <a:p>
            <a:pPr algn="ctr">
              <a:defRPr sz="2800" b="1">
                <a:solidFill>
                  <a:srgbClr val="FFFFFF"/>
                </a:solidFill>
              </a:defRPr>
            </a:pPr>
            <a:r>
              <a:t>DEV</a:t>
            </a:r>
          </a:p>
        </p:txBody>
      </p:sp>
      <p:sp>
        <p:nvSpPr>
          <p:cNvPr id="7" name="Oval 6"/>
          <p:cNvSpPr/>
          <p:nvPr/>
        </p:nvSpPr>
        <p:spPr>
          <a:xfrm>
            <a:off x="5760720" y="2286000"/>
            <a:ext cx="2743200" cy="274320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0" y="2971800"/>
            <a:ext cx="2743200" cy="1371600"/>
          </a:xfrm>
          <a:prstGeom prst="rect">
            <a:avLst/>
          </a:prstGeom>
          <a:noFill/>
        </p:spPr>
        <p:txBody>
          <a:bodyPr wrap="none">
            <a:spAutoFit/>
          </a:bodyPr>
          <a:lstStyle/>
          <a:p>
            <a:pPr algn="ctr">
              <a:defRPr sz="2800" b="1">
                <a:solidFill>
                  <a:srgbClr val="FFFFFF"/>
                </a:solidFill>
              </a:defRPr>
            </a:pPr>
            <a:r>
              <a:t>OPS</a:t>
            </a:r>
          </a:p>
        </p:txBody>
      </p:sp>
      <p:sp>
        <p:nvSpPr>
          <p:cNvPr id="9" name="Rounded Rectangle 8"/>
          <p:cNvSpPr/>
          <p:nvPr/>
        </p:nvSpPr>
        <p:spPr>
          <a:xfrm>
            <a:off x="914400" y="5029200"/>
            <a:ext cx="3017520" cy="59436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5120640"/>
            <a:ext cx="3017520" cy="411480"/>
          </a:xfrm>
          <a:prstGeom prst="rect">
            <a:avLst/>
          </a:prstGeom>
          <a:noFill/>
        </p:spPr>
        <p:txBody>
          <a:bodyPr wrap="square">
            <a:spAutoFit/>
          </a:bodyPr>
          <a:lstStyle/>
          <a:p>
            <a:pPr algn="ctr">
              <a:defRPr sz="1800" b="1">
                <a:solidFill>
                  <a:srgbClr val="FFFFFF"/>
                </a:solidFill>
                <a:latin typeface="Calibri"/>
              </a:defRPr>
            </a:pPr>
            <a:r>
              <a:t>Automation</a:t>
            </a:r>
          </a:p>
        </p:txBody>
      </p:sp>
      <p:sp>
        <p:nvSpPr>
          <p:cNvPr id="11" name="Rounded Rectangle 10"/>
          <p:cNvSpPr/>
          <p:nvPr/>
        </p:nvSpPr>
        <p:spPr>
          <a:xfrm>
            <a:off x="4389120" y="5029200"/>
            <a:ext cx="3017520" cy="59436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0" y="5120640"/>
            <a:ext cx="3017520" cy="411480"/>
          </a:xfrm>
          <a:prstGeom prst="rect">
            <a:avLst/>
          </a:prstGeom>
          <a:noFill/>
        </p:spPr>
        <p:txBody>
          <a:bodyPr wrap="square">
            <a:spAutoFit/>
          </a:bodyPr>
          <a:lstStyle/>
          <a:p>
            <a:pPr algn="ctr">
              <a:defRPr sz="1800" b="1">
                <a:solidFill>
                  <a:srgbClr val="FFFFFF"/>
                </a:solidFill>
                <a:latin typeface="Calibri"/>
              </a:defRPr>
            </a:pPr>
            <a:r>
              <a:t>CI/CD</a:t>
            </a:r>
          </a:p>
        </p:txBody>
      </p:sp>
      <p:sp>
        <p:nvSpPr>
          <p:cNvPr id="13" name="Rounded Rectangle 12"/>
          <p:cNvSpPr/>
          <p:nvPr/>
        </p:nvSpPr>
        <p:spPr>
          <a:xfrm>
            <a:off x="7863840" y="5029200"/>
            <a:ext cx="3017520" cy="59436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0" y="5120640"/>
            <a:ext cx="3017520" cy="411480"/>
          </a:xfrm>
          <a:prstGeom prst="rect">
            <a:avLst/>
          </a:prstGeom>
          <a:noFill/>
        </p:spPr>
        <p:txBody>
          <a:bodyPr wrap="square">
            <a:spAutoFit/>
          </a:bodyPr>
          <a:lstStyle/>
          <a:p>
            <a:pPr algn="ctr">
              <a:defRPr sz="1800" b="1">
                <a:solidFill>
                  <a:srgbClr val="FFFFFF"/>
                </a:solidFill>
                <a:latin typeface="Calibri"/>
              </a:defRPr>
            </a:pPr>
            <a:r>
              <a:t>Deployment</a:t>
            </a:r>
          </a:p>
        </p:txBody>
      </p:sp>
      <p:sp>
        <p:nvSpPr>
          <p:cNvPr id="15" name="Rounded Rectangle 14"/>
          <p:cNvSpPr/>
          <p:nvPr/>
        </p:nvSpPr>
        <p:spPr>
          <a:xfrm>
            <a:off x="914400" y="5760720"/>
            <a:ext cx="3017520" cy="59436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5852160"/>
            <a:ext cx="3017520" cy="411480"/>
          </a:xfrm>
          <a:prstGeom prst="rect">
            <a:avLst/>
          </a:prstGeom>
          <a:noFill/>
        </p:spPr>
        <p:txBody>
          <a:bodyPr wrap="square">
            <a:spAutoFit/>
          </a:bodyPr>
          <a:lstStyle/>
          <a:p>
            <a:pPr algn="ctr">
              <a:defRPr sz="1800" b="1">
                <a:solidFill>
                  <a:srgbClr val="FFFFFF"/>
                </a:solidFill>
                <a:latin typeface="Calibri"/>
              </a:defRPr>
            </a:pPr>
            <a:r>
              <a:t>Infrastructure</a:t>
            </a:r>
          </a:p>
        </p:txBody>
      </p:sp>
      <p:sp>
        <p:nvSpPr>
          <p:cNvPr id="17" name="Rounded Rectangle 16"/>
          <p:cNvSpPr/>
          <p:nvPr/>
        </p:nvSpPr>
        <p:spPr>
          <a:xfrm>
            <a:off x="4389120" y="5760720"/>
            <a:ext cx="3017520" cy="59436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0" y="5852160"/>
            <a:ext cx="3017520" cy="411480"/>
          </a:xfrm>
          <a:prstGeom prst="rect">
            <a:avLst/>
          </a:prstGeom>
          <a:noFill/>
        </p:spPr>
        <p:txBody>
          <a:bodyPr wrap="square">
            <a:spAutoFit/>
          </a:bodyPr>
          <a:lstStyle/>
          <a:p>
            <a:pPr algn="ctr">
              <a:defRPr sz="1800" b="1">
                <a:solidFill>
                  <a:srgbClr val="FFFFFF"/>
                </a:solidFill>
                <a:latin typeface="Calibri"/>
              </a:defRPr>
            </a:pPr>
            <a:r>
              <a:t>Monitoring</a:t>
            </a:r>
          </a:p>
        </p:txBody>
      </p:sp>
      <p:sp>
        <p:nvSpPr>
          <p:cNvPr id="19" name="Rounded Rectangle 18"/>
          <p:cNvSpPr/>
          <p:nvPr/>
        </p:nvSpPr>
        <p:spPr>
          <a:xfrm>
            <a:off x="7863840" y="5760720"/>
            <a:ext cx="3017520" cy="5943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0" y="5852160"/>
            <a:ext cx="3017520" cy="411480"/>
          </a:xfrm>
          <a:prstGeom prst="rect">
            <a:avLst/>
          </a:prstGeom>
          <a:noFill/>
        </p:spPr>
        <p:txBody>
          <a:bodyPr wrap="square">
            <a:spAutoFit/>
          </a:bodyPr>
          <a:lstStyle/>
          <a:p>
            <a:pPr algn="ctr">
              <a:defRPr sz="1800" b="1">
                <a:solidFill>
                  <a:srgbClr val="FFFFFF"/>
                </a:solidFill>
                <a:latin typeface="Calibri"/>
              </a:defRPr>
            </a:pPr>
            <a:r>
              <a:t>Collaboration</a:t>
            </a:r>
          </a:p>
        </p:txBody>
      </p:sp>
      <p:sp>
        <p:nvSpPr>
          <p:cNvPr id="21" name="Rectangle 20"/>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Software Engineering + AI</a:t>
            </a:r>
          </a:p>
        </p:txBody>
      </p:sp>
      <p:sp>
        <p:nvSpPr>
          <p:cNvPr id="5" name="Rounded Rectangle 4"/>
          <p:cNvSpPr/>
          <p:nvPr/>
        </p:nvSpPr>
        <p:spPr>
          <a:xfrm>
            <a:off x="731520" y="1463040"/>
            <a:ext cx="5029200" cy="47548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54480"/>
            <a:ext cx="5029200" cy="457200"/>
          </a:xfrm>
          <a:prstGeom prst="rect">
            <a:avLst/>
          </a:prstGeom>
          <a:noFill/>
        </p:spPr>
        <p:txBody>
          <a:bodyPr wrap="square">
            <a:spAutoFit/>
          </a:bodyPr>
          <a:lstStyle/>
          <a:p>
            <a:pPr algn="ctr">
              <a:defRPr sz="2200" b="1">
                <a:solidFill>
                  <a:srgbClr val="FFFFFF"/>
                </a:solidFill>
                <a:latin typeface="Calibri"/>
              </a:defRPr>
            </a:pPr>
            <a:r>
              <a:t>1. Building AI-Powered Software</a:t>
            </a:r>
          </a:p>
        </p:txBody>
      </p:sp>
      <p:sp>
        <p:nvSpPr>
          <p:cNvPr id="7" name="TextBox 6"/>
          <p:cNvSpPr txBox="1"/>
          <p:nvPr/>
        </p:nvSpPr>
        <p:spPr>
          <a:xfrm>
            <a:off x="1188720" y="2286000"/>
            <a:ext cx="4114800" cy="365760"/>
          </a:xfrm>
          <a:prstGeom prst="rect">
            <a:avLst/>
          </a:prstGeom>
          <a:noFill/>
        </p:spPr>
        <p:txBody>
          <a:bodyPr wrap="square">
            <a:spAutoFit/>
          </a:bodyPr>
          <a:lstStyle/>
          <a:p>
            <a:pPr algn="l">
              <a:defRPr sz="1800" b="0">
                <a:solidFill>
                  <a:srgbClr val="FFFFFF"/>
                </a:solidFill>
                <a:latin typeface="Calibri"/>
              </a:defRPr>
            </a:pPr>
            <a:r>
              <a:t>• Chatbots</a:t>
            </a:r>
          </a:p>
        </p:txBody>
      </p:sp>
      <p:sp>
        <p:nvSpPr>
          <p:cNvPr id="8" name="TextBox 7"/>
          <p:cNvSpPr txBox="1"/>
          <p:nvPr/>
        </p:nvSpPr>
        <p:spPr>
          <a:xfrm>
            <a:off x="1188720" y="2834640"/>
            <a:ext cx="4114800" cy="365760"/>
          </a:xfrm>
          <a:prstGeom prst="rect">
            <a:avLst/>
          </a:prstGeom>
          <a:noFill/>
        </p:spPr>
        <p:txBody>
          <a:bodyPr wrap="square">
            <a:spAutoFit/>
          </a:bodyPr>
          <a:lstStyle/>
          <a:p>
            <a:pPr algn="l">
              <a:defRPr sz="1800" b="0">
                <a:solidFill>
                  <a:srgbClr val="FFFFFF"/>
                </a:solidFill>
                <a:latin typeface="Calibri"/>
              </a:defRPr>
            </a:pPr>
            <a:r>
              <a:t>• Recommendation Systems</a:t>
            </a:r>
          </a:p>
        </p:txBody>
      </p:sp>
      <p:sp>
        <p:nvSpPr>
          <p:cNvPr id="9" name="TextBox 8"/>
          <p:cNvSpPr txBox="1"/>
          <p:nvPr/>
        </p:nvSpPr>
        <p:spPr>
          <a:xfrm>
            <a:off x="1188720" y="3383280"/>
            <a:ext cx="4114800" cy="365760"/>
          </a:xfrm>
          <a:prstGeom prst="rect">
            <a:avLst/>
          </a:prstGeom>
          <a:noFill/>
        </p:spPr>
        <p:txBody>
          <a:bodyPr wrap="square">
            <a:spAutoFit/>
          </a:bodyPr>
          <a:lstStyle/>
          <a:p>
            <a:pPr algn="l">
              <a:defRPr sz="1800" b="0">
                <a:solidFill>
                  <a:srgbClr val="FFFFFF"/>
                </a:solidFill>
                <a:latin typeface="Calibri"/>
              </a:defRPr>
            </a:pPr>
            <a:r>
              <a:t>• Fraud Detection</a:t>
            </a:r>
          </a:p>
        </p:txBody>
      </p:sp>
      <p:sp>
        <p:nvSpPr>
          <p:cNvPr id="10" name="TextBox 9"/>
          <p:cNvSpPr txBox="1"/>
          <p:nvPr/>
        </p:nvSpPr>
        <p:spPr>
          <a:xfrm>
            <a:off x="1188720" y="3931920"/>
            <a:ext cx="4114800" cy="365760"/>
          </a:xfrm>
          <a:prstGeom prst="rect">
            <a:avLst/>
          </a:prstGeom>
          <a:noFill/>
        </p:spPr>
        <p:txBody>
          <a:bodyPr wrap="square">
            <a:spAutoFit/>
          </a:bodyPr>
          <a:lstStyle/>
          <a:p>
            <a:pPr algn="l">
              <a:defRPr sz="1800" b="0">
                <a:solidFill>
                  <a:srgbClr val="FFFFFF"/>
                </a:solidFill>
                <a:latin typeface="Calibri"/>
              </a:defRPr>
            </a:pPr>
            <a:r>
              <a:t>• Computer Vision</a:t>
            </a:r>
          </a:p>
        </p:txBody>
      </p:sp>
      <p:sp>
        <p:nvSpPr>
          <p:cNvPr id="11" name="TextBox 10"/>
          <p:cNvSpPr txBox="1"/>
          <p:nvPr/>
        </p:nvSpPr>
        <p:spPr>
          <a:xfrm>
            <a:off x="1188720" y="4480560"/>
            <a:ext cx="4114800" cy="365760"/>
          </a:xfrm>
          <a:prstGeom prst="rect">
            <a:avLst/>
          </a:prstGeom>
          <a:noFill/>
        </p:spPr>
        <p:txBody>
          <a:bodyPr wrap="square">
            <a:spAutoFit/>
          </a:bodyPr>
          <a:lstStyle/>
          <a:p>
            <a:pPr algn="l">
              <a:defRPr sz="1800" b="0">
                <a:solidFill>
                  <a:srgbClr val="FFFFFF"/>
                </a:solidFill>
                <a:latin typeface="Calibri"/>
              </a:defRPr>
            </a:pPr>
            <a:r>
              <a:t>• RAG Systems</a:t>
            </a:r>
          </a:p>
        </p:txBody>
      </p:sp>
      <p:sp>
        <p:nvSpPr>
          <p:cNvPr id="12" name="TextBox 11"/>
          <p:cNvSpPr txBox="1"/>
          <p:nvPr/>
        </p:nvSpPr>
        <p:spPr>
          <a:xfrm>
            <a:off x="1188720" y="5029200"/>
            <a:ext cx="4114800" cy="365760"/>
          </a:xfrm>
          <a:prstGeom prst="rect">
            <a:avLst/>
          </a:prstGeom>
          <a:noFill/>
        </p:spPr>
        <p:txBody>
          <a:bodyPr wrap="square">
            <a:spAutoFit/>
          </a:bodyPr>
          <a:lstStyle/>
          <a:p>
            <a:pPr algn="l">
              <a:defRPr sz="1800" b="0">
                <a:solidFill>
                  <a:srgbClr val="FFFFFF"/>
                </a:solidFill>
                <a:latin typeface="Calibri"/>
              </a:defRPr>
            </a:pPr>
            <a:r>
              <a:t>• AI Agents</a:t>
            </a:r>
          </a:p>
        </p:txBody>
      </p:sp>
      <p:sp>
        <p:nvSpPr>
          <p:cNvPr id="13" name="Rounded Rectangle 12"/>
          <p:cNvSpPr/>
          <p:nvPr/>
        </p:nvSpPr>
        <p:spPr>
          <a:xfrm>
            <a:off x="6400800" y="1463040"/>
            <a:ext cx="5029200" cy="47548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554480"/>
            <a:ext cx="5029200" cy="457200"/>
          </a:xfrm>
          <a:prstGeom prst="rect">
            <a:avLst/>
          </a:prstGeom>
          <a:noFill/>
        </p:spPr>
        <p:txBody>
          <a:bodyPr wrap="square">
            <a:spAutoFit/>
          </a:bodyPr>
          <a:lstStyle/>
          <a:p>
            <a:pPr algn="ctr">
              <a:defRPr sz="2200" b="1">
                <a:solidFill>
                  <a:srgbClr val="FFFFFF"/>
                </a:solidFill>
                <a:latin typeface="Calibri"/>
              </a:defRPr>
            </a:pPr>
            <a:r>
              <a:t>2. Using AI to Build Software</a:t>
            </a:r>
          </a:p>
        </p:txBody>
      </p:sp>
      <p:sp>
        <p:nvSpPr>
          <p:cNvPr id="15" name="TextBox 14"/>
          <p:cNvSpPr txBox="1"/>
          <p:nvPr/>
        </p:nvSpPr>
        <p:spPr>
          <a:xfrm>
            <a:off x="6858000" y="2286000"/>
            <a:ext cx="4114800" cy="365760"/>
          </a:xfrm>
          <a:prstGeom prst="rect">
            <a:avLst/>
          </a:prstGeom>
          <a:noFill/>
        </p:spPr>
        <p:txBody>
          <a:bodyPr wrap="square">
            <a:spAutoFit/>
          </a:bodyPr>
          <a:lstStyle/>
          <a:p>
            <a:pPr algn="l">
              <a:defRPr sz="1800" b="0">
                <a:solidFill>
                  <a:srgbClr val="FFFFFF"/>
                </a:solidFill>
                <a:latin typeface="Calibri"/>
              </a:defRPr>
            </a:pPr>
            <a:r>
              <a:t>• Code Generation</a:t>
            </a:r>
          </a:p>
        </p:txBody>
      </p:sp>
      <p:sp>
        <p:nvSpPr>
          <p:cNvPr id="16" name="TextBox 15"/>
          <p:cNvSpPr txBox="1"/>
          <p:nvPr/>
        </p:nvSpPr>
        <p:spPr>
          <a:xfrm>
            <a:off x="6858000" y="2834640"/>
            <a:ext cx="4114800" cy="365760"/>
          </a:xfrm>
          <a:prstGeom prst="rect">
            <a:avLst/>
          </a:prstGeom>
          <a:noFill/>
        </p:spPr>
        <p:txBody>
          <a:bodyPr wrap="square">
            <a:spAutoFit/>
          </a:bodyPr>
          <a:lstStyle/>
          <a:p>
            <a:pPr algn="l">
              <a:defRPr sz="1800" b="0">
                <a:solidFill>
                  <a:srgbClr val="FFFFFF"/>
                </a:solidFill>
                <a:latin typeface="Calibri"/>
              </a:defRPr>
            </a:pPr>
            <a:r>
              <a:t>• Debugging</a:t>
            </a:r>
          </a:p>
        </p:txBody>
      </p:sp>
      <p:sp>
        <p:nvSpPr>
          <p:cNvPr id="17" name="TextBox 16"/>
          <p:cNvSpPr txBox="1"/>
          <p:nvPr/>
        </p:nvSpPr>
        <p:spPr>
          <a:xfrm>
            <a:off x="6858000" y="3383280"/>
            <a:ext cx="4114800" cy="365760"/>
          </a:xfrm>
          <a:prstGeom prst="rect">
            <a:avLst/>
          </a:prstGeom>
          <a:noFill/>
        </p:spPr>
        <p:txBody>
          <a:bodyPr wrap="square">
            <a:spAutoFit/>
          </a:bodyPr>
          <a:lstStyle/>
          <a:p>
            <a:pPr algn="l">
              <a:defRPr sz="1800" b="0">
                <a:solidFill>
                  <a:srgbClr val="FFFFFF"/>
                </a:solidFill>
                <a:latin typeface="Calibri"/>
              </a:defRPr>
            </a:pPr>
            <a:r>
              <a:t>• Testing</a:t>
            </a:r>
          </a:p>
        </p:txBody>
      </p:sp>
      <p:sp>
        <p:nvSpPr>
          <p:cNvPr id="18" name="TextBox 17"/>
          <p:cNvSpPr txBox="1"/>
          <p:nvPr/>
        </p:nvSpPr>
        <p:spPr>
          <a:xfrm>
            <a:off x="6858000" y="3931920"/>
            <a:ext cx="4114800" cy="365760"/>
          </a:xfrm>
          <a:prstGeom prst="rect">
            <a:avLst/>
          </a:prstGeom>
          <a:noFill/>
        </p:spPr>
        <p:txBody>
          <a:bodyPr wrap="square">
            <a:spAutoFit/>
          </a:bodyPr>
          <a:lstStyle/>
          <a:p>
            <a:pPr algn="l">
              <a:defRPr sz="1800" b="0">
                <a:solidFill>
                  <a:srgbClr val="FFFFFF"/>
                </a:solidFill>
                <a:latin typeface="Calibri"/>
              </a:defRPr>
            </a:pPr>
            <a:r>
              <a:t>• Documentation</a:t>
            </a:r>
          </a:p>
        </p:txBody>
      </p:sp>
      <p:sp>
        <p:nvSpPr>
          <p:cNvPr id="19" name="TextBox 18"/>
          <p:cNvSpPr txBox="1"/>
          <p:nvPr/>
        </p:nvSpPr>
        <p:spPr>
          <a:xfrm>
            <a:off x="6858000" y="4480560"/>
            <a:ext cx="4114800" cy="365760"/>
          </a:xfrm>
          <a:prstGeom prst="rect">
            <a:avLst/>
          </a:prstGeom>
          <a:noFill/>
        </p:spPr>
        <p:txBody>
          <a:bodyPr wrap="square">
            <a:spAutoFit/>
          </a:bodyPr>
          <a:lstStyle/>
          <a:p>
            <a:pPr algn="l">
              <a:defRPr sz="1800" b="0">
                <a:solidFill>
                  <a:srgbClr val="FFFFFF"/>
                </a:solidFill>
                <a:latin typeface="Calibri"/>
              </a:defRPr>
            </a:pPr>
            <a:r>
              <a:t>• Code Review</a:t>
            </a:r>
          </a:p>
        </p:txBody>
      </p:sp>
      <p:sp>
        <p:nvSpPr>
          <p:cNvPr id="20" name="TextBox 19"/>
          <p:cNvSpPr txBox="1"/>
          <p:nvPr/>
        </p:nvSpPr>
        <p:spPr>
          <a:xfrm>
            <a:off x="6858000" y="5029200"/>
            <a:ext cx="4114800" cy="365760"/>
          </a:xfrm>
          <a:prstGeom prst="rect">
            <a:avLst/>
          </a:prstGeom>
          <a:noFill/>
        </p:spPr>
        <p:txBody>
          <a:bodyPr wrap="square">
            <a:spAutoFit/>
          </a:bodyPr>
          <a:lstStyle/>
          <a:p>
            <a:pPr algn="l">
              <a:defRPr sz="1800" b="0">
                <a:solidFill>
                  <a:srgbClr val="FFFFFF"/>
                </a:solidFill>
                <a:latin typeface="Calibri"/>
              </a:defRPr>
            </a:pPr>
            <a:r>
              <a:t>• Refactoring</a:t>
            </a:r>
          </a:p>
        </p:txBody>
      </p:sp>
      <p:sp>
        <p:nvSpPr>
          <p:cNvPr id="21" name="Rectangle 20"/>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AI-Assisted Software Development</a:t>
            </a:r>
          </a:p>
        </p:txBody>
      </p:sp>
      <p:sp>
        <p:nvSpPr>
          <p:cNvPr id="5" name="Rounded Rectangle 4"/>
          <p:cNvSpPr/>
          <p:nvPr/>
        </p:nvSpPr>
        <p:spPr>
          <a:xfrm>
            <a:off x="457200" y="3200400"/>
            <a:ext cx="1463040" cy="9144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3200400"/>
            <a:ext cx="1463040" cy="914400"/>
          </a:xfrm>
          <a:prstGeom prst="rect">
            <a:avLst/>
          </a:prstGeom>
          <a:noFill/>
        </p:spPr>
        <p:txBody>
          <a:bodyPr wrap="square">
            <a:spAutoFit/>
          </a:bodyPr>
          <a:lstStyle/>
          <a:p>
            <a:pPr algn="ctr">
              <a:defRPr sz="1600" b="1">
                <a:solidFill>
                  <a:srgbClr val="FFFFFF"/>
                </a:solidFill>
                <a:latin typeface="Calibri"/>
              </a:defRPr>
            </a:pPr>
            <a:r>
              <a:t>Requirements</a:t>
            </a:r>
          </a:p>
        </p:txBody>
      </p:sp>
      <p:sp>
        <p:nvSpPr>
          <p:cNvPr id="7" name="Right Arrow 6"/>
          <p:cNvSpPr/>
          <p:nvPr/>
        </p:nvSpPr>
        <p:spPr>
          <a:xfrm>
            <a:off x="1920240"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029968" y="3200400"/>
            <a:ext cx="1463040" cy="9144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29968" y="3200400"/>
            <a:ext cx="1463040" cy="914400"/>
          </a:xfrm>
          <a:prstGeom prst="rect">
            <a:avLst/>
          </a:prstGeom>
          <a:noFill/>
        </p:spPr>
        <p:txBody>
          <a:bodyPr wrap="square">
            <a:spAutoFit/>
          </a:bodyPr>
          <a:lstStyle/>
          <a:p>
            <a:pPr algn="ctr">
              <a:defRPr sz="1600" b="1">
                <a:solidFill>
                  <a:srgbClr val="FFFFFF"/>
                </a:solidFill>
                <a:latin typeface="Calibri"/>
              </a:defRPr>
            </a:pPr>
            <a:r>
              <a:t>Design Assistance</a:t>
            </a:r>
          </a:p>
        </p:txBody>
      </p:sp>
      <p:sp>
        <p:nvSpPr>
          <p:cNvPr id="10" name="Right Arrow 9"/>
          <p:cNvSpPr/>
          <p:nvPr/>
        </p:nvSpPr>
        <p:spPr>
          <a:xfrm>
            <a:off x="3493008"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02736" y="3200400"/>
            <a:ext cx="1463040" cy="9144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02736" y="3200400"/>
            <a:ext cx="1463040" cy="914400"/>
          </a:xfrm>
          <a:prstGeom prst="rect">
            <a:avLst/>
          </a:prstGeom>
          <a:noFill/>
        </p:spPr>
        <p:txBody>
          <a:bodyPr wrap="square">
            <a:spAutoFit/>
          </a:bodyPr>
          <a:lstStyle/>
          <a:p>
            <a:pPr algn="ctr">
              <a:defRPr sz="1600" b="1">
                <a:solidFill>
                  <a:srgbClr val="FFFFFF"/>
                </a:solidFill>
                <a:latin typeface="Calibri"/>
              </a:defRPr>
            </a:pPr>
            <a:r>
              <a:t>Code Generation</a:t>
            </a:r>
          </a:p>
        </p:txBody>
      </p:sp>
      <p:sp>
        <p:nvSpPr>
          <p:cNvPr id="13" name="Right Arrow 12"/>
          <p:cNvSpPr/>
          <p:nvPr/>
        </p:nvSpPr>
        <p:spPr>
          <a:xfrm>
            <a:off x="5065776"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175504" y="3200400"/>
            <a:ext cx="1463040" cy="9144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75504" y="3200400"/>
            <a:ext cx="1463040" cy="914400"/>
          </a:xfrm>
          <a:prstGeom prst="rect">
            <a:avLst/>
          </a:prstGeom>
          <a:noFill/>
        </p:spPr>
        <p:txBody>
          <a:bodyPr wrap="square">
            <a:spAutoFit/>
          </a:bodyPr>
          <a:lstStyle/>
          <a:p>
            <a:pPr algn="ctr">
              <a:defRPr sz="1600" b="1">
                <a:solidFill>
                  <a:srgbClr val="FFFFFF"/>
                </a:solidFill>
                <a:latin typeface="Calibri"/>
              </a:defRPr>
            </a:pPr>
            <a:r>
              <a:t>Testing</a:t>
            </a:r>
          </a:p>
        </p:txBody>
      </p:sp>
      <p:sp>
        <p:nvSpPr>
          <p:cNvPr id="16" name="Right Arrow 15"/>
          <p:cNvSpPr/>
          <p:nvPr/>
        </p:nvSpPr>
        <p:spPr>
          <a:xfrm>
            <a:off x="6638544"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748272" y="3200400"/>
            <a:ext cx="1463040" cy="9144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48272" y="3200400"/>
            <a:ext cx="1463040" cy="914400"/>
          </a:xfrm>
          <a:prstGeom prst="rect">
            <a:avLst/>
          </a:prstGeom>
          <a:noFill/>
        </p:spPr>
        <p:txBody>
          <a:bodyPr wrap="square">
            <a:spAutoFit/>
          </a:bodyPr>
          <a:lstStyle/>
          <a:p>
            <a:pPr algn="ctr">
              <a:defRPr sz="1600" b="1">
                <a:solidFill>
                  <a:srgbClr val="FFFFFF"/>
                </a:solidFill>
                <a:latin typeface="Calibri"/>
              </a:defRPr>
            </a:pPr>
            <a:r>
              <a:t>Debugging</a:t>
            </a:r>
          </a:p>
        </p:txBody>
      </p:sp>
      <p:sp>
        <p:nvSpPr>
          <p:cNvPr id="19" name="Right Arrow 18"/>
          <p:cNvSpPr/>
          <p:nvPr/>
        </p:nvSpPr>
        <p:spPr>
          <a:xfrm>
            <a:off x="8211312"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321040" y="3200400"/>
            <a:ext cx="1463040" cy="9144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0" y="3200400"/>
            <a:ext cx="1463040" cy="914400"/>
          </a:xfrm>
          <a:prstGeom prst="rect">
            <a:avLst/>
          </a:prstGeom>
          <a:noFill/>
        </p:spPr>
        <p:txBody>
          <a:bodyPr wrap="square">
            <a:spAutoFit/>
          </a:bodyPr>
          <a:lstStyle/>
          <a:p>
            <a:pPr algn="ctr">
              <a:defRPr sz="1600" b="1">
                <a:solidFill>
                  <a:srgbClr val="FFFFFF"/>
                </a:solidFill>
                <a:latin typeface="Calibri"/>
              </a:defRPr>
            </a:pPr>
            <a:r>
              <a:t>Documentation</a:t>
            </a:r>
          </a:p>
        </p:txBody>
      </p:sp>
      <p:sp>
        <p:nvSpPr>
          <p:cNvPr id="22" name="Right Arrow 21"/>
          <p:cNvSpPr/>
          <p:nvPr/>
        </p:nvSpPr>
        <p:spPr>
          <a:xfrm>
            <a:off x="9784080" y="35433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893808" y="3200400"/>
            <a:ext cx="1463040" cy="91440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893808" y="3200400"/>
            <a:ext cx="1463040" cy="914400"/>
          </a:xfrm>
          <a:prstGeom prst="rect">
            <a:avLst/>
          </a:prstGeom>
          <a:noFill/>
        </p:spPr>
        <p:txBody>
          <a:bodyPr wrap="square">
            <a:spAutoFit/>
          </a:bodyPr>
          <a:lstStyle/>
          <a:p>
            <a:pPr algn="ctr">
              <a:defRPr sz="1600" b="1">
                <a:solidFill>
                  <a:srgbClr val="FFFFFF"/>
                </a:solidFill>
                <a:latin typeface="Calibri"/>
              </a:defRPr>
            </a:pPr>
            <a:r>
              <a:t>Code Review</a:t>
            </a:r>
          </a:p>
        </p:txBody>
      </p:sp>
      <p:sp>
        <p:nvSpPr>
          <p:cNvPr id="25" name="Rounded Rectangle 24"/>
          <p:cNvSpPr/>
          <p:nvPr/>
        </p:nvSpPr>
        <p:spPr>
          <a:xfrm>
            <a:off x="1828800" y="5486400"/>
            <a:ext cx="8229600" cy="7315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011680" y="5577840"/>
            <a:ext cx="7863840" cy="548640"/>
          </a:xfrm>
          <a:prstGeom prst="rect">
            <a:avLst/>
          </a:prstGeom>
          <a:noFill/>
        </p:spPr>
        <p:txBody>
          <a:bodyPr wrap="square">
            <a:spAutoFit/>
          </a:bodyPr>
          <a:lstStyle/>
          <a:p>
            <a:pPr algn="ctr">
              <a:defRPr sz="2000" b="1">
                <a:solidFill>
                  <a:srgbClr val="FFFFFF"/>
                </a:solidFill>
                <a:latin typeface="Calibri"/>
              </a:defRPr>
            </a:pPr>
            <a:r>
              <a:t>Important: AI assists the engineer. It does not remove the need for engineering judgment.</a:t>
            </a:r>
          </a:p>
        </p:txBody>
      </p:sp>
      <p:sp>
        <p:nvSpPr>
          <p:cNvPr id="27" name="Rectangle 26"/>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Coding Assistants</a:t>
            </a:r>
          </a:p>
        </p:txBody>
      </p:sp>
      <p:sp>
        <p:nvSpPr>
          <p:cNvPr id="5" name="Rounded Rectangle 4"/>
          <p:cNvSpPr/>
          <p:nvPr/>
        </p:nvSpPr>
        <p:spPr>
          <a:xfrm>
            <a:off x="914400" y="1645920"/>
            <a:ext cx="3017520" cy="18288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94560"/>
            <a:ext cx="3017520" cy="457200"/>
          </a:xfrm>
          <a:prstGeom prst="rect">
            <a:avLst/>
          </a:prstGeom>
          <a:noFill/>
        </p:spPr>
        <p:txBody>
          <a:bodyPr wrap="square">
            <a:spAutoFit/>
          </a:bodyPr>
          <a:lstStyle/>
          <a:p>
            <a:pPr algn="ctr">
              <a:defRPr sz="2200" b="1">
                <a:solidFill>
                  <a:srgbClr val="FFFFFF"/>
                </a:solidFill>
                <a:latin typeface="Calibri"/>
              </a:defRPr>
            </a:pPr>
            <a:r>
              <a:t>GitHub Copilot</a:t>
            </a:r>
          </a:p>
        </p:txBody>
      </p:sp>
      <p:sp>
        <p:nvSpPr>
          <p:cNvPr id="7" name="Rounded Rectangle 6"/>
          <p:cNvSpPr/>
          <p:nvPr/>
        </p:nvSpPr>
        <p:spPr>
          <a:xfrm>
            <a:off x="4389120" y="1645920"/>
            <a:ext cx="3017520" cy="18288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89120" y="2194560"/>
            <a:ext cx="3017520" cy="457200"/>
          </a:xfrm>
          <a:prstGeom prst="rect">
            <a:avLst/>
          </a:prstGeom>
          <a:noFill/>
        </p:spPr>
        <p:txBody>
          <a:bodyPr wrap="square">
            <a:spAutoFit/>
          </a:bodyPr>
          <a:lstStyle/>
          <a:p>
            <a:pPr algn="ctr">
              <a:defRPr sz="2200" b="1">
                <a:solidFill>
                  <a:srgbClr val="FFFFFF"/>
                </a:solidFill>
                <a:latin typeface="Calibri"/>
              </a:defRPr>
            </a:pPr>
            <a:r>
              <a:t>Cursor</a:t>
            </a:r>
          </a:p>
        </p:txBody>
      </p:sp>
      <p:sp>
        <p:nvSpPr>
          <p:cNvPr id="9" name="Rounded Rectangle 8"/>
          <p:cNvSpPr/>
          <p:nvPr/>
        </p:nvSpPr>
        <p:spPr>
          <a:xfrm>
            <a:off x="7863840" y="1645920"/>
            <a:ext cx="3017520" cy="1828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2194560"/>
            <a:ext cx="3017520" cy="457200"/>
          </a:xfrm>
          <a:prstGeom prst="rect">
            <a:avLst/>
          </a:prstGeom>
          <a:noFill/>
        </p:spPr>
        <p:txBody>
          <a:bodyPr wrap="square">
            <a:spAutoFit/>
          </a:bodyPr>
          <a:lstStyle/>
          <a:p>
            <a:pPr algn="ctr">
              <a:defRPr sz="2200" b="1">
                <a:solidFill>
                  <a:srgbClr val="FFFFFF"/>
                </a:solidFill>
                <a:latin typeface="Calibri"/>
              </a:defRPr>
            </a:pPr>
            <a:r>
              <a:t>Claude Code</a:t>
            </a:r>
          </a:p>
        </p:txBody>
      </p:sp>
      <p:sp>
        <p:nvSpPr>
          <p:cNvPr id="11" name="Rounded Rectangle 10"/>
          <p:cNvSpPr/>
          <p:nvPr/>
        </p:nvSpPr>
        <p:spPr>
          <a:xfrm>
            <a:off x="914400" y="3931920"/>
            <a:ext cx="3017520" cy="18288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480560"/>
            <a:ext cx="3017520" cy="457200"/>
          </a:xfrm>
          <a:prstGeom prst="rect">
            <a:avLst/>
          </a:prstGeom>
          <a:noFill/>
        </p:spPr>
        <p:txBody>
          <a:bodyPr wrap="square">
            <a:spAutoFit/>
          </a:bodyPr>
          <a:lstStyle/>
          <a:p>
            <a:pPr algn="ctr">
              <a:defRPr sz="2200" b="1">
                <a:solidFill>
                  <a:srgbClr val="FFFFFF"/>
                </a:solidFill>
                <a:latin typeface="Calibri"/>
              </a:defRPr>
            </a:pPr>
            <a:r>
              <a:t>OpenAI Codex</a:t>
            </a:r>
          </a:p>
        </p:txBody>
      </p:sp>
      <p:sp>
        <p:nvSpPr>
          <p:cNvPr id="13" name="Rounded Rectangle 12"/>
          <p:cNvSpPr/>
          <p:nvPr/>
        </p:nvSpPr>
        <p:spPr>
          <a:xfrm>
            <a:off x="4389120" y="3931920"/>
            <a:ext cx="3017520" cy="18288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4480560"/>
            <a:ext cx="3017520" cy="457200"/>
          </a:xfrm>
          <a:prstGeom prst="rect">
            <a:avLst/>
          </a:prstGeom>
          <a:noFill/>
        </p:spPr>
        <p:txBody>
          <a:bodyPr wrap="square">
            <a:spAutoFit/>
          </a:bodyPr>
          <a:lstStyle/>
          <a:p>
            <a:pPr algn="ctr">
              <a:defRPr sz="2200" b="1">
                <a:solidFill>
                  <a:srgbClr val="FFFFFF"/>
                </a:solidFill>
                <a:latin typeface="Calibri"/>
              </a:defRPr>
            </a:pPr>
            <a:r>
              <a:t>Gemini Coding</a:t>
            </a:r>
          </a:p>
        </p:txBody>
      </p:sp>
      <p:sp>
        <p:nvSpPr>
          <p:cNvPr id="15" name="Rounded Rectangle 14"/>
          <p:cNvSpPr/>
          <p:nvPr/>
        </p:nvSpPr>
        <p:spPr>
          <a:xfrm>
            <a:off x="7863840" y="3931920"/>
            <a:ext cx="3017520" cy="18288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4480560"/>
            <a:ext cx="3017520" cy="457200"/>
          </a:xfrm>
          <a:prstGeom prst="rect">
            <a:avLst/>
          </a:prstGeom>
          <a:noFill/>
        </p:spPr>
        <p:txBody>
          <a:bodyPr wrap="square">
            <a:spAutoFit/>
          </a:bodyPr>
          <a:lstStyle/>
          <a:p>
            <a:pPr algn="ctr">
              <a:defRPr sz="2200" b="1">
                <a:solidFill>
                  <a:srgbClr val="FFFFFF"/>
                </a:solidFill>
                <a:latin typeface="Calibri"/>
              </a:defRPr>
            </a:pPr>
            <a:r>
              <a:t>JetBrains AI</a:t>
            </a:r>
          </a:p>
        </p:txBody>
      </p:sp>
      <p:sp>
        <p:nvSpPr>
          <p:cNvPr id="17" name="TextBox 16"/>
          <p:cNvSpPr txBox="1"/>
          <p:nvPr/>
        </p:nvSpPr>
        <p:spPr>
          <a:xfrm>
            <a:off x="914400" y="5943600"/>
            <a:ext cx="10058400" cy="457200"/>
          </a:xfrm>
          <a:prstGeom prst="rect">
            <a:avLst/>
          </a:prstGeom>
          <a:noFill/>
        </p:spPr>
        <p:txBody>
          <a:bodyPr wrap="square">
            <a:spAutoFit/>
          </a:bodyPr>
          <a:lstStyle/>
          <a:p>
            <a:pPr algn="ctr">
              <a:defRPr sz="1600" b="0">
                <a:solidFill>
                  <a:srgbClr val="6B7280"/>
                </a:solidFill>
                <a:latin typeface="Calibri"/>
              </a:defRPr>
            </a:pPr>
            <a:r>
              <a:t>Current developer surveys show very high adoption of AI coding tools.</a:t>
            </a:r>
          </a:p>
        </p:txBody>
      </p:sp>
      <p:sp>
        <p:nvSpPr>
          <p:cNvPr id="18" name="Rectangle 17"/>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Assistant vs AI Agent</a:t>
            </a:r>
          </a:p>
        </p:txBody>
      </p:sp>
      <p:sp>
        <p:nvSpPr>
          <p:cNvPr id="5" name="Rounded Rectangle 4"/>
          <p:cNvSpPr/>
          <p:nvPr/>
        </p:nvSpPr>
        <p:spPr>
          <a:xfrm>
            <a:off x="731520" y="1645920"/>
            <a:ext cx="5029200" cy="41148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737360"/>
            <a:ext cx="5029200" cy="457200"/>
          </a:xfrm>
          <a:prstGeom prst="rect">
            <a:avLst/>
          </a:prstGeom>
          <a:noFill/>
        </p:spPr>
        <p:txBody>
          <a:bodyPr wrap="square">
            <a:spAutoFit/>
          </a:bodyPr>
          <a:lstStyle/>
          <a:p>
            <a:pPr algn="ctr">
              <a:defRPr sz="2400" b="1">
                <a:solidFill>
                  <a:srgbClr val="FFFFFF"/>
                </a:solidFill>
                <a:latin typeface="Calibri"/>
              </a:defRPr>
            </a:pPr>
            <a:r>
              <a:t>TRADITIONAL ASSISTANT</a:t>
            </a:r>
          </a:p>
        </p:txBody>
      </p:sp>
      <p:sp>
        <p:nvSpPr>
          <p:cNvPr id="7" name="TextBox 6"/>
          <p:cNvSpPr txBox="1"/>
          <p:nvPr/>
        </p:nvSpPr>
        <p:spPr>
          <a:xfrm>
            <a:off x="1188720" y="2560320"/>
            <a:ext cx="4114800" cy="1828800"/>
          </a:xfrm>
          <a:prstGeom prst="rect">
            <a:avLst/>
          </a:prstGeom>
          <a:noFill/>
        </p:spPr>
        <p:txBody>
          <a:bodyPr wrap="square">
            <a:spAutoFit/>
          </a:bodyPr>
          <a:lstStyle/>
          <a:p>
            <a:pPr algn="ctr">
              <a:defRPr sz="2000" b="0">
                <a:solidFill>
                  <a:srgbClr val="FFFFFF"/>
                </a:solidFill>
                <a:latin typeface="Calibri"/>
              </a:defRPr>
            </a:pPr>
            <a:r>
              <a:t>"Complete this function."</a:t>
            </a:r>
          </a:p>
        </p:txBody>
      </p:sp>
      <p:sp>
        <p:nvSpPr>
          <p:cNvPr id="8" name="TextBox 7"/>
          <p:cNvSpPr txBox="1"/>
          <p:nvPr/>
        </p:nvSpPr>
        <p:spPr>
          <a:xfrm>
            <a:off x="1188720" y="3657600"/>
            <a:ext cx="4114800" cy="914400"/>
          </a:xfrm>
          <a:prstGeom prst="rect">
            <a:avLst/>
          </a:prstGeom>
          <a:noFill/>
        </p:spPr>
        <p:txBody>
          <a:bodyPr wrap="square">
            <a:spAutoFit/>
          </a:bodyPr>
          <a:lstStyle/>
          <a:p>
            <a:pPr algn="ctr">
              <a:defRPr sz="2200" b="1">
                <a:solidFill>
                  <a:srgbClr val="FFFFFF"/>
                </a:solidFill>
                <a:latin typeface="Calibri"/>
              </a:defRPr>
            </a:pPr>
            <a:r>
              <a:t>Assistant → suggests</a:t>
            </a:r>
          </a:p>
        </p:txBody>
      </p:sp>
      <p:sp>
        <p:nvSpPr>
          <p:cNvPr id="9" name="Rounded Rectangle 8"/>
          <p:cNvSpPr/>
          <p:nvPr/>
        </p:nvSpPr>
        <p:spPr>
          <a:xfrm>
            <a:off x="6400800" y="1645920"/>
            <a:ext cx="5029200" cy="4114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737360"/>
            <a:ext cx="5029200" cy="457200"/>
          </a:xfrm>
          <a:prstGeom prst="rect">
            <a:avLst/>
          </a:prstGeom>
          <a:noFill/>
        </p:spPr>
        <p:txBody>
          <a:bodyPr wrap="square">
            <a:spAutoFit/>
          </a:bodyPr>
          <a:lstStyle/>
          <a:p>
            <a:pPr algn="ctr">
              <a:defRPr sz="2400" b="1">
                <a:solidFill>
                  <a:srgbClr val="FFFFFF"/>
                </a:solidFill>
                <a:latin typeface="Calibri"/>
              </a:defRPr>
            </a:pPr>
            <a:r>
              <a:t>AI CODING AGENT</a:t>
            </a:r>
          </a:p>
        </p:txBody>
      </p:sp>
      <p:sp>
        <p:nvSpPr>
          <p:cNvPr id="11" name="TextBox 10"/>
          <p:cNvSpPr txBox="1"/>
          <p:nvPr/>
        </p:nvSpPr>
        <p:spPr>
          <a:xfrm>
            <a:off x="6858000" y="2560320"/>
            <a:ext cx="4114800" cy="1828800"/>
          </a:xfrm>
          <a:prstGeom prst="rect">
            <a:avLst/>
          </a:prstGeom>
          <a:noFill/>
        </p:spPr>
        <p:txBody>
          <a:bodyPr wrap="square">
            <a:spAutoFit/>
          </a:bodyPr>
          <a:lstStyle/>
          <a:p>
            <a:pPr algn="ctr">
              <a:defRPr sz="2000" b="0">
                <a:solidFill>
                  <a:srgbClr val="FFFFFF"/>
                </a:solidFill>
                <a:latin typeface="Calibri"/>
              </a:defRPr>
            </a:pPr>
            <a:r>
              <a:t>"Implement this feature, inspect the repository, modify files, run tests, diagnose failures, and prepare changes."</a:t>
            </a:r>
          </a:p>
        </p:txBody>
      </p:sp>
      <p:sp>
        <p:nvSpPr>
          <p:cNvPr id="12" name="TextBox 11"/>
          <p:cNvSpPr txBox="1"/>
          <p:nvPr/>
        </p:nvSpPr>
        <p:spPr>
          <a:xfrm>
            <a:off x="6858000" y="4114800"/>
            <a:ext cx="4114800" cy="914400"/>
          </a:xfrm>
          <a:prstGeom prst="rect">
            <a:avLst/>
          </a:prstGeom>
          <a:noFill/>
        </p:spPr>
        <p:txBody>
          <a:bodyPr wrap="square">
            <a:spAutoFit/>
          </a:bodyPr>
          <a:lstStyle/>
          <a:p>
            <a:pPr algn="ctr">
              <a:defRPr sz="2000" b="1">
                <a:solidFill>
                  <a:srgbClr val="FFFFFF"/>
                </a:solidFill>
                <a:latin typeface="Calibri"/>
              </a:defRPr>
            </a:pPr>
            <a:r>
              <a:t>Agent → can execute multi-step tasks</a:t>
            </a:r>
          </a:p>
        </p:txBody>
      </p:sp>
      <p:sp>
        <p:nvSpPr>
          <p:cNvPr id="13" name="Rectangle 12"/>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411480" y="160020"/>
            <a:ext cx="10972800" cy="914400"/>
          </a:xfrm>
          <a:prstGeom prst="rect">
            <a:avLst/>
          </a:prstGeom>
          <a:noFill/>
        </p:spPr>
        <p:txBody>
          <a:bodyPr wrap="square">
            <a:spAutoFit/>
          </a:bodyPr>
          <a:lstStyle/>
          <a:p>
            <a:pPr algn="l">
              <a:defRPr sz="3400" b="1">
                <a:solidFill>
                  <a:srgbClr val="FFFFFF"/>
                </a:solidFill>
                <a:latin typeface="Calibri"/>
              </a:defRPr>
            </a:pPr>
            <a:r>
              <a:t>The New Software Engineering Workflow</a:t>
            </a:r>
          </a:p>
        </p:txBody>
      </p:sp>
      <p:sp>
        <p:nvSpPr>
          <p:cNvPr id="5" name="Rounded Rectangle 4"/>
          <p:cNvSpPr/>
          <p:nvPr/>
        </p:nvSpPr>
        <p:spPr>
          <a:xfrm>
            <a:off x="4434840" y="1280160"/>
            <a:ext cx="3200400" cy="50292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34840" y="1280160"/>
            <a:ext cx="3200400" cy="502920"/>
          </a:xfrm>
          <a:prstGeom prst="rect">
            <a:avLst/>
          </a:prstGeom>
          <a:noFill/>
        </p:spPr>
        <p:txBody>
          <a:bodyPr wrap="square">
            <a:spAutoFit/>
          </a:bodyPr>
          <a:lstStyle/>
          <a:p>
            <a:pPr algn="ctr">
              <a:defRPr sz="1700" b="1">
                <a:solidFill>
                  <a:srgbClr val="FFFFFF"/>
                </a:solidFill>
                <a:latin typeface="Calibri"/>
              </a:defRPr>
            </a:pPr>
            <a:r>
              <a:t>Human Developer</a:t>
            </a:r>
          </a:p>
        </p:txBody>
      </p:sp>
      <p:sp>
        <p:nvSpPr>
          <p:cNvPr id="7" name="Down Arrow 6"/>
          <p:cNvSpPr/>
          <p:nvPr/>
        </p:nvSpPr>
        <p:spPr>
          <a:xfrm>
            <a:off x="5897880" y="178308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434840" y="1874520"/>
            <a:ext cx="3200400" cy="5029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1874520"/>
            <a:ext cx="3200400" cy="502920"/>
          </a:xfrm>
          <a:prstGeom prst="rect">
            <a:avLst/>
          </a:prstGeom>
          <a:noFill/>
        </p:spPr>
        <p:txBody>
          <a:bodyPr wrap="square">
            <a:spAutoFit/>
          </a:bodyPr>
          <a:lstStyle/>
          <a:p>
            <a:pPr algn="ctr">
              <a:defRPr sz="1700" b="1">
                <a:solidFill>
                  <a:srgbClr val="FFFFFF"/>
                </a:solidFill>
                <a:latin typeface="Calibri"/>
              </a:defRPr>
            </a:pPr>
            <a:r>
              <a:t>Problem Definition</a:t>
            </a:r>
          </a:p>
        </p:txBody>
      </p:sp>
      <p:sp>
        <p:nvSpPr>
          <p:cNvPr id="10" name="Down Arrow 9"/>
          <p:cNvSpPr/>
          <p:nvPr/>
        </p:nvSpPr>
        <p:spPr>
          <a:xfrm>
            <a:off x="5897880" y="23774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434840" y="2468880"/>
            <a:ext cx="3200400" cy="5029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468880"/>
            <a:ext cx="3200400" cy="502920"/>
          </a:xfrm>
          <a:prstGeom prst="rect">
            <a:avLst/>
          </a:prstGeom>
          <a:noFill/>
        </p:spPr>
        <p:txBody>
          <a:bodyPr wrap="square">
            <a:spAutoFit/>
          </a:bodyPr>
          <a:lstStyle/>
          <a:p>
            <a:pPr algn="ctr">
              <a:defRPr sz="1700" b="1">
                <a:solidFill>
                  <a:srgbClr val="FFFFFF"/>
                </a:solidFill>
                <a:latin typeface="Calibri"/>
              </a:defRPr>
            </a:pPr>
            <a:r>
              <a:t>AI Coding Agent</a:t>
            </a:r>
          </a:p>
        </p:txBody>
      </p:sp>
      <p:sp>
        <p:nvSpPr>
          <p:cNvPr id="13" name="Down Arrow 12"/>
          <p:cNvSpPr/>
          <p:nvPr/>
        </p:nvSpPr>
        <p:spPr>
          <a:xfrm>
            <a:off x="5897880" y="29718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434840" y="3063240"/>
            <a:ext cx="3200400" cy="5029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3063240"/>
            <a:ext cx="3200400" cy="502920"/>
          </a:xfrm>
          <a:prstGeom prst="rect">
            <a:avLst/>
          </a:prstGeom>
          <a:noFill/>
        </p:spPr>
        <p:txBody>
          <a:bodyPr wrap="square">
            <a:spAutoFit/>
          </a:bodyPr>
          <a:lstStyle/>
          <a:p>
            <a:pPr algn="ctr">
              <a:defRPr sz="1700" b="1">
                <a:solidFill>
                  <a:srgbClr val="FFFFFF"/>
                </a:solidFill>
                <a:latin typeface="Calibri"/>
              </a:defRPr>
            </a:pPr>
            <a:r>
              <a:t>Code Generation</a:t>
            </a:r>
          </a:p>
        </p:txBody>
      </p:sp>
      <p:sp>
        <p:nvSpPr>
          <p:cNvPr id="16" name="Down Arrow 15"/>
          <p:cNvSpPr/>
          <p:nvPr/>
        </p:nvSpPr>
        <p:spPr>
          <a:xfrm>
            <a:off x="5897880" y="35661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34840" y="3657600"/>
            <a:ext cx="3200400" cy="50292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3657600"/>
            <a:ext cx="3200400" cy="502920"/>
          </a:xfrm>
          <a:prstGeom prst="rect">
            <a:avLst/>
          </a:prstGeom>
          <a:noFill/>
        </p:spPr>
        <p:txBody>
          <a:bodyPr wrap="square">
            <a:spAutoFit/>
          </a:bodyPr>
          <a:lstStyle/>
          <a:p>
            <a:pPr algn="ctr">
              <a:defRPr sz="1700" b="1">
                <a:solidFill>
                  <a:srgbClr val="FFFFFF"/>
                </a:solidFill>
                <a:latin typeface="Calibri"/>
              </a:defRPr>
            </a:pPr>
            <a:r>
              <a:t>Tests</a:t>
            </a:r>
          </a:p>
        </p:txBody>
      </p:sp>
      <p:sp>
        <p:nvSpPr>
          <p:cNvPr id="19" name="Down Arrow 18"/>
          <p:cNvSpPr/>
          <p:nvPr/>
        </p:nvSpPr>
        <p:spPr>
          <a:xfrm>
            <a:off x="5897880" y="416052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434840" y="4251960"/>
            <a:ext cx="3200400" cy="50292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4840" y="4251960"/>
            <a:ext cx="3200400" cy="502920"/>
          </a:xfrm>
          <a:prstGeom prst="rect">
            <a:avLst/>
          </a:prstGeom>
          <a:noFill/>
        </p:spPr>
        <p:txBody>
          <a:bodyPr wrap="square">
            <a:spAutoFit/>
          </a:bodyPr>
          <a:lstStyle/>
          <a:p>
            <a:pPr algn="ctr">
              <a:defRPr sz="1700" b="1">
                <a:solidFill>
                  <a:srgbClr val="FFFFFF"/>
                </a:solidFill>
                <a:latin typeface="Calibri"/>
              </a:defRPr>
            </a:pPr>
            <a:r>
              <a:t>Human Review</a:t>
            </a:r>
          </a:p>
        </p:txBody>
      </p:sp>
      <p:sp>
        <p:nvSpPr>
          <p:cNvPr id="22" name="Down Arrow 21"/>
          <p:cNvSpPr/>
          <p:nvPr/>
        </p:nvSpPr>
        <p:spPr>
          <a:xfrm>
            <a:off x="5897880" y="475488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434840" y="4846320"/>
            <a:ext cx="3200400" cy="50292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34840" y="4846320"/>
            <a:ext cx="3200400" cy="502920"/>
          </a:xfrm>
          <a:prstGeom prst="rect">
            <a:avLst/>
          </a:prstGeom>
          <a:noFill/>
        </p:spPr>
        <p:txBody>
          <a:bodyPr wrap="square">
            <a:spAutoFit/>
          </a:bodyPr>
          <a:lstStyle/>
          <a:p>
            <a:pPr algn="ctr">
              <a:defRPr sz="1700" b="1">
                <a:solidFill>
                  <a:srgbClr val="FFFFFF"/>
                </a:solidFill>
                <a:latin typeface="Calibri"/>
              </a:defRPr>
            </a:pPr>
            <a:r>
              <a:t>CI/CD</a:t>
            </a:r>
          </a:p>
        </p:txBody>
      </p:sp>
      <p:sp>
        <p:nvSpPr>
          <p:cNvPr id="25" name="Down Arrow 24"/>
          <p:cNvSpPr/>
          <p:nvPr/>
        </p:nvSpPr>
        <p:spPr>
          <a:xfrm>
            <a:off x="5897880" y="53492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434840" y="5440680"/>
            <a:ext cx="3200400" cy="502920"/>
          </a:xfrm>
          <a:prstGeom prst="roundRect">
            <a:avLst>
              <a:gd name="adj" fmla="val 10000"/>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34840" y="5440680"/>
            <a:ext cx="3200400" cy="502920"/>
          </a:xfrm>
          <a:prstGeom prst="rect">
            <a:avLst/>
          </a:prstGeom>
          <a:noFill/>
        </p:spPr>
        <p:txBody>
          <a:bodyPr wrap="square">
            <a:spAutoFit/>
          </a:bodyPr>
          <a:lstStyle/>
          <a:p>
            <a:pPr algn="ctr">
              <a:defRPr sz="1700" b="1">
                <a:solidFill>
                  <a:srgbClr val="FFFFFF"/>
                </a:solidFill>
                <a:latin typeface="Calibri"/>
              </a:defRPr>
            </a:pPr>
            <a:r>
              <a:t>Deployment</a:t>
            </a:r>
          </a:p>
        </p:txBody>
      </p:sp>
      <p:sp>
        <p:nvSpPr>
          <p:cNvPr id="28" name="Down Arrow 27"/>
          <p:cNvSpPr/>
          <p:nvPr/>
        </p:nvSpPr>
        <p:spPr>
          <a:xfrm>
            <a:off x="5897880" y="59436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434840" y="6035040"/>
            <a:ext cx="3200400" cy="502920"/>
          </a:xfrm>
          <a:prstGeom prst="roundRect">
            <a:avLst>
              <a:gd name="adj" fmla="val 10000"/>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34840" y="6035040"/>
            <a:ext cx="3200400" cy="502920"/>
          </a:xfrm>
          <a:prstGeom prst="rect">
            <a:avLst/>
          </a:prstGeom>
          <a:noFill/>
        </p:spPr>
        <p:txBody>
          <a:bodyPr wrap="square">
            <a:spAutoFit/>
          </a:bodyPr>
          <a:lstStyle/>
          <a:p>
            <a:pPr algn="ctr">
              <a:defRPr sz="1700" b="1">
                <a:solidFill>
                  <a:srgbClr val="FFFFFF"/>
                </a:solidFill>
                <a:latin typeface="Calibri"/>
              </a:defRPr>
            </a:pPr>
            <a:r>
              <a:t>Monitoring</a:t>
            </a:r>
          </a:p>
        </p:txBody>
      </p:sp>
      <p:sp>
        <p:nvSpPr>
          <p:cNvPr id="31" name="Rounded Rectangle 30"/>
          <p:cNvSpPr/>
          <p:nvPr/>
        </p:nvSpPr>
        <p:spPr>
          <a:xfrm>
            <a:off x="7764226" y="4820145"/>
            <a:ext cx="4298482" cy="1624664"/>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55666" y="5063289"/>
            <a:ext cx="4207042" cy="923330"/>
          </a:xfrm>
          <a:prstGeom prst="rect">
            <a:avLst/>
          </a:prstGeom>
          <a:noFill/>
        </p:spPr>
        <p:txBody>
          <a:bodyPr wrap="square">
            <a:spAutoFit/>
          </a:bodyPr>
          <a:lstStyle/>
          <a:p>
            <a:pPr algn="ctr">
              <a:defRPr sz="1800" b="1">
                <a:solidFill>
                  <a:srgbClr val="FFFFFF"/>
                </a:solidFill>
                <a:latin typeface="Calibri"/>
              </a:defRPr>
            </a:pPr>
            <a:r>
              <a:rPr dirty="0"/>
              <a:t>The engineer's role shifts from writing code toward specification, architecture, validation, review, and system ownership.</a:t>
            </a:r>
          </a:p>
        </p:txBody>
      </p:sp>
      <p:sp>
        <p:nvSpPr>
          <p:cNvPr id="33" name="Rectangle 32"/>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Does Not Mean 'No Engineering'</a:t>
            </a:r>
          </a:p>
        </p:txBody>
      </p:sp>
      <p:sp>
        <p:nvSpPr>
          <p:cNvPr id="5" name="Rounded Rectangle 4"/>
          <p:cNvSpPr/>
          <p:nvPr/>
        </p:nvSpPr>
        <p:spPr>
          <a:xfrm>
            <a:off x="1828800" y="1645920"/>
            <a:ext cx="8229600" cy="9144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737360"/>
            <a:ext cx="7863840" cy="731520"/>
          </a:xfrm>
          <a:prstGeom prst="rect">
            <a:avLst/>
          </a:prstGeom>
          <a:noFill/>
        </p:spPr>
        <p:txBody>
          <a:bodyPr wrap="square">
            <a:spAutoFit/>
          </a:bodyPr>
          <a:lstStyle/>
          <a:p>
            <a:pPr algn="ctr">
              <a:defRPr sz="2200" b="0">
                <a:solidFill>
                  <a:srgbClr val="FFFFFF"/>
                </a:solidFill>
                <a:latin typeface="Calibri"/>
              </a:defRPr>
            </a:pPr>
            <a:r>
              <a:t>Imagine asking AI: "Build me a banking system." AI may generate code.</a:t>
            </a:r>
          </a:p>
        </p:txBody>
      </p:sp>
      <p:sp>
        <p:nvSpPr>
          <p:cNvPr id="7" name="TextBox 6"/>
          <p:cNvSpPr txBox="1"/>
          <p:nvPr/>
        </p:nvSpPr>
        <p:spPr>
          <a:xfrm>
            <a:off x="1828800" y="2743200"/>
            <a:ext cx="8229600" cy="457200"/>
          </a:xfrm>
          <a:prstGeom prst="rect">
            <a:avLst/>
          </a:prstGeom>
          <a:noFill/>
        </p:spPr>
        <p:txBody>
          <a:bodyPr wrap="square">
            <a:spAutoFit/>
          </a:bodyPr>
          <a:lstStyle/>
          <a:p>
            <a:pPr algn="ctr">
              <a:defRPr sz="2400" b="1">
                <a:solidFill>
                  <a:srgbClr val="1A3A5C"/>
                </a:solidFill>
                <a:latin typeface="Calibri"/>
              </a:defRPr>
            </a:pPr>
            <a:r>
              <a:t>But who decides:</a:t>
            </a:r>
          </a:p>
        </p:txBody>
      </p:sp>
      <p:sp>
        <p:nvSpPr>
          <p:cNvPr id="8" name="Rounded Rectangle 7"/>
          <p:cNvSpPr/>
          <p:nvPr/>
        </p:nvSpPr>
        <p:spPr>
          <a:xfrm>
            <a:off x="914400" y="3383280"/>
            <a:ext cx="3017520" cy="73152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520440"/>
            <a:ext cx="3017520" cy="457200"/>
          </a:xfrm>
          <a:prstGeom prst="rect">
            <a:avLst/>
          </a:prstGeom>
          <a:noFill/>
        </p:spPr>
        <p:txBody>
          <a:bodyPr wrap="square">
            <a:spAutoFit/>
          </a:bodyPr>
          <a:lstStyle/>
          <a:p>
            <a:pPr algn="ctr">
              <a:defRPr sz="1800" b="1">
                <a:solidFill>
                  <a:srgbClr val="FFFFFF"/>
                </a:solidFill>
                <a:latin typeface="Calibri"/>
              </a:defRPr>
            </a:pPr>
            <a:r>
              <a:t>Architecture?</a:t>
            </a:r>
          </a:p>
        </p:txBody>
      </p:sp>
      <p:sp>
        <p:nvSpPr>
          <p:cNvPr id="10" name="Rounded Rectangle 9"/>
          <p:cNvSpPr/>
          <p:nvPr/>
        </p:nvSpPr>
        <p:spPr>
          <a:xfrm>
            <a:off x="4389120" y="3383280"/>
            <a:ext cx="3017520" cy="7315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3520440"/>
            <a:ext cx="3017520" cy="457200"/>
          </a:xfrm>
          <a:prstGeom prst="rect">
            <a:avLst/>
          </a:prstGeom>
          <a:noFill/>
        </p:spPr>
        <p:txBody>
          <a:bodyPr wrap="square">
            <a:spAutoFit/>
          </a:bodyPr>
          <a:lstStyle/>
          <a:p>
            <a:pPr algn="ctr">
              <a:defRPr sz="1800" b="1">
                <a:solidFill>
                  <a:srgbClr val="FFFFFF"/>
                </a:solidFill>
                <a:latin typeface="Calibri"/>
              </a:defRPr>
            </a:pPr>
            <a:r>
              <a:t>Security?</a:t>
            </a:r>
          </a:p>
        </p:txBody>
      </p:sp>
      <p:sp>
        <p:nvSpPr>
          <p:cNvPr id="12" name="Rounded Rectangle 11"/>
          <p:cNvSpPr/>
          <p:nvPr/>
        </p:nvSpPr>
        <p:spPr>
          <a:xfrm>
            <a:off x="7863840" y="3383280"/>
            <a:ext cx="3017520" cy="7315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0" y="3520440"/>
            <a:ext cx="3017520" cy="457200"/>
          </a:xfrm>
          <a:prstGeom prst="rect">
            <a:avLst/>
          </a:prstGeom>
          <a:noFill/>
        </p:spPr>
        <p:txBody>
          <a:bodyPr wrap="square">
            <a:spAutoFit/>
          </a:bodyPr>
          <a:lstStyle/>
          <a:p>
            <a:pPr algn="ctr">
              <a:defRPr sz="1800" b="1">
                <a:solidFill>
                  <a:srgbClr val="FFFFFF"/>
                </a:solidFill>
                <a:latin typeface="Calibri"/>
              </a:defRPr>
            </a:pPr>
            <a:r>
              <a:t>Requirements?</a:t>
            </a:r>
          </a:p>
        </p:txBody>
      </p:sp>
      <p:sp>
        <p:nvSpPr>
          <p:cNvPr id="14" name="Rounded Rectangle 13"/>
          <p:cNvSpPr/>
          <p:nvPr/>
        </p:nvSpPr>
        <p:spPr>
          <a:xfrm>
            <a:off x="914400" y="4297680"/>
            <a:ext cx="3017520" cy="7315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434840"/>
            <a:ext cx="3017520" cy="457200"/>
          </a:xfrm>
          <a:prstGeom prst="rect">
            <a:avLst/>
          </a:prstGeom>
          <a:noFill/>
        </p:spPr>
        <p:txBody>
          <a:bodyPr wrap="square">
            <a:spAutoFit/>
          </a:bodyPr>
          <a:lstStyle/>
          <a:p>
            <a:pPr algn="ctr">
              <a:defRPr sz="1800" b="1">
                <a:solidFill>
                  <a:srgbClr val="FFFFFF"/>
                </a:solidFill>
                <a:latin typeface="Calibri"/>
              </a:defRPr>
            </a:pPr>
            <a:r>
              <a:t>Data Privacy?</a:t>
            </a:r>
          </a:p>
        </p:txBody>
      </p:sp>
      <p:sp>
        <p:nvSpPr>
          <p:cNvPr id="16" name="Rounded Rectangle 15"/>
          <p:cNvSpPr/>
          <p:nvPr/>
        </p:nvSpPr>
        <p:spPr>
          <a:xfrm>
            <a:off x="4389120" y="4297680"/>
            <a:ext cx="3017520" cy="73152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20" y="4434840"/>
            <a:ext cx="3017520" cy="457200"/>
          </a:xfrm>
          <a:prstGeom prst="rect">
            <a:avLst/>
          </a:prstGeom>
          <a:noFill/>
        </p:spPr>
        <p:txBody>
          <a:bodyPr wrap="square">
            <a:spAutoFit/>
          </a:bodyPr>
          <a:lstStyle/>
          <a:p>
            <a:pPr algn="ctr">
              <a:defRPr sz="1800" b="1">
                <a:solidFill>
                  <a:srgbClr val="FFFFFF"/>
                </a:solidFill>
                <a:latin typeface="Calibri"/>
              </a:defRPr>
            </a:pPr>
            <a:r>
              <a:t>Compliance?</a:t>
            </a:r>
          </a:p>
        </p:txBody>
      </p:sp>
      <p:sp>
        <p:nvSpPr>
          <p:cNvPr id="18" name="Rounded Rectangle 17"/>
          <p:cNvSpPr/>
          <p:nvPr/>
        </p:nvSpPr>
        <p:spPr>
          <a:xfrm>
            <a:off x="7863840" y="4297680"/>
            <a:ext cx="3017520" cy="73152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63840" y="4434840"/>
            <a:ext cx="3017520" cy="457200"/>
          </a:xfrm>
          <a:prstGeom prst="rect">
            <a:avLst/>
          </a:prstGeom>
          <a:noFill/>
        </p:spPr>
        <p:txBody>
          <a:bodyPr wrap="square">
            <a:spAutoFit/>
          </a:bodyPr>
          <a:lstStyle/>
          <a:p>
            <a:pPr algn="ctr">
              <a:defRPr sz="1800" b="1">
                <a:solidFill>
                  <a:srgbClr val="FFFFFF"/>
                </a:solidFill>
                <a:latin typeface="Calibri"/>
              </a:defRPr>
            </a:pPr>
            <a:r>
              <a:t>Testing Strategy?</a:t>
            </a:r>
          </a:p>
        </p:txBody>
      </p:sp>
      <p:sp>
        <p:nvSpPr>
          <p:cNvPr id="20" name="Rounded Rectangle 19"/>
          <p:cNvSpPr/>
          <p:nvPr/>
        </p:nvSpPr>
        <p:spPr>
          <a:xfrm>
            <a:off x="914400" y="5212080"/>
            <a:ext cx="3017520" cy="73152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349240"/>
            <a:ext cx="3017520" cy="457200"/>
          </a:xfrm>
          <a:prstGeom prst="rect">
            <a:avLst/>
          </a:prstGeom>
          <a:noFill/>
        </p:spPr>
        <p:txBody>
          <a:bodyPr wrap="square">
            <a:spAutoFit/>
          </a:bodyPr>
          <a:lstStyle/>
          <a:p>
            <a:pPr algn="ctr">
              <a:defRPr sz="1800" b="1">
                <a:solidFill>
                  <a:srgbClr val="FFFFFF"/>
                </a:solidFill>
                <a:latin typeface="Calibri"/>
              </a:defRPr>
            </a:pPr>
            <a:r>
              <a:t>Deployment?</a:t>
            </a:r>
          </a:p>
        </p:txBody>
      </p:sp>
      <p:sp>
        <p:nvSpPr>
          <p:cNvPr id="22" name="Rounded Rectangle 21"/>
          <p:cNvSpPr/>
          <p:nvPr/>
        </p:nvSpPr>
        <p:spPr>
          <a:xfrm>
            <a:off x="4389120" y="5212080"/>
            <a:ext cx="3017520" cy="731520"/>
          </a:xfrm>
          <a:prstGeom prst="roundRect">
            <a:avLst>
              <a:gd name="adj" fmla="val 10000"/>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89120" y="5349240"/>
            <a:ext cx="3017520" cy="457200"/>
          </a:xfrm>
          <a:prstGeom prst="rect">
            <a:avLst/>
          </a:prstGeom>
          <a:noFill/>
        </p:spPr>
        <p:txBody>
          <a:bodyPr wrap="square">
            <a:spAutoFit/>
          </a:bodyPr>
          <a:lstStyle/>
          <a:p>
            <a:pPr algn="ctr">
              <a:defRPr sz="1800" b="1">
                <a:solidFill>
                  <a:srgbClr val="FFFFFF"/>
                </a:solidFill>
                <a:latin typeface="Calibri"/>
              </a:defRPr>
            </a:pPr>
            <a:r>
              <a:t>Monitoring?</a:t>
            </a:r>
          </a:p>
        </p:txBody>
      </p:sp>
      <p:sp>
        <p:nvSpPr>
          <p:cNvPr id="24" name="Rounded Rectangle 23"/>
          <p:cNvSpPr/>
          <p:nvPr/>
        </p:nvSpPr>
        <p:spPr>
          <a:xfrm>
            <a:off x="7863840" y="5212080"/>
            <a:ext cx="3017520" cy="731520"/>
          </a:xfrm>
          <a:prstGeom prst="roundRect">
            <a:avLst>
              <a:gd name="adj" fmla="val 10000"/>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63840" y="5349240"/>
            <a:ext cx="3017520" cy="457200"/>
          </a:xfrm>
          <a:prstGeom prst="rect">
            <a:avLst/>
          </a:prstGeom>
          <a:noFill/>
        </p:spPr>
        <p:txBody>
          <a:bodyPr wrap="square">
            <a:spAutoFit/>
          </a:bodyPr>
          <a:lstStyle/>
          <a:p>
            <a:pPr algn="ctr">
              <a:defRPr sz="1800" b="1">
                <a:solidFill>
                  <a:srgbClr val="FFFFFF"/>
                </a:solidFill>
                <a:latin typeface="Calibri"/>
              </a:defRPr>
            </a:pPr>
            <a:r>
              <a:t>Risk?</a:t>
            </a:r>
          </a:p>
        </p:txBody>
      </p:sp>
      <p:sp>
        <p:nvSpPr>
          <p:cNvPr id="26" name="Rounded Rectangle 25"/>
          <p:cNvSpPr/>
          <p:nvPr/>
        </p:nvSpPr>
        <p:spPr>
          <a:xfrm>
            <a:off x="3657600" y="6126480"/>
            <a:ext cx="4572000" cy="54864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0" y="6172200"/>
            <a:ext cx="4206240" cy="457200"/>
          </a:xfrm>
          <a:prstGeom prst="rect">
            <a:avLst/>
          </a:prstGeom>
          <a:noFill/>
        </p:spPr>
        <p:txBody>
          <a:bodyPr wrap="square">
            <a:spAutoFit/>
          </a:bodyPr>
          <a:lstStyle/>
          <a:p>
            <a:pPr algn="ctr">
              <a:defRPr sz="2200" b="1">
                <a:solidFill>
                  <a:srgbClr val="FFFFFF"/>
                </a:solidFill>
                <a:latin typeface="Calibri"/>
              </a:defRPr>
            </a:pPr>
            <a:r>
              <a:t>Answer: The engineering team.</a:t>
            </a:r>
          </a:p>
        </p:txBody>
      </p:sp>
      <p:sp>
        <p:nvSpPr>
          <p:cNvPr id="28" name="Rectangle 27"/>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Hallucination Problem</a:t>
            </a:r>
          </a:p>
        </p:txBody>
      </p:sp>
      <p:sp>
        <p:nvSpPr>
          <p:cNvPr id="5" name="Rounded Rectangle 4"/>
          <p:cNvSpPr/>
          <p:nvPr/>
        </p:nvSpPr>
        <p:spPr>
          <a:xfrm>
            <a:off x="914400" y="16459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65960"/>
            <a:ext cx="3017520" cy="457200"/>
          </a:xfrm>
          <a:prstGeom prst="rect">
            <a:avLst/>
          </a:prstGeom>
          <a:noFill/>
        </p:spPr>
        <p:txBody>
          <a:bodyPr wrap="square">
            <a:spAutoFit/>
          </a:bodyPr>
          <a:lstStyle/>
          <a:p>
            <a:pPr algn="ctr">
              <a:defRPr sz="1800" b="1">
                <a:solidFill>
                  <a:srgbClr val="FFFFFF"/>
                </a:solidFill>
                <a:latin typeface="Calibri"/>
              </a:defRPr>
            </a:pPr>
            <a:r>
              <a:t>Incorrect Information</a:t>
            </a:r>
          </a:p>
        </p:txBody>
      </p:sp>
      <p:sp>
        <p:nvSpPr>
          <p:cNvPr id="7" name="Rounded Rectangle 6"/>
          <p:cNvSpPr/>
          <p:nvPr/>
        </p:nvSpPr>
        <p:spPr>
          <a:xfrm>
            <a:off x="4389120" y="16459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89120" y="1965960"/>
            <a:ext cx="3017520" cy="457200"/>
          </a:xfrm>
          <a:prstGeom prst="rect">
            <a:avLst/>
          </a:prstGeom>
          <a:noFill/>
        </p:spPr>
        <p:txBody>
          <a:bodyPr wrap="square">
            <a:spAutoFit/>
          </a:bodyPr>
          <a:lstStyle/>
          <a:p>
            <a:pPr algn="ctr">
              <a:defRPr sz="1800" b="1">
                <a:solidFill>
                  <a:srgbClr val="FFFFFF"/>
                </a:solidFill>
                <a:latin typeface="Calibri"/>
              </a:defRPr>
            </a:pPr>
            <a:r>
              <a:t>Incorrect Code</a:t>
            </a:r>
          </a:p>
        </p:txBody>
      </p:sp>
      <p:sp>
        <p:nvSpPr>
          <p:cNvPr id="9" name="Rounded Rectangle 8"/>
          <p:cNvSpPr/>
          <p:nvPr/>
        </p:nvSpPr>
        <p:spPr>
          <a:xfrm>
            <a:off x="7863840" y="16459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1965960"/>
            <a:ext cx="3017520" cy="457200"/>
          </a:xfrm>
          <a:prstGeom prst="rect">
            <a:avLst/>
          </a:prstGeom>
          <a:noFill/>
        </p:spPr>
        <p:txBody>
          <a:bodyPr wrap="square">
            <a:spAutoFit/>
          </a:bodyPr>
          <a:lstStyle/>
          <a:p>
            <a:pPr algn="ctr">
              <a:defRPr sz="1800" b="1">
                <a:solidFill>
                  <a:srgbClr val="FFFFFF"/>
                </a:solidFill>
                <a:latin typeface="Calibri"/>
              </a:defRPr>
            </a:pPr>
            <a:r>
              <a:t>Outdated Approaches</a:t>
            </a:r>
          </a:p>
        </p:txBody>
      </p:sp>
      <p:sp>
        <p:nvSpPr>
          <p:cNvPr id="11" name="Rounded Rectangle 10"/>
          <p:cNvSpPr/>
          <p:nvPr/>
        </p:nvSpPr>
        <p:spPr>
          <a:xfrm>
            <a:off x="914400" y="30175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337560"/>
            <a:ext cx="3017520" cy="457200"/>
          </a:xfrm>
          <a:prstGeom prst="rect">
            <a:avLst/>
          </a:prstGeom>
          <a:noFill/>
        </p:spPr>
        <p:txBody>
          <a:bodyPr wrap="square">
            <a:spAutoFit/>
          </a:bodyPr>
          <a:lstStyle/>
          <a:p>
            <a:pPr algn="ctr">
              <a:defRPr sz="1800" b="1">
                <a:solidFill>
                  <a:srgbClr val="FFFFFF"/>
                </a:solidFill>
                <a:latin typeface="Calibri"/>
              </a:defRPr>
            </a:pPr>
            <a:r>
              <a:t>Security Vulnerabilities</a:t>
            </a:r>
          </a:p>
        </p:txBody>
      </p:sp>
      <p:sp>
        <p:nvSpPr>
          <p:cNvPr id="13" name="Rounded Rectangle 12"/>
          <p:cNvSpPr/>
          <p:nvPr/>
        </p:nvSpPr>
        <p:spPr>
          <a:xfrm>
            <a:off x="4389120" y="30175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3337560"/>
            <a:ext cx="3017520" cy="457200"/>
          </a:xfrm>
          <a:prstGeom prst="rect">
            <a:avLst/>
          </a:prstGeom>
          <a:noFill/>
        </p:spPr>
        <p:txBody>
          <a:bodyPr wrap="square">
            <a:spAutoFit/>
          </a:bodyPr>
          <a:lstStyle/>
          <a:p>
            <a:pPr algn="ctr">
              <a:defRPr sz="1800" b="1">
                <a:solidFill>
                  <a:srgbClr val="FFFFFF"/>
                </a:solidFill>
                <a:latin typeface="Calibri"/>
              </a:defRPr>
            </a:pPr>
            <a:r>
              <a:t>Fake APIs</a:t>
            </a:r>
          </a:p>
        </p:txBody>
      </p:sp>
      <p:sp>
        <p:nvSpPr>
          <p:cNvPr id="15" name="Rounded Rectangle 14"/>
          <p:cNvSpPr/>
          <p:nvPr/>
        </p:nvSpPr>
        <p:spPr>
          <a:xfrm>
            <a:off x="7863840" y="30175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3337560"/>
            <a:ext cx="3017520" cy="457200"/>
          </a:xfrm>
          <a:prstGeom prst="rect">
            <a:avLst/>
          </a:prstGeom>
          <a:noFill/>
        </p:spPr>
        <p:txBody>
          <a:bodyPr wrap="square">
            <a:spAutoFit/>
          </a:bodyPr>
          <a:lstStyle/>
          <a:p>
            <a:pPr algn="ctr">
              <a:defRPr sz="1800" b="1">
                <a:solidFill>
                  <a:srgbClr val="FFFFFF"/>
                </a:solidFill>
                <a:latin typeface="Calibri"/>
              </a:defRPr>
            </a:pPr>
            <a:r>
              <a:t>Incorrect Assumptions</a:t>
            </a:r>
          </a:p>
        </p:txBody>
      </p:sp>
      <p:sp>
        <p:nvSpPr>
          <p:cNvPr id="17" name="Rounded Rectangle 16"/>
          <p:cNvSpPr/>
          <p:nvPr/>
        </p:nvSpPr>
        <p:spPr>
          <a:xfrm>
            <a:off x="1371600" y="4572000"/>
            <a:ext cx="9144000" cy="18288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554480" y="4663440"/>
            <a:ext cx="8778240" cy="365760"/>
          </a:xfrm>
          <a:prstGeom prst="rect">
            <a:avLst/>
          </a:prstGeom>
          <a:noFill/>
        </p:spPr>
        <p:txBody>
          <a:bodyPr wrap="square">
            <a:spAutoFit/>
          </a:bodyPr>
          <a:lstStyle/>
          <a:p>
            <a:pPr algn="l">
              <a:defRPr sz="2000" b="1">
                <a:solidFill>
                  <a:srgbClr val="FFFFFF"/>
                </a:solidFill>
                <a:latin typeface="Calibri"/>
              </a:defRPr>
            </a:pPr>
            <a:r>
              <a:t>Example:</a:t>
            </a:r>
          </a:p>
        </p:txBody>
      </p:sp>
      <p:sp>
        <p:nvSpPr>
          <p:cNvPr id="19" name="TextBox 18"/>
          <p:cNvSpPr txBox="1"/>
          <p:nvPr/>
        </p:nvSpPr>
        <p:spPr>
          <a:xfrm>
            <a:off x="1554480" y="5029200"/>
            <a:ext cx="8778240" cy="365760"/>
          </a:xfrm>
          <a:prstGeom prst="rect">
            <a:avLst/>
          </a:prstGeom>
          <a:noFill/>
        </p:spPr>
        <p:txBody>
          <a:bodyPr wrap="square">
            <a:spAutoFit/>
          </a:bodyPr>
          <a:lstStyle/>
          <a:p>
            <a:pPr algn="l">
              <a:defRPr sz="2000" b="0">
                <a:solidFill>
                  <a:srgbClr val="FFFFFF"/>
                </a:solidFill>
                <a:latin typeface="Consolas"/>
              </a:defRPr>
            </a:pPr>
            <a:r>
              <a:t>AI generates: authenticate_user_without_password()</a:t>
            </a:r>
          </a:p>
        </p:txBody>
      </p:sp>
      <p:sp>
        <p:nvSpPr>
          <p:cNvPr id="20" name="TextBox 19"/>
          <p:cNvSpPr txBox="1"/>
          <p:nvPr/>
        </p:nvSpPr>
        <p:spPr>
          <a:xfrm>
            <a:off x="1554480" y="5486400"/>
            <a:ext cx="8778240" cy="731520"/>
          </a:xfrm>
          <a:prstGeom prst="rect">
            <a:avLst/>
          </a:prstGeom>
          <a:noFill/>
        </p:spPr>
        <p:txBody>
          <a:bodyPr wrap="square">
            <a:spAutoFit/>
          </a:bodyPr>
          <a:lstStyle/>
          <a:p>
            <a:pPr algn="l">
              <a:defRPr sz="2200" b="1">
                <a:solidFill>
                  <a:srgbClr val="FFFFFF"/>
                </a:solidFill>
                <a:latin typeface="Calibri"/>
              </a:defRPr>
            </a:pPr>
            <a:r>
              <a:t>Looks fine? Students should ask: 'Is it secure?'</a:t>
            </a:r>
          </a:p>
        </p:txBody>
      </p:sp>
      <p:sp>
        <p:nvSpPr>
          <p:cNvPr id="21" name="Rectangle 20"/>
          <p:cNvSpPr/>
          <p:nvPr/>
        </p:nvSpPr>
        <p:spPr>
          <a:xfrm>
            <a:off x="0" y="6675120"/>
            <a:ext cx="12191695" cy="1828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 Software Testing</a:t>
            </a:r>
          </a:p>
        </p:txBody>
      </p:sp>
      <p:sp>
        <p:nvSpPr>
          <p:cNvPr id="5" name="Rounded Rectangle 4"/>
          <p:cNvSpPr/>
          <p:nvPr/>
        </p:nvSpPr>
        <p:spPr>
          <a:xfrm>
            <a:off x="731520" y="1645920"/>
            <a:ext cx="5029200" cy="4114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737360"/>
            <a:ext cx="5029200" cy="457200"/>
          </a:xfrm>
          <a:prstGeom prst="rect">
            <a:avLst/>
          </a:prstGeom>
          <a:noFill/>
        </p:spPr>
        <p:txBody>
          <a:bodyPr wrap="square">
            <a:spAutoFit/>
          </a:bodyPr>
          <a:lstStyle/>
          <a:p>
            <a:pPr algn="ctr">
              <a:defRPr sz="2200" b="1">
                <a:solidFill>
                  <a:srgbClr val="FFFFFF"/>
                </a:solidFill>
                <a:latin typeface="Calibri"/>
              </a:defRPr>
            </a:pPr>
            <a:r>
              <a:t>AI CAN HELP GENERATE</a:t>
            </a:r>
          </a:p>
        </p:txBody>
      </p:sp>
      <p:sp>
        <p:nvSpPr>
          <p:cNvPr id="7" name="TextBox 6"/>
          <p:cNvSpPr txBox="1"/>
          <p:nvPr/>
        </p:nvSpPr>
        <p:spPr>
          <a:xfrm>
            <a:off x="1188720" y="2468880"/>
            <a:ext cx="4114800" cy="400110"/>
          </a:xfrm>
          <a:prstGeom prst="rect">
            <a:avLst/>
          </a:prstGeom>
          <a:noFill/>
        </p:spPr>
        <p:txBody>
          <a:bodyPr wrap="square">
            <a:spAutoFit/>
          </a:bodyPr>
          <a:lstStyle/>
          <a:p>
            <a:pPr algn="l">
              <a:defRPr sz="1500" b="0">
                <a:solidFill>
                  <a:srgbClr val="FFFFFF"/>
                </a:solidFill>
                <a:latin typeface="Calibri"/>
              </a:defRPr>
            </a:pPr>
            <a:r>
              <a:rPr sz="2000" dirty="0"/>
              <a:t>• Unit Tests</a:t>
            </a:r>
          </a:p>
        </p:txBody>
      </p:sp>
      <p:sp>
        <p:nvSpPr>
          <p:cNvPr id="8" name="TextBox 7"/>
          <p:cNvSpPr txBox="1"/>
          <p:nvPr/>
        </p:nvSpPr>
        <p:spPr>
          <a:xfrm>
            <a:off x="1188720" y="3017520"/>
            <a:ext cx="4114800" cy="400110"/>
          </a:xfrm>
          <a:prstGeom prst="rect">
            <a:avLst/>
          </a:prstGeom>
          <a:noFill/>
        </p:spPr>
        <p:txBody>
          <a:bodyPr wrap="square">
            <a:spAutoFit/>
          </a:bodyPr>
          <a:lstStyle/>
          <a:p>
            <a:pPr algn="l">
              <a:defRPr sz="1500" b="0">
                <a:solidFill>
                  <a:srgbClr val="FFFFFF"/>
                </a:solidFill>
                <a:latin typeface="Calibri"/>
              </a:defRPr>
            </a:pPr>
            <a:r>
              <a:rPr dirty="0"/>
              <a:t>• </a:t>
            </a:r>
            <a:r>
              <a:rPr sz="2000" dirty="0">
                <a:solidFill>
                  <a:srgbClr val="FFFFFF"/>
                </a:solidFill>
                <a:latin typeface="Calibri"/>
              </a:rPr>
              <a:t>Test</a:t>
            </a:r>
            <a:r>
              <a:rPr dirty="0"/>
              <a:t> </a:t>
            </a:r>
            <a:r>
              <a:rPr sz="2000" dirty="0">
                <a:solidFill>
                  <a:srgbClr val="FFFFFF"/>
                </a:solidFill>
                <a:latin typeface="Calibri"/>
              </a:rPr>
              <a:t>Cases</a:t>
            </a:r>
          </a:p>
        </p:txBody>
      </p:sp>
      <p:sp>
        <p:nvSpPr>
          <p:cNvPr id="9" name="TextBox 8"/>
          <p:cNvSpPr txBox="1"/>
          <p:nvPr/>
        </p:nvSpPr>
        <p:spPr>
          <a:xfrm>
            <a:off x="1188720" y="3566160"/>
            <a:ext cx="4114800" cy="400110"/>
          </a:xfrm>
          <a:prstGeom prst="rect">
            <a:avLst/>
          </a:prstGeom>
          <a:noFill/>
        </p:spPr>
        <p:txBody>
          <a:bodyPr wrap="square">
            <a:spAutoFit/>
          </a:bodyPr>
          <a:lstStyle/>
          <a:p>
            <a:pPr algn="l">
              <a:defRPr sz="1500" b="0">
                <a:solidFill>
                  <a:srgbClr val="FFFFFF"/>
                </a:solidFill>
                <a:latin typeface="Calibri"/>
              </a:defRPr>
            </a:pPr>
            <a:r>
              <a:rPr dirty="0"/>
              <a:t>• </a:t>
            </a:r>
            <a:r>
              <a:rPr sz="2000" dirty="0">
                <a:solidFill>
                  <a:srgbClr val="FFFFFF"/>
                </a:solidFill>
                <a:latin typeface="Calibri"/>
              </a:rPr>
              <a:t>Edge</a:t>
            </a:r>
            <a:r>
              <a:rPr dirty="0"/>
              <a:t> </a:t>
            </a:r>
            <a:r>
              <a:rPr sz="2000" dirty="0">
                <a:solidFill>
                  <a:srgbClr val="FFFFFF"/>
                </a:solidFill>
                <a:latin typeface="Calibri"/>
              </a:rPr>
              <a:t>Cases</a:t>
            </a:r>
          </a:p>
        </p:txBody>
      </p:sp>
      <p:sp>
        <p:nvSpPr>
          <p:cNvPr id="10" name="TextBox 9"/>
          <p:cNvSpPr txBox="1"/>
          <p:nvPr/>
        </p:nvSpPr>
        <p:spPr>
          <a:xfrm>
            <a:off x="1188720" y="4114800"/>
            <a:ext cx="4114800" cy="400110"/>
          </a:xfrm>
          <a:prstGeom prst="rect">
            <a:avLst/>
          </a:prstGeom>
          <a:noFill/>
        </p:spPr>
        <p:txBody>
          <a:bodyPr wrap="square">
            <a:spAutoFit/>
          </a:bodyPr>
          <a:lstStyle/>
          <a:p>
            <a:pPr algn="l">
              <a:defRPr sz="1500" b="0">
                <a:solidFill>
                  <a:srgbClr val="FFFFFF"/>
                </a:solidFill>
                <a:latin typeface="Calibri"/>
              </a:defRPr>
            </a:pPr>
            <a:r>
              <a:rPr dirty="0"/>
              <a:t>• </a:t>
            </a:r>
            <a:r>
              <a:rPr sz="2000" dirty="0">
                <a:solidFill>
                  <a:srgbClr val="FFFFFF"/>
                </a:solidFill>
                <a:latin typeface="Calibri"/>
              </a:rPr>
              <a:t>Test</a:t>
            </a:r>
            <a:r>
              <a:rPr dirty="0"/>
              <a:t> </a:t>
            </a:r>
            <a:r>
              <a:rPr sz="2000" dirty="0">
                <a:solidFill>
                  <a:srgbClr val="FFFFFF"/>
                </a:solidFill>
                <a:latin typeface="Calibri"/>
              </a:rPr>
              <a:t>Data</a:t>
            </a:r>
          </a:p>
        </p:txBody>
      </p:sp>
      <p:sp>
        <p:nvSpPr>
          <p:cNvPr id="11" name="TextBox 10"/>
          <p:cNvSpPr txBox="1"/>
          <p:nvPr/>
        </p:nvSpPr>
        <p:spPr>
          <a:xfrm>
            <a:off x="1188720" y="4663440"/>
            <a:ext cx="4114800" cy="400110"/>
          </a:xfrm>
          <a:prstGeom prst="rect">
            <a:avLst/>
          </a:prstGeom>
          <a:noFill/>
        </p:spPr>
        <p:txBody>
          <a:bodyPr wrap="square">
            <a:spAutoFit/>
          </a:bodyPr>
          <a:lstStyle/>
          <a:p>
            <a:pPr algn="l">
              <a:defRPr sz="1500" b="0">
                <a:solidFill>
                  <a:srgbClr val="FFFFFF"/>
                </a:solidFill>
                <a:latin typeface="Calibri"/>
              </a:defRPr>
            </a:pPr>
            <a:r>
              <a:rPr dirty="0"/>
              <a:t>• </a:t>
            </a:r>
            <a:r>
              <a:rPr sz="2000" dirty="0">
                <a:solidFill>
                  <a:srgbClr val="FFFFFF"/>
                </a:solidFill>
                <a:latin typeface="Calibri"/>
              </a:rPr>
              <a:t>Regression</a:t>
            </a:r>
            <a:r>
              <a:rPr dirty="0"/>
              <a:t> </a:t>
            </a:r>
            <a:r>
              <a:rPr sz="2000" dirty="0">
                <a:solidFill>
                  <a:srgbClr val="FFFFFF"/>
                </a:solidFill>
                <a:latin typeface="Calibri"/>
              </a:rPr>
              <a:t>Tests</a:t>
            </a:r>
          </a:p>
        </p:txBody>
      </p:sp>
      <p:sp>
        <p:nvSpPr>
          <p:cNvPr id="12" name="Rounded Rectangle 11"/>
          <p:cNvSpPr/>
          <p:nvPr/>
        </p:nvSpPr>
        <p:spPr>
          <a:xfrm>
            <a:off x="6400800" y="1645920"/>
            <a:ext cx="5029200" cy="41148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737360"/>
            <a:ext cx="5029200" cy="457200"/>
          </a:xfrm>
          <a:prstGeom prst="rect">
            <a:avLst/>
          </a:prstGeom>
          <a:noFill/>
        </p:spPr>
        <p:txBody>
          <a:bodyPr wrap="square">
            <a:spAutoFit/>
          </a:bodyPr>
          <a:lstStyle/>
          <a:p>
            <a:pPr algn="ctr">
              <a:defRPr sz="2200" b="1">
                <a:solidFill>
                  <a:srgbClr val="FFFFFF"/>
                </a:solidFill>
                <a:latin typeface="Calibri"/>
              </a:defRPr>
            </a:pPr>
            <a:r>
              <a:t>ENGINEERS STILL NEED TO</a:t>
            </a:r>
          </a:p>
        </p:txBody>
      </p:sp>
      <p:sp>
        <p:nvSpPr>
          <p:cNvPr id="14" name="TextBox 13"/>
          <p:cNvSpPr txBox="1"/>
          <p:nvPr/>
        </p:nvSpPr>
        <p:spPr>
          <a:xfrm>
            <a:off x="6858000" y="2468880"/>
            <a:ext cx="4114800" cy="400110"/>
          </a:xfrm>
          <a:prstGeom prst="rect">
            <a:avLst/>
          </a:prstGeom>
          <a:noFill/>
        </p:spPr>
        <p:txBody>
          <a:bodyPr wrap="square">
            <a:spAutoFit/>
          </a:bodyPr>
          <a:lstStyle/>
          <a:p>
            <a:pPr algn="l">
              <a:defRPr sz="1500" b="0">
                <a:solidFill>
                  <a:srgbClr val="FFFFFF"/>
                </a:solidFill>
                <a:latin typeface="Calibri"/>
              </a:defRPr>
            </a:pPr>
            <a:r>
              <a:rPr dirty="0"/>
              <a:t>• </a:t>
            </a:r>
            <a:r>
              <a:rPr sz="2000" dirty="0">
                <a:solidFill>
                  <a:srgbClr val="FFFFFF"/>
                </a:solidFill>
                <a:latin typeface="Calibri"/>
              </a:rPr>
              <a:t>Verify</a:t>
            </a:r>
            <a:r>
              <a:rPr dirty="0"/>
              <a:t> </a:t>
            </a:r>
            <a:r>
              <a:rPr sz="2000" dirty="0">
                <a:solidFill>
                  <a:srgbClr val="FFFFFF"/>
                </a:solidFill>
                <a:latin typeface="Calibri"/>
              </a:rPr>
              <a:t>correctness</a:t>
            </a:r>
          </a:p>
        </p:txBody>
      </p:sp>
      <p:sp>
        <p:nvSpPr>
          <p:cNvPr id="15" name="TextBox 14"/>
          <p:cNvSpPr txBox="1"/>
          <p:nvPr/>
        </p:nvSpPr>
        <p:spPr>
          <a:xfrm>
            <a:off x="6858000" y="3017520"/>
            <a:ext cx="4114800" cy="400110"/>
          </a:xfrm>
          <a:prstGeom prst="rect">
            <a:avLst/>
          </a:prstGeom>
          <a:noFill/>
        </p:spPr>
        <p:txBody>
          <a:bodyPr wrap="square">
            <a:spAutoFit/>
          </a:bodyPr>
          <a:lstStyle/>
          <a:p>
            <a:pPr algn="l">
              <a:defRPr sz="1500" b="0">
                <a:solidFill>
                  <a:srgbClr val="FFFFFF"/>
                </a:solidFill>
                <a:latin typeface="Calibri"/>
              </a:defRPr>
            </a:pPr>
            <a:r>
              <a:rPr dirty="0"/>
              <a:t>• </a:t>
            </a:r>
            <a:r>
              <a:rPr sz="2000" dirty="0">
                <a:solidFill>
                  <a:srgbClr val="FFFFFF"/>
                </a:solidFill>
                <a:latin typeface="Calibri"/>
              </a:rPr>
              <a:t>Validate</a:t>
            </a:r>
            <a:r>
              <a:rPr dirty="0"/>
              <a:t> </a:t>
            </a:r>
            <a:r>
              <a:rPr sz="2000" dirty="0">
                <a:solidFill>
                  <a:srgbClr val="FFFFFF"/>
                </a:solidFill>
                <a:latin typeface="Calibri"/>
              </a:rPr>
              <a:t>coverage</a:t>
            </a:r>
          </a:p>
        </p:txBody>
      </p:sp>
      <p:sp>
        <p:nvSpPr>
          <p:cNvPr id="16" name="TextBox 15"/>
          <p:cNvSpPr txBox="1"/>
          <p:nvPr/>
        </p:nvSpPr>
        <p:spPr>
          <a:xfrm>
            <a:off x="6858000" y="3566160"/>
            <a:ext cx="4114800" cy="400110"/>
          </a:xfrm>
          <a:prstGeom prst="rect">
            <a:avLst/>
          </a:prstGeom>
          <a:noFill/>
        </p:spPr>
        <p:txBody>
          <a:bodyPr wrap="square">
            <a:spAutoFit/>
          </a:bodyPr>
          <a:lstStyle/>
          <a:p>
            <a:pPr algn="l">
              <a:defRPr sz="1500" b="0">
                <a:solidFill>
                  <a:srgbClr val="FFFFFF"/>
                </a:solidFill>
                <a:latin typeface="Calibri"/>
              </a:defRPr>
            </a:pPr>
            <a:r>
              <a:rPr dirty="0"/>
              <a:t>• </a:t>
            </a:r>
            <a:r>
              <a:rPr sz="2000" dirty="0">
                <a:solidFill>
                  <a:srgbClr val="FFFFFF"/>
                </a:solidFill>
                <a:latin typeface="Calibri"/>
              </a:rPr>
              <a:t>Review</a:t>
            </a:r>
            <a:r>
              <a:rPr dirty="0"/>
              <a:t> </a:t>
            </a:r>
            <a:r>
              <a:rPr sz="2000" dirty="0">
                <a:solidFill>
                  <a:srgbClr val="FFFFFF"/>
                </a:solidFill>
                <a:latin typeface="Calibri"/>
              </a:rPr>
              <a:t>edge</a:t>
            </a:r>
            <a:r>
              <a:rPr dirty="0"/>
              <a:t> </a:t>
            </a:r>
            <a:r>
              <a:rPr sz="2000" dirty="0">
                <a:solidFill>
                  <a:srgbClr val="FFFFFF"/>
                </a:solidFill>
                <a:latin typeface="Calibri"/>
              </a:rPr>
              <a:t>cases</a:t>
            </a:r>
          </a:p>
        </p:txBody>
      </p:sp>
      <p:sp>
        <p:nvSpPr>
          <p:cNvPr id="17" name="TextBox 16"/>
          <p:cNvSpPr txBox="1"/>
          <p:nvPr/>
        </p:nvSpPr>
        <p:spPr>
          <a:xfrm>
            <a:off x="6858000" y="4114800"/>
            <a:ext cx="4114800" cy="400110"/>
          </a:xfrm>
          <a:prstGeom prst="rect">
            <a:avLst/>
          </a:prstGeom>
          <a:noFill/>
        </p:spPr>
        <p:txBody>
          <a:bodyPr wrap="square">
            <a:spAutoFit/>
          </a:bodyPr>
          <a:lstStyle/>
          <a:p>
            <a:pPr algn="l">
              <a:defRPr sz="1500" b="0">
                <a:solidFill>
                  <a:srgbClr val="FFFFFF"/>
                </a:solidFill>
                <a:latin typeface="Calibri"/>
              </a:defRPr>
            </a:pPr>
            <a:r>
              <a:rPr dirty="0"/>
              <a:t>• </a:t>
            </a:r>
            <a:r>
              <a:rPr sz="2000" dirty="0">
                <a:solidFill>
                  <a:srgbClr val="FFFFFF"/>
                </a:solidFill>
                <a:latin typeface="Calibri"/>
              </a:rPr>
              <a:t>Ensure</a:t>
            </a:r>
            <a:r>
              <a:rPr dirty="0"/>
              <a:t> </a:t>
            </a:r>
            <a:r>
              <a:rPr sz="2000" dirty="0">
                <a:solidFill>
                  <a:srgbClr val="FFFFFF"/>
                </a:solidFill>
                <a:latin typeface="Calibri"/>
              </a:rPr>
              <a:t>quality</a:t>
            </a:r>
          </a:p>
        </p:txBody>
      </p:sp>
      <p:sp>
        <p:nvSpPr>
          <p:cNvPr id="18" name="TextBox 17"/>
          <p:cNvSpPr txBox="1"/>
          <p:nvPr/>
        </p:nvSpPr>
        <p:spPr>
          <a:xfrm>
            <a:off x="6858000" y="4663440"/>
            <a:ext cx="4114800" cy="400110"/>
          </a:xfrm>
          <a:prstGeom prst="rect">
            <a:avLst/>
          </a:prstGeom>
          <a:noFill/>
        </p:spPr>
        <p:txBody>
          <a:bodyPr wrap="square">
            <a:spAutoFit/>
          </a:bodyPr>
          <a:lstStyle/>
          <a:p>
            <a:pPr algn="l">
              <a:defRPr sz="1500" b="0">
                <a:solidFill>
                  <a:srgbClr val="FFFFFF"/>
                </a:solidFill>
                <a:latin typeface="Calibri"/>
              </a:defRPr>
            </a:pPr>
            <a:r>
              <a:rPr dirty="0"/>
              <a:t>• </a:t>
            </a:r>
            <a:r>
              <a:rPr sz="2000" dirty="0">
                <a:solidFill>
                  <a:srgbClr val="FFFFFF"/>
                </a:solidFill>
                <a:latin typeface="Calibri"/>
              </a:rPr>
              <a:t>Approve</a:t>
            </a:r>
            <a:r>
              <a:rPr dirty="0"/>
              <a:t> </a:t>
            </a:r>
            <a:r>
              <a:rPr sz="2000" dirty="0">
                <a:solidFill>
                  <a:srgbClr val="FFFFFF"/>
                </a:solidFill>
                <a:latin typeface="Calibri"/>
              </a:rPr>
              <a:t>deployment</a:t>
            </a:r>
          </a:p>
        </p:txBody>
      </p:sp>
      <p:sp>
        <p:nvSpPr>
          <p:cNvPr id="19" name="Rectangle 18"/>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 Code Review</a:t>
            </a:r>
          </a:p>
        </p:txBody>
      </p:sp>
      <p:sp>
        <p:nvSpPr>
          <p:cNvPr id="5" name="Rounded Rectangle 4"/>
          <p:cNvSpPr/>
          <p:nvPr/>
        </p:nvSpPr>
        <p:spPr>
          <a:xfrm>
            <a:off x="731520" y="1645920"/>
            <a:ext cx="5029200" cy="4114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737360"/>
            <a:ext cx="5029200" cy="457200"/>
          </a:xfrm>
          <a:prstGeom prst="rect">
            <a:avLst/>
          </a:prstGeom>
          <a:noFill/>
        </p:spPr>
        <p:txBody>
          <a:bodyPr wrap="square">
            <a:spAutoFit/>
          </a:bodyPr>
          <a:lstStyle/>
          <a:p>
            <a:pPr algn="ctr">
              <a:defRPr sz="2200" b="1">
                <a:solidFill>
                  <a:srgbClr val="FFFFFF"/>
                </a:solidFill>
                <a:latin typeface="Calibri"/>
              </a:defRPr>
            </a:pPr>
            <a:r>
              <a:t>AI CAN INSPECT FOR</a:t>
            </a:r>
          </a:p>
        </p:txBody>
      </p:sp>
      <p:sp>
        <p:nvSpPr>
          <p:cNvPr id="7" name="TextBox 6"/>
          <p:cNvSpPr txBox="1"/>
          <p:nvPr/>
        </p:nvSpPr>
        <p:spPr>
          <a:xfrm>
            <a:off x="1188720" y="2468880"/>
            <a:ext cx="4114800" cy="365760"/>
          </a:xfrm>
          <a:prstGeom prst="rect">
            <a:avLst/>
          </a:prstGeom>
          <a:noFill/>
        </p:spPr>
        <p:txBody>
          <a:bodyPr wrap="square">
            <a:spAutoFit/>
          </a:bodyPr>
          <a:lstStyle/>
          <a:p>
            <a:pPr algn="l">
              <a:defRPr sz="1500" b="0">
                <a:solidFill>
                  <a:srgbClr val="FFFFFF"/>
                </a:solidFill>
                <a:latin typeface="Calibri"/>
              </a:defRPr>
            </a:pPr>
            <a:r>
              <a:t>• Bugs</a:t>
            </a:r>
          </a:p>
        </p:txBody>
      </p:sp>
      <p:sp>
        <p:nvSpPr>
          <p:cNvPr id="8" name="TextBox 7"/>
          <p:cNvSpPr txBox="1"/>
          <p:nvPr/>
        </p:nvSpPr>
        <p:spPr>
          <a:xfrm>
            <a:off x="1188720" y="3017520"/>
            <a:ext cx="4114800" cy="365760"/>
          </a:xfrm>
          <a:prstGeom prst="rect">
            <a:avLst/>
          </a:prstGeom>
          <a:noFill/>
        </p:spPr>
        <p:txBody>
          <a:bodyPr wrap="square">
            <a:spAutoFit/>
          </a:bodyPr>
          <a:lstStyle/>
          <a:p>
            <a:pPr algn="l">
              <a:defRPr sz="1500" b="0">
                <a:solidFill>
                  <a:srgbClr val="FFFFFF"/>
                </a:solidFill>
                <a:latin typeface="Calibri"/>
              </a:defRPr>
            </a:pPr>
            <a:r>
              <a:t>• Code Smells</a:t>
            </a:r>
          </a:p>
        </p:txBody>
      </p:sp>
      <p:sp>
        <p:nvSpPr>
          <p:cNvPr id="9" name="TextBox 8"/>
          <p:cNvSpPr txBox="1"/>
          <p:nvPr/>
        </p:nvSpPr>
        <p:spPr>
          <a:xfrm>
            <a:off x="1188720" y="3566160"/>
            <a:ext cx="4114800" cy="365760"/>
          </a:xfrm>
          <a:prstGeom prst="rect">
            <a:avLst/>
          </a:prstGeom>
          <a:noFill/>
        </p:spPr>
        <p:txBody>
          <a:bodyPr wrap="square">
            <a:spAutoFit/>
          </a:bodyPr>
          <a:lstStyle/>
          <a:p>
            <a:pPr algn="l">
              <a:defRPr sz="1500" b="0">
                <a:solidFill>
                  <a:srgbClr val="FFFFFF"/>
                </a:solidFill>
                <a:latin typeface="Calibri"/>
              </a:defRPr>
            </a:pPr>
            <a:r>
              <a:t>• Security Issues</a:t>
            </a:r>
          </a:p>
        </p:txBody>
      </p:sp>
      <p:sp>
        <p:nvSpPr>
          <p:cNvPr id="10" name="TextBox 9"/>
          <p:cNvSpPr txBox="1"/>
          <p:nvPr/>
        </p:nvSpPr>
        <p:spPr>
          <a:xfrm>
            <a:off x="1188720" y="4114800"/>
            <a:ext cx="4114800" cy="365760"/>
          </a:xfrm>
          <a:prstGeom prst="rect">
            <a:avLst/>
          </a:prstGeom>
          <a:noFill/>
        </p:spPr>
        <p:txBody>
          <a:bodyPr wrap="square">
            <a:spAutoFit/>
          </a:bodyPr>
          <a:lstStyle/>
          <a:p>
            <a:pPr algn="l">
              <a:defRPr sz="1500" b="0">
                <a:solidFill>
                  <a:srgbClr val="FFFFFF"/>
                </a:solidFill>
                <a:latin typeface="Calibri"/>
              </a:defRPr>
            </a:pPr>
            <a:r>
              <a:t>• Complexity</a:t>
            </a:r>
          </a:p>
        </p:txBody>
      </p:sp>
      <p:sp>
        <p:nvSpPr>
          <p:cNvPr id="11" name="TextBox 10"/>
          <p:cNvSpPr txBox="1"/>
          <p:nvPr/>
        </p:nvSpPr>
        <p:spPr>
          <a:xfrm>
            <a:off x="1188720" y="4663440"/>
            <a:ext cx="4114800" cy="365760"/>
          </a:xfrm>
          <a:prstGeom prst="rect">
            <a:avLst/>
          </a:prstGeom>
          <a:noFill/>
        </p:spPr>
        <p:txBody>
          <a:bodyPr wrap="square">
            <a:spAutoFit/>
          </a:bodyPr>
          <a:lstStyle/>
          <a:p>
            <a:pPr algn="l">
              <a:defRPr sz="1500" b="0">
                <a:solidFill>
                  <a:srgbClr val="FFFFFF"/>
                </a:solidFill>
                <a:latin typeface="Calibri"/>
              </a:defRPr>
            </a:pPr>
            <a:r>
              <a:t>• Duplication</a:t>
            </a:r>
          </a:p>
        </p:txBody>
      </p:sp>
      <p:sp>
        <p:nvSpPr>
          <p:cNvPr id="12" name="Rounded Rectangle 11"/>
          <p:cNvSpPr/>
          <p:nvPr/>
        </p:nvSpPr>
        <p:spPr>
          <a:xfrm>
            <a:off x="6400800" y="1645920"/>
            <a:ext cx="5029200" cy="41148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737360"/>
            <a:ext cx="5029200" cy="457200"/>
          </a:xfrm>
          <a:prstGeom prst="rect">
            <a:avLst/>
          </a:prstGeom>
          <a:noFill/>
        </p:spPr>
        <p:txBody>
          <a:bodyPr wrap="square">
            <a:spAutoFit/>
          </a:bodyPr>
          <a:lstStyle/>
          <a:p>
            <a:pPr algn="ctr">
              <a:defRPr sz="2800" b="1">
                <a:solidFill>
                  <a:srgbClr val="FFFFFF"/>
                </a:solidFill>
                <a:latin typeface="Calibri"/>
              </a:defRPr>
            </a:pPr>
            <a:r>
              <a:t>BUT</a:t>
            </a:r>
          </a:p>
        </p:txBody>
      </p:sp>
      <p:sp>
        <p:nvSpPr>
          <p:cNvPr id="14" name="TextBox 13"/>
          <p:cNvSpPr txBox="1"/>
          <p:nvPr/>
        </p:nvSpPr>
        <p:spPr>
          <a:xfrm>
            <a:off x="6858000" y="2743200"/>
            <a:ext cx="4114800" cy="1828800"/>
          </a:xfrm>
          <a:prstGeom prst="rect">
            <a:avLst/>
          </a:prstGeom>
          <a:noFill/>
        </p:spPr>
        <p:txBody>
          <a:bodyPr wrap="square">
            <a:spAutoFit/>
          </a:bodyPr>
          <a:lstStyle/>
          <a:p>
            <a:pPr algn="ctr">
              <a:defRPr sz="2200" b="0">
                <a:solidFill>
                  <a:srgbClr val="FFFFFF"/>
                </a:solidFill>
                <a:latin typeface="Calibri"/>
              </a:defRPr>
            </a:pPr>
            <a:r>
              <a:t>AI output must be reviewed and validated by human engineers.</a:t>
            </a:r>
          </a:p>
        </p:txBody>
      </p:sp>
      <p:sp>
        <p:nvSpPr>
          <p:cNvPr id="15" name="Rectangle 14"/>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042"/>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 Requirements Engineering</a:t>
            </a:r>
          </a:p>
        </p:txBody>
      </p:sp>
      <p:sp>
        <p:nvSpPr>
          <p:cNvPr id="5" name="Rounded Rectangle 4"/>
          <p:cNvSpPr/>
          <p:nvPr/>
        </p:nvSpPr>
        <p:spPr>
          <a:xfrm>
            <a:off x="914400" y="2514600"/>
            <a:ext cx="2286000" cy="13716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514600"/>
            <a:ext cx="2286000" cy="1371600"/>
          </a:xfrm>
          <a:prstGeom prst="rect">
            <a:avLst/>
          </a:prstGeom>
          <a:noFill/>
        </p:spPr>
        <p:txBody>
          <a:bodyPr wrap="square">
            <a:spAutoFit/>
          </a:bodyPr>
          <a:lstStyle/>
          <a:p>
            <a:pPr algn="ctr">
              <a:defRPr sz="1600" b="1">
                <a:solidFill>
                  <a:srgbClr val="FFFFFF"/>
                </a:solidFill>
                <a:latin typeface="Calibri"/>
              </a:defRPr>
            </a:pPr>
            <a:r>
              <a:t>Customer</a:t>
            </a:r>
            <a:br/>
            <a:r>
              <a:t>Conversation</a:t>
            </a:r>
          </a:p>
        </p:txBody>
      </p:sp>
      <p:sp>
        <p:nvSpPr>
          <p:cNvPr id="7" name="Right Arrow 6"/>
          <p:cNvSpPr/>
          <p:nvPr/>
        </p:nvSpPr>
        <p:spPr>
          <a:xfrm>
            <a:off x="3200400" y="30861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74720" y="2514600"/>
            <a:ext cx="2286000" cy="13716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0" y="2514600"/>
            <a:ext cx="2286000" cy="1371600"/>
          </a:xfrm>
          <a:prstGeom prst="rect">
            <a:avLst/>
          </a:prstGeom>
          <a:noFill/>
        </p:spPr>
        <p:txBody>
          <a:bodyPr wrap="square">
            <a:spAutoFit/>
          </a:bodyPr>
          <a:lstStyle/>
          <a:p>
            <a:pPr algn="ctr">
              <a:defRPr sz="1600" b="1">
                <a:solidFill>
                  <a:srgbClr val="FFFFFF"/>
                </a:solidFill>
                <a:latin typeface="Calibri"/>
              </a:defRPr>
            </a:pPr>
            <a:r>
              <a:t>Requirements</a:t>
            </a:r>
          </a:p>
        </p:txBody>
      </p:sp>
      <p:sp>
        <p:nvSpPr>
          <p:cNvPr id="10" name="Right Arrow 9"/>
          <p:cNvSpPr/>
          <p:nvPr/>
        </p:nvSpPr>
        <p:spPr>
          <a:xfrm>
            <a:off x="5760720" y="30861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035040" y="2514600"/>
            <a:ext cx="2286000" cy="13716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0" y="2514600"/>
            <a:ext cx="2286000" cy="1371600"/>
          </a:xfrm>
          <a:prstGeom prst="rect">
            <a:avLst/>
          </a:prstGeom>
          <a:noFill/>
        </p:spPr>
        <p:txBody>
          <a:bodyPr wrap="square">
            <a:spAutoFit/>
          </a:bodyPr>
          <a:lstStyle/>
          <a:p>
            <a:pPr algn="ctr">
              <a:defRPr sz="1600" b="1">
                <a:solidFill>
                  <a:srgbClr val="FFFFFF"/>
                </a:solidFill>
                <a:latin typeface="Calibri"/>
              </a:defRPr>
            </a:pPr>
            <a:r>
              <a:t>User Stories</a:t>
            </a:r>
          </a:p>
        </p:txBody>
      </p:sp>
      <p:sp>
        <p:nvSpPr>
          <p:cNvPr id="13" name="Right Arrow 12"/>
          <p:cNvSpPr/>
          <p:nvPr/>
        </p:nvSpPr>
        <p:spPr>
          <a:xfrm>
            <a:off x="8321040" y="30861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595360" y="2514600"/>
            <a:ext cx="2286000" cy="13716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0" y="2514600"/>
            <a:ext cx="2286000" cy="1371600"/>
          </a:xfrm>
          <a:prstGeom prst="rect">
            <a:avLst/>
          </a:prstGeom>
          <a:noFill/>
        </p:spPr>
        <p:txBody>
          <a:bodyPr wrap="square">
            <a:spAutoFit/>
          </a:bodyPr>
          <a:lstStyle/>
          <a:p>
            <a:pPr algn="ctr">
              <a:defRPr sz="1600" b="1">
                <a:solidFill>
                  <a:srgbClr val="FFFFFF"/>
                </a:solidFill>
                <a:latin typeface="Calibri"/>
              </a:defRPr>
            </a:pPr>
            <a:r>
              <a:t>Acceptance</a:t>
            </a:r>
            <a:br/>
            <a:r>
              <a:t>Criteria</a:t>
            </a:r>
          </a:p>
        </p:txBody>
      </p:sp>
      <p:sp>
        <p:nvSpPr>
          <p:cNvPr id="16" name="Rounded Rectangle 15"/>
          <p:cNvSpPr/>
          <p:nvPr/>
        </p:nvSpPr>
        <p:spPr>
          <a:xfrm>
            <a:off x="1371600" y="5029200"/>
            <a:ext cx="9144000" cy="137160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54480" y="5120640"/>
            <a:ext cx="8778240" cy="365760"/>
          </a:xfrm>
          <a:prstGeom prst="rect">
            <a:avLst/>
          </a:prstGeom>
          <a:noFill/>
        </p:spPr>
        <p:txBody>
          <a:bodyPr wrap="square">
            <a:spAutoFit/>
          </a:bodyPr>
          <a:lstStyle/>
          <a:p>
            <a:pPr algn="l">
              <a:defRPr sz="1400" b="1">
                <a:solidFill>
                  <a:srgbClr val="1A3A5C"/>
                </a:solidFill>
                <a:latin typeface="Calibri"/>
              </a:defRPr>
            </a:pPr>
            <a:r>
              <a:t>Example:</a:t>
            </a:r>
          </a:p>
        </p:txBody>
      </p:sp>
      <p:sp>
        <p:nvSpPr>
          <p:cNvPr id="18" name="TextBox 17"/>
          <p:cNvSpPr txBox="1"/>
          <p:nvPr/>
        </p:nvSpPr>
        <p:spPr>
          <a:xfrm>
            <a:off x="1554480" y="5486400"/>
            <a:ext cx="8778240" cy="731520"/>
          </a:xfrm>
          <a:prstGeom prst="rect">
            <a:avLst/>
          </a:prstGeom>
          <a:noFill/>
        </p:spPr>
        <p:txBody>
          <a:bodyPr wrap="square">
            <a:spAutoFit/>
          </a:bodyPr>
          <a:lstStyle/>
          <a:p>
            <a:pPr algn="l">
              <a:defRPr sz="1300" b="0">
                <a:solidFill>
                  <a:srgbClr val="1A1A2E"/>
                </a:solidFill>
                <a:latin typeface="Calibri"/>
              </a:defRPr>
            </a:pPr>
            <a:r>
              <a:rPr dirty="0"/>
              <a:t>Customer: "Students should easily register for courses."</a:t>
            </a:r>
            <a:br>
              <a:rPr dirty="0"/>
            </a:br>
            <a:r>
              <a:rPr dirty="0"/>
              <a:t>AI can help turn this into structured requirements. But the human team must confirm them.</a:t>
            </a:r>
          </a:p>
        </p:txBody>
      </p:sp>
      <p:sp>
        <p:nvSpPr>
          <p:cNvPr id="19" name="Rectangle 18"/>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 Documentation</a:t>
            </a:r>
          </a:p>
        </p:txBody>
      </p:sp>
      <p:sp>
        <p:nvSpPr>
          <p:cNvPr id="5" name="Rounded Rectangle 4"/>
          <p:cNvSpPr/>
          <p:nvPr/>
        </p:nvSpPr>
        <p:spPr>
          <a:xfrm>
            <a:off x="914400" y="1828800"/>
            <a:ext cx="1828800" cy="22860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560320"/>
            <a:ext cx="1828800" cy="914400"/>
          </a:xfrm>
          <a:prstGeom prst="rect">
            <a:avLst/>
          </a:prstGeom>
          <a:noFill/>
        </p:spPr>
        <p:txBody>
          <a:bodyPr wrap="square">
            <a:spAutoFit/>
          </a:bodyPr>
          <a:lstStyle/>
          <a:p>
            <a:pPr algn="ctr">
              <a:defRPr sz="1800" b="1">
                <a:solidFill>
                  <a:srgbClr val="FFFFFF"/>
                </a:solidFill>
                <a:latin typeface="Calibri"/>
              </a:defRPr>
            </a:pPr>
            <a:r>
              <a:t>API Documentation</a:t>
            </a:r>
          </a:p>
        </p:txBody>
      </p:sp>
      <p:sp>
        <p:nvSpPr>
          <p:cNvPr id="7" name="Rounded Rectangle 6"/>
          <p:cNvSpPr/>
          <p:nvPr/>
        </p:nvSpPr>
        <p:spPr>
          <a:xfrm>
            <a:off x="3017520" y="1828800"/>
            <a:ext cx="1828800" cy="22860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17520" y="2560320"/>
            <a:ext cx="1828800" cy="914400"/>
          </a:xfrm>
          <a:prstGeom prst="rect">
            <a:avLst/>
          </a:prstGeom>
          <a:noFill/>
        </p:spPr>
        <p:txBody>
          <a:bodyPr wrap="square">
            <a:spAutoFit/>
          </a:bodyPr>
          <a:lstStyle/>
          <a:p>
            <a:pPr algn="ctr">
              <a:defRPr sz="1800" b="1">
                <a:solidFill>
                  <a:srgbClr val="FFFFFF"/>
                </a:solidFill>
                <a:latin typeface="Calibri"/>
              </a:defRPr>
            </a:pPr>
            <a:r>
              <a:t>README Files</a:t>
            </a:r>
          </a:p>
        </p:txBody>
      </p:sp>
      <p:sp>
        <p:nvSpPr>
          <p:cNvPr id="9" name="Rounded Rectangle 8"/>
          <p:cNvSpPr/>
          <p:nvPr/>
        </p:nvSpPr>
        <p:spPr>
          <a:xfrm>
            <a:off x="5120640" y="1828800"/>
            <a:ext cx="1828800" cy="22860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20640" y="2560320"/>
            <a:ext cx="1828800" cy="914400"/>
          </a:xfrm>
          <a:prstGeom prst="rect">
            <a:avLst/>
          </a:prstGeom>
          <a:noFill/>
        </p:spPr>
        <p:txBody>
          <a:bodyPr wrap="square">
            <a:spAutoFit/>
          </a:bodyPr>
          <a:lstStyle/>
          <a:p>
            <a:pPr algn="ctr">
              <a:defRPr sz="1800" b="1">
                <a:solidFill>
                  <a:srgbClr val="FFFFFF"/>
                </a:solidFill>
                <a:latin typeface="Calibri"/>
              </a:defRPr>
            </a:pPr>
            <a:r>
              <a:t>Architecture Explanations</a:t>
            </a:r>
          </a:p>
        </p:txBody>
      </p:sp>
      <p:sp>
        <p:nvSpPr>
          <p:cNvPr id="11" name="Rounded Rectangle 10"/>
          <p:cNvSpPr/>
          <p:nvPr/>
        </p:nvSpPr>
        <p:spPr>
          <a:xfrm>
            <a:off x="7223759" y="1828800"/>
            <a:ext cx="1828800" cy="22860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59" y="2560320"/>
            <a:ext cx="1828800" cy="914400"/>
          </a:xfrm>
          <a:prstGeom prst="rect">
            <a:avLst/>
          </a:prstGeom>
          <a:noFill/>
        </p:spPr>
        <p:txBody>
          <a:bodyPr wrap="square">
            <a:spAutoFit/>
          </a:bodyPr>
          <a:lstStyle/>
          <a:p>
            <a:pPr algn="ctr">
              <a:defRPr sz="1800" b="1">
                <a:solidFill>
                  <a:srgbClr val="FFFFFF"/>
                </a:solidFill>
                <a:latin typeface="Calibri"/>
              </a:defRPr>
            </a:pPr>
            <a:r>
              <a:t>Code Comments</a:t>
            </a:r>
          </a:p>
        </p:txBody>
      </p:sp>
      <p:sp>
        <p:nvSpPr>
          <p:cNvPr id="13" name="Rounded Rectangle 12"/>
          <p:cNvSpPr/>
          <p:nvPr/>
        </p:nvSpPr>
        <p:spPr>
          <a:xfrm>
            <a:off x="9326880" y="1828800"/>
            <a:ext cx="1828800" cy="22860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0" y="2560320"/>
            <a:ext cx="1828800" cy="914400"/>
          </a:xfrm>
          <a:prstGeom prst="rect">
            <a:avLst/>
          </a:prstGeom>
          <a:noFill/>
        </p:spPr>
        <p:txBody>
          <a:bodyPr wrap="square">
            <a:spAutoFit/>
          </a:bodyPr>
          <a:lstStyle/>
          <a:p>
            <a:pPr algn="ctr">
              <a:defRPr sz="1800" b="1">
                <a:solidFill>
                  <a:srgbClr val="FFFFFF"/>
                </a:solidFill>
                <a:latin typeface="Calibri"/>
              </a:defRPr>
            </a:pPr>
            <a:r>
              <a:t>User Guides</a:t>
            </a:r>
          </a:p>
        </p:txBody>
      </p:sp>
      <p:sp>
        <p:nvSpPr>
          <p:cNvPr id="15" name="Rounded Rectangle 14"/>
          <p:cNvSpPr/>
          <p:nvPr/>
        </p:nvSpPr>
        <p:spPr>
          <a:xfrm>
            <a:off x="1828800" y="5029200"/>
            <a:ext cx="8229600" cy="13716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11680" y="5120640"/>
            <a:ext cx="7863840" cy="1188720"/>
          </a:xfrm>
          <a:prstGeom prst="rect">
            <a:avLst/>
          </a:prstGeom>
          <a:noFill/>
        </p:spPr>
        <p:txBody>
          <a:bodyPr wrap="square">
            <a:spAutoFit/>
          </a:bodyPr>
          <a:lstStyle/>
          <a:p>
            <a:pPr algn="ctr">
              <a:defRPr sz="2200" b="1">
                <a:solidFill>
                  <a:srgbClr val="FFFFFF"/>
                </a:solidFill>
                <a:latin typeface="Calibri"/>
              </a:defRPr>
            </a:pPr>
            <a:r>
              <a:t>Engineering Lesson:</a:t>
            </a:r>
            <a:br/>
            <a:r>
              <a:t>Documentation is still part of professional software development.</a:t>
            </a:r>
          </a:p>
        </p:txBody>
      </p:sp>
      <p:sp>
        <p:nvSpPr>
          <p:cNvPr id="17" name="Rectangle 16"/>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8 — AI-NATIVE SOFTWARE</a:t>
            </a:r>
          </a:p>
        </p:txBody>
      </p:sp>
      <p:sp>
        <p:nvSpPr>
          <p:cNvPr id="5" name="Rounded Rectangle 4"/>
          <p:cNvSpPr/>
          <p:nvPr/>
        </p:nvSpPr>
        <p:spPr>
          <a:xfrm>
            <a:off x="4434840" y="1645920"/>
            <a:ext cx="3200400" cy="73152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34840" y="1645920"/>
            <a:ext cx="3200400" cy="731520"/>
          </a:xfrm>
          <a:prstGeom prst="rect">
            <a:avLst/>
          </a:prstGeom>
          <a:noFill/>
        </p:spPr>
        <p:txBody>
          <a:bodyPr wrap="square">
            <a:spAutoFit/>
          </a:bodyPr>
          <a:lstStyle/>
          <a:p>
            <a:pPr algn="ctr">
              <a:defRPr sz="1700" b="1">
                <a:solidFill>
                  <a:srgbClr val="FFFFFF"/>
                </a:solidFill>
                <a:latin typeface="Calibri"/>
              </a:defRPr>
            </a:pPr>
            <a:r>
              <a:t>Input</a:t>
            </a:r>
          </a:p>
        </p:txBody>
      </p:sp>
      <p:sp>
        <p:nvSpPr>
          <p:cNvPr id="7" name="Down Arrow 6"/>
          <p:cNvSpPr/>
          <p:nvPr/>
        </p:nvSpPr>
        <p:spPr>
          <a:xfrm>
            <a:off x="5897880" y="23774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434840" y="2560320"/>
            <a:ext cx="3200400" cy="7315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2560320"/>
            <a:ext cx="3200400" cy="731520"/>
          </a:xfrm>
          <a:prstGeom prst="rect">
            <a:avLst/>
          </a:prstGeom>
          <a:noFill/>
        </p:spPr>
        <p:txBody>
          <a:bodyPr wrap="square">
            <a:spAutoFit/>
          </a:bodyPr>
          <a:lstStyle/>
          <a:p>
            <a:pPr algn="ctr">
              <a:defRPr sz="1700" b="1">
                <a:solidFill>
                  <a:srgbClr val="FFFFFF"/>
                </a:solidFill>
                <a:latin typeface="Calibri"/>
              </a:defRPr>
            </a:pPr>
            <a:r>
              <a:t>AI Model</a:t>
            </a:r>
          </a:p>
        </p:txBody>
      </p:sp>
      <p:sp>
        <p:nvSpPr>
          <p:cNvPr id="10" name="Down Arrow 9"/>
          <p:cNvSpPr/>
          <p:nvPr/>
        </p:nvSpPr>
        <p:spPr>
          <a:xfrm>
            <a:off x="5897880" y="32918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434840" y="3474720"/>
            <a:ext cx="3200400" cy="7315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3474720"/>
            <a:ext cx="3200400" cy="731520"/>
          </a:xfrm>
          <a:prstGeom prst="rect">
            <a:avLst/>
          </a:prstGeom>
          <a:noFill/>
        </p:spPr>
        <p:txBody>
          <a:bodyPr wrap="square">
            <a:spAutoFit/>
          </a:bodyPr>
          <a:lstStyle/>
          <a:p>
            <a:pPr algn="ctr">
              <a:defRPr sz="1700" b="1">
                <a:solidFill>
                  <a:srgbClr val="FFFFFF"/>
                </a:solidFill>
                <a:latin typeface="Calibri"/>
              </a:defRPr>
            </a:pPr>
            <a:r>
              <a:t>Inference</a:t>
            </a:r>
          </a:p>
        </p:txBody>
      </p:sp>
      <p:sp>
        <p:nvSpPr>
          <p:cNvPr id="13" name="Down Arrow 12"/>
          <p:cNvSpPr/>
          <p:nvPr/>
        </p:nvSpPr>
        <p:spPr>
          <a:xfrm>
            <a:off x="5897880" y="42062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434840" y="4389120"/>
            <a:ext cx="3200400" cy="7315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4389120"/>
            <a:ext cx="3200400" cy="731520"/>
          </a:xfrm>
          <a:prstGeom prst="rect">
            <a:avLst/>
          </a:prstGeom>
          <a:noFill/>
        </p:spPr>
        <p:txBody>
          <a:bodyPr wrap="square">
            <a:spAutoFit/>
          </a:bodyPr>
          <a:lstStyle/>
          <a:p>
            <a:pPr algn="ctr">
              <a:defRPr sz="1700" b="1">
                <a:solidFill>
                  <a:srgbClr val="FFFFFF"/>
                </a:solidFill>
                <a:latin typeface="Calibri"/>
              </a:defRPr>
            </a:pPr>
            <a:r>
              <a:t>Decision</a:t>
            </a:r>
          </a:p>
        </p:txBody>
      </p:sp>
      <p:sp>
        <p:nvSpPr>
          <p:cNvPr id="16" name="Down Arrow 15"/>
          <p:cNvSpPr/>
          <p:nvPr/>
        </p:nvSpPr>
        <p:spPr>
          <a:xfrm>
            <a:off x="5897880" y="51206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34840" y="5303520"/>
            <a:ext cx="3200400" cy="73152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5303520"/>
            <a:ext cx="3200400" cy="731520"/>
          </a:xfrm>
          <a:prstGeom prst="rect">
            <a:avLst/>
          </a:prstGeom>
          <a:noFill/>
        </p:spPr>
        <p:txBody>
          <a:bodyPr wrap="square">
            <a:spAutoFit/>
          </a:bodyPr>
          <a:lstStyle/>
          <a:p>
            <a:pPr algn="ctr">
              <a:defRPr sz="1700" b="1">
                <a:solidFill>
                  <a:srgbClr val="FFFFFF"/>
                </a:solidFill>
                <a:latin typeface="Calibri"/>
              </a:defRPr>
            </a:pPr>
            <a:r>
              <a:t>Action</a:t>
            </a:r>
          </a:p>
        </p:txBody>
      </p:sp>
      <p:sp>
        <p:nvSpPr>
          <p:cNvPr id="19" name="Rounded Rectangle 18"/>
          <p:cNvSpPr/>
          <p:nvPr/>
        </p:nvSpPr>
        <p:spPr>
          <a:xfrm>
            <a:off x="1371600" y="5771949"/>
            <a:ext cx="9144000" cy="9144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54480" y="5820076"/>
            <a:ext cx="8778240" cy="731520"/>
          </a:xfrm>
          <a:prstGeom prst="rect">
            <a:avLst/>
          </a:prstGeom>
          <a:noFill/>
        </p:spPr>
        <p:txBody>
          <a:bodyPr wrap="square">
            <a:spAutoFit/>
          </a:bodyPr>
          <a:lstStyle/>
          <a:p>
            <a:pPr algn="ctr">
              <a:defRPr sz="2000" b="0">
                <a:solidFill>
                  <a:srgbClr val="FFFFFF"/>
                </a:solidFill>
                <a:latin typeface="Calibri"/>
              </a:defRPr>
            </a:pPr>
            <a:r>
              <a:rPr dirty="0"/>
              <a:t>Example — Fraud detection: Transaction → ML Model → Risk Score → Decision → Alert/Approve/Block</a:t>
            </a:r>
          </a:p>
        </p:txBody>
      </p:sp>
      <p:sp>
        <p:nvSpPr>
          <p:cNvPr id="21" name="Rectangle 20"/>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Generative AI Applications</a:t>
            </a:r>
          </a:p>
        </p:txBody>
      </p:sp>
      <p:sp>
        <p:nvSpPr>
          <p:cNvPr id="5" name="Rounded Rectangle 4"/>
          <p:cNvSpPr/>
          <p:nvPr/>
        </p:nvSpPr>
        <p:spPr>
          <a:xfrm>
            <a:off x="914400" y="1645920"/>
            <a:ext cx="3017520" cy="164592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94560"/>
            <a:ext cx="3017520" cy="457200"/>
          </a:xfrm>
          <a:prstGeom prst="rect">
            <a:avLst/>
          </a:prstGeom>
          <a:noFill/>
        </p:spPr>
        <p:txBody>
          <a:bodyPr wrap="square">
            <a:spAutoFit/>
          </a:bodyPr>
          <a:lstStyle/>
          <a:p>
            <a:pPr algn="ctr">
              <a:defRPr sz="2200" b="1">
                <a:solidFill>
                  <a:srgbClr val="FFFFFF"/>
                </a:solidFill>
                <a:latin typeface="Calibri"/>
              </a:defRPr>
            </a:pPr>
            <a:r>
              <a:t>Chatbots</a:t>
            </a:r>
          </a:p>
        </p:txBody>
      </p:sp>
      <p:sp>
        <p:nvSpPr>
          <p:cNvPr id="7" name="Rounded Rectangle 6"/>
          <p:cNvSpPr/>
          <p:nvPr/>
        </p:nvSpPr>
        <p:spPr>
          <a:xfrm>
            <a:off x="4389120" y="1645920"/>
            <a:ext cx="3017520" cy="16459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89120" y="2194560"/>
            <a:ext cx="3017520" cy="457200"/>
          </a:xfrm>
          <a:prstGeom prst="rect">
            <a:avLst/>
          </a:prstGeom>
          <a:noFill/>
        </p:spPr>
        <p:txBody>
          <a:bodyPr wrap="square">
            <a:spAutoFit/>
          </a:bodyPr>
          <a:lstStyle/>
          <a:p>
            <a:pPr algn="ctr">
              <a:defRPr sz="2200" b="1">
                <a:solidFill>
                  <a:srgbClr val="FFFFFF"/>
                </a:solidFill>
                <a:latin typeface="Calibri"/>
              </a:defRPr>
            </a:pPr>
            <a:r>
              <a:t>Document Analysis</a:t>
            </a:r>
          </a:p>
        </p:txBody>
      </p:sp>
      <p:sp>
        <p:nvSpPr>
          <p:cNvPr id="9" name="Rounded Rectangle 8"/>
          <p:cNvSpPr/>
          <p:nvPr/>
        </p:nvSpPr>
        <p:spPr>
          <a:xfrm>
            <a:off x="7863840" y="1645920"/>
            <a:ext cx="3017520" cy="16459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2194560"/>
            <a:ext cx="3017520" cy="457200"/>
          </a:xfrm>
          <a:prstGeom prst="rect">
            <a:avLst/>
          </a:prstGeom>
          <a:noFill/>
        </p:spPr>
        <p:txBody>
          <a:bodyPr wrap="square">
            <a:spAutoFit/>
          </a:bodyPr>
          <a:lstStyle/>
          <a:p>
            <a:pPr algn="ctr">
              <a:defRPr sz="2200" b="1">
                <a:solidFill>
                  <a:srgbClr val="FFFFFF"/>
                </a:solidFill>
                <a:latin typeface="Calibri"/>
              </a:defRPr>
            </a:pPr>
            <a:r>
              <a:t>Code Assistants</a:t>
            </a:r>
          </a:p>
        </p:txBody>
      </p:sp>
      <p:sp>
        <p:nvSpPr>
          <p:cNvPr id="11" name="Rounded Rectangle 10"/>
          <p:cNvSpPr/>
          <p:nvPr/>
        </p:nvSpPr>
        <p:spPr>
          <a:xfrm>
            <a:off x="914400" y="3657600"/>
            <a:ext cx="3017520" cy="16459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206240"/>
            <a:ext cx="3017520" cy="457200"/>
          </a:xfrm>
          <a:prstGeom prst="rect">
            <a:avLst/>
          </a:prstGeom>
          <a:noFill/>
        </p:spPr>
        <p:txBody>
          <a:bodyPr wrap="square">
            <a:spAutoFit/>
          </a:bodyPr>
          <a:lstStyle/>
          <a:p>
            <a:pPr algn="ctr">
              <a:defRPr sz="2200" b="1">
                <a:solidFill>
                  <a:srgbClr val="FFFFFF"/>
                </a:solidFill>
                <a:latin typeface="Calibri"/>
              </a:defRPr>
            </a:pPr>
            <a:r>
              <a:t>Content Generation</a:t>
            </a:r>
          </a:p>
        </p:txBody>
      </p:sp>
      <p:sp>
        <p:nvSpPr>
          <p:cNvPr id="13" name="Rounded Rectangle 12"/>
          <p:cNvSpPr/>
          <p:nvPr/>
        </p:nvSpPr>
        <p:spPr>
          <a:xfrm>
            <a:off x="4389120" y="3657600"/>
            <a:ext cx="3017520" cy="164592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4206240"/>
            <a:ext cx="3017520" cy="457200"/>
          </a:xfrm>
          <a:prstGeom prst="rect">
            <a:avLst/>
          </a:prstGeom>
          <a:noFill/>
        </p:spPr>
        <p:txBody>
          <a:bodyPr wrap="square">
            <a:spAutoFit/>
          </a:bodyPr>
          <a:lstStyle/>
          <a:p>
            <a:pPr algn="ctr">
              <a:defRPr sz="2200" b="1">
                <a:solidFill>
                  <a:srgbClr val="FFFFFF"/>
                </a:solidFill>
                <a:latin typeface="Calibri"/>
              </a:defRPr>
            </a:pPr>
            <a:r>
              <a:t>AI Search</a:t>
            </a:r>
          </a:p>
        </p:txBody>
      </p:sp>
      <p:sp>
        <p:nvSpPr>
          <p:cNvPr id="15" name="Rounded Rectangle 14"/>
          <p:cNvSpPr/>
          <p:nvPr/>
        </p:nvSpPr>
        <p:spPr>
          <a:xfrm>
            <a:off x="7863840" y="3657600"/>
            <a:ext cx="3017520" cy="164592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4206240"/>
            <a:ext cx="3017520" cy="457200"/>
          </a:xfrm>
          <a:prstGeom prst="rect">
            <a:avLst/>
          </a:prstGeom>
          <a:noFill/>
        </p:spPr>
        <p:txBody>
          <a:bodyPr wrap="square">
            <a:spAutoFit/>
          </a:bodyPr>
          <a:lstStyle/>
          <a:p>
            <a:pPr algn="ctr">
              <a:defRPr sz="2200" b="1">
                <a:solidFill>
                  <a:srgbClr val="FFFFFF"/>
                </a:solidFill>
                <a:latin typeface="Calibri"/>
              </a:defRPr>
            </a:pPr>
            <a:r>
              <a:t>Voice Assistants</a:t>
            </a:r>
          </a:p>
        </p:txBody>
      </p:sp>
      <p:sp>
        <p:nvSpPr>
          <p:cNvPr id="17" name="Rounded Rectangle 16"/>
          <p:cNvSpPr/>
          <p:nvPr/>
        </p:nvSpPr>
        <p:spPr>
          <a:xfrm>
            <a:off x="1828800" y="5303520"/>
            <a:ext cx="8229600" cy="10972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11680" y="5394960"/>
            <a:ext cx="7863840" cy="914400"/>
          </a:xfrm>
          <a:prstGeom prst="rect">
            <a:avLst/>
          </a:prstGeom>
          <a:noFill/>
        </p:spPr>
        <p:txBody>
          <a:bodyPr wrap="square">
            <a:spAutoFit/>
          </a:bodyPr>
          <a:lstStyle/>
          <a:p>
            <a:pPr algn="ctr">
              <a:defRPr sz="1800" b="0">
                <a:solidFill>
                  <a:srgbClr val="FFFFFF"/>
                </a:solidFill>
                <a:latin typeface="Calibri"/>
              </a:defRPr>
            </a:pPr>
            <a:r>
              <a:t>Example — University AI Assistant:</a:t>
            </a:r>
            <a:br/>
            <a:r>
              <a:t>Student Question → Retrieval → University Documents → LLM → Answer</a:t>
            </a:r>
          </a:p>
        </p:txBody>
      </p:sp>
      <p:sp>
        <p:nvSpPr>
          <p:cNvPr id="19" name="Rectangle 18"/>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Retrieval-Augmented Generation (RAG)</a:t>
            </a:r>
          </a:p>
        </p:txBody>
      </p:sp>
      <p:sp>
        <p:nvSpPr>
          <p:cNvPr id="5" name="Rounded Rectangle 4"/>
          <p:cNvSpPr/>
          <p:nvPr/>
        </p:nvSpPr>
        <p:spPr>
          <a:xfrm>
            <a:off x="4434840" y="1371600"/>
            <a:ext cx="3200400" cy="6400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34840" y="1371600"/>
            <a:ext cx="3200400" cy="640080"/>
          </a:xfrm>
          <a:prstGeom prst="rect">
            <a:avLst/>
          </a:prstGeom>
          <a:noFill/>
        </p:spPr>
        <p:txBody>
          <a:bodyPr wrap="square">
            <a:spAutoFit/>
          </a:bodyPr>
          <a:lstStyle/>
          <a:p>
            <a:pPr algn="ctr">
              <a:defRPr sz="1700" b="1">
                <a:solidFill>
                  <a:srgbClr val="FFFFFF"/>
                </a:solidFill>
                <a:latin typeface="Calibri"/>
              </a:defRPr>
            </a:pPr>
            <a:r>
              <a:t>User Question</a:t>
            </a:r>
          </a:p>
        </p:txBody>
      </p:sp>
      <p:sp>
        <p:nvSpPr>
          <p:cNvPr id="7" name="Down Arrow 6"/>
          <p:cNvSpPr/>
          <p:nvPr/>
        </p:nvSpPr>
        <p:spPr>
          <a:xfrm>
            <a:off x="5897880" y="201168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434840" y="2148840"/>
            <a:ext cx="3200400" cy="6400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2148840"/>
            <a:ext cx="3200400" cy="640080"/>
          </a:xfrm>
          <a:prstGeom prst="rect">
            <a:avLst/>
          </a:prstGeom>
          <a:noFill/>
        </p:spPr>
        <p:txBody>
          <a:bodyPr wrap="square">
            <a:spAutoFit/>
          </a:bodyPr>
          <a:lstStyle/>
          <a:p>
            <a:pPr algn="ctr">
              <a:defRPr sz="1700" b="1">
                <a:solidFill>
                  <a:srgbClr val="FFFFFF"/>
                </a:solidFill>
                <a:latin typeface="Calibri"/>
              </a:defRPr>
            </a:pPr>
            <a:r>
              <a:t>Retriever</a:t>
            </a:r>
          </a:p>
        </p:txBody>
      </p:sp>
      <p:sp>
        <p:nvSpPr>
          <p:cNvPr id="10" name="Down Arrow 9"/>
          <p:cNvSpPr/>
          <p:nvPr/>
        </p:nvSpPr>
        <p:spPr>
          <a:xfrm>
            <a:off x="5897880" y="278892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434840" y="2926080"/>
            <a:ext cx="320040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926080"/>
            <a:ext cx="3200400" cy="640080"/>
          </a:xfrm>
          <a:prstGeom prst="rect">
            <a:avLst/>
          </a:prstGeom>
          <a:noFill/>
        </p:spPr>
        <p:txBody>
          <a:bodyPr wrap="square">
            <a:spAutoFit/>
          </a:bodyPr>
          <a:lstStyle/>
          <a:p>
            <a:pPr algn="ctr">
              <a:defRPr sz="1700" b="1">
                <a:solidFill>
                  <a:srgbClr val="FFFFFF"/>
                </a:solidFill>
                <a:latin typeface="Calibri"/>
              </a:defRPr>
            </a:pPr>
            <a:r>
              <a:t>Vector Database</a:t>
            </a:r>
          </a:p>
        </p:txBody>
      </p:sp>
      <p:sp>
        <p:nvSpPr>
          <p:cNvPr id="13" name="Down Arrow 12"/>
          <p:cNvSpPr/>
          <p:nvPr/>
        </p:nvSpPr>
        <p:spPr>
          <a:xfrm>
            <a:off x="5897880" y="35661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434840" y="3703320"/>
            <a:ext cx="3200400" cy="6400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3703320"/>
            <a:ext cx="3200400" cy="640080"/>
          </a:xfrm>
          <a:prstGeom prst="rect">
            <a:avLst/>
          </a:prstGeom>
          <a:noFill/>
        </p:spPr>
        <p:txBody>
          <a:bodyPr wrap="square">
            <a:spAutoFit/>
          </a:bodyPr>
          <a:lstStyle/>
          <a:p>
            <a:pPr algn="ctr">
              <a:defRPr sz="1700" b="1">
                <a:solidFill>
                  <a:srgbClr val="FFFFFF"/>
                </a:solidFill>
                <a:latin typeface="Calibri"/>
              </a:defRPr>
            </a:pPr>
            <a:r>
              <a:t>Relevant Documents</a:t>
            </a:r>
          </a:p>
        </p:txBody>
      </p:sp>
      <p:sp>
        <p:nvSpPr>
          <p:cNvPr id="16" name="Down Arrow 15"/>
          <p:cNvSpPr/>
          <p:nvPr/>
        </p:nvSpPr>
        <p:spPr>
          <a:xfrm>
            <a:off x="5897880" y="43434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34840" y="4480560"/>
            <a:ext cx="3200400" cy="6400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4480560"/>
            <a:ext cx="3200400" cy="640080"/>
          </a:xfrm>
          <a:prstGeom prst="rect">
            <a:avLst/>
          </a:prstGeom>
          <a:noFill/>
        </p:spPr>
        <p:txBody>
          <a:bodyPr wrap="square">
            <a:spAutoFit/>
          </a:bodyPr>
          <a:lstStyle/>
          <a:p>
            <a:pPr algn="ctr">
              <a:defRPr sz="1700" b="1">
                <a:solidFill>
                  <a:srgbClr val="FFFFFF"/>
                </a:solidFill>
                <a:latin typeface="Calibri"/>
              </a:defRPr>
            </a:pPr>
            <a:r>
              <a:t>LLM</a:t>
            </a:r>
          </a:p>
        </p:txBody>
      </p:sp>
      <p:sp>
        <p:nvSpPr>
          <p:cNvPr id="19" name="Down Arrow 18"/>
          <p:cNvSpPr/>
          <p:nvPr/>
        </p:nvSpPr>
        <p:spPr>
          <a:xfrm>
            <a:off x="5897880" y="51206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434840" y="5257800"/>
            <a:ext cx="3200400" cy="6400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4840" y="5257800"/>
            <a:ext cx="3200400" cy="640080"/>
          </a:xfrm>
          <a:prstGeom prst="rect">
            <a:avLst/>
          </a:prstGeom>
          <a:noFill/>
        </p:spPr>
        <p:txBody>
          <a:bodyPr wrap="square">
            <a:spAutoFit/>
          </a:bodyPr>
          <a:lstStyle/>
          <a:p>
            <a:pPr algn="ctr">
              <a:defRPr sz="1700" b="1">
                <a:solidFill>
                  <a:srgbClr val="FFFFFF"/>
                </a:solidFill>
                <a:latin typeface="Calibri"/>
              </a:defRPr>
            </a:pPr>
            <a:r>
              <a:t>Answer</a:t>
            </a:r>
          </a:p>
        </p:txBody>
      </p:sp>
      <p:sp>
        <p:nvSpPr>
          <p:cNvPr id="22" name="TextBox 21"/>
          <p:cNvSpPr txBox="1"/>
          <p:nvPr/>
        </p:nvSpPr>
        <p:spPr>
          <a:xfrm>
            <a:off x="9601200" y="1371600"/>
            <a:ext cx="2286000" cy="365760"/>
          </a:xfrm>
          <a:prstGeom prst="rect">
            <a:avLst/>
          </a:prstGeom>
          <a:noFill/>
        </p:spPr>
        <p:txBody>
          <a:bodyPr wrap="square">
            <a:spAutoFit/>
          </a:bodyPr>
          <a:lstStyle/>
          <a:p>
            <a:pPr algn="l">
              <a:defRPr sz="1400" b="1">
                <a:solidFill>
                  <a:srgbClr val="1A3A5C"/>
                </a:solidFill>
                <a:latin typeface="Calibri"/>
              </a:defRPr>
            </a:pPr>
            <a:r>
              <a:t>Who designs:</a:t>
            </a:r>
          </a:p>
        </p:txBody>
      </p:sp>
      <p:sp>
        <p:nvSpPr>
          <p:cNvPr id="23" name="TextBox 22"/>
          <p:cNvSpPr txBox="1"/>
          <p:nvPr/>
        </p:nvSpPr>
        <p:spPr>
          <a:xfrm>
            <a:off x="9601200" y="1828800"/>
            <a:ext cx="2286000" cy="338554"/>
          </a:xfrm>
          <a:prstGeom prst="rect">
            <a:avLst/>
          </a:prstGeom>
          <a:noFill/>
        </p:spPr>
        <p:txBody>
          <a:bodyPr wrap="square">
            <a:spAutoFit/>
          </a:bodyPr>
          <a:lstStyle/>
          <a:p>
            <a:pPr algn="l">
              <a:defRPr sz="1200" b="0">
                <a:solidFill>
                  <a:srgbClr val="1A1A2E"/>
                </a:solidFill>
                <a:latin typeface="Calibri"/>
              </a:defRPr>
            </a:pPr>
            <a:r>
              <a:rPr dirty="0"/>
              <a:t>• </a:t>
            </a:r>
            <a:r>
              <a:rPr sz="1600" dirty="0"/>
              <a:t>Database</a:t>
            </a:r>
            <a:r>
              <a:rPr dirty="0"/>
              <a:t>?</a:t>
            </a:r>
          </a:p>
        </p:txBody>
      </p:sp>
      <p:sp>
        <p:nvSpPr>
          <p:cNvPr id="24" name="TextBox 23"/>
          <p:cNvSpPr txBox="1"/>
          <p:nvPr/>
        </p:nvSpPr>
        <p:spPr>
          <a:xfrm>
            <a:off x="9601200" y="2286000"/>
            <a:ext cx="2286000" cy="338554"/>
          </a:xfrm>
          <a:prstGeom prst="rect">
            <a:avLst/>
          </a:prstGeom>
          <a:noFill/>
        </p:spPr>
        <p:txBody>
          <a:bodyPr wrap="square">
            <a:spAutoFit/>
          </a:bodyPr>
          <a:lstStyle/>
          <a:p>
            <a:pPr algn="l">
              <a:defRPr sz="1200" b="0">
                <a:solidFill>
                  <a:srgbClr val="1A1A2E"/>
                </a:solidFill>
                <a:latin typeface="Calibri"/>
              </a:defRPr>
            </a:pPr>
            <a:r>
              <a:rPr dirty="0"/>
              <a:t>• </a:t>
            </a:r>
            <a:r>
              <a:rPr sz="1600" dirty="0">
                <a:solidFill>
                  <a:srgbClr val="1A1A2E"/>
                </a:solidFill>
                <a:latin typeface="Calibri"/>
              </a:rPr>
              <a:t>Retrieval</a:t>
            </a:r>
            <a:r>
              <a:rPr dirty="0"/>
              <a:t>?</a:t>
            </a:r>
          </a:p>
        </p:txBody>
      </p:sp>
      <p:sp>
        <p:nvSpPr>
          <p:cNvPr id="25" name="TextBox 24"/>
          <p:cNvSpPr txBox="1"/>
          <p:nvPr/>
        </p:nvSpPr>
        <p:spPr>
          <a:xfrm>
            <a:off x="9601200" y="2743200"/>
            <a:ext cx="2286000" cy="338554"/>
          </a:xfrm>
          <a:prstGeom prst="rect">
            <a:avLst/>
          </a:prstGeom>
          <a:noFill/>
        </p:spPr>
        <p:txBody>
          <a:bodyPr wrap="square">
            <a:spAutoFit/>
          </a:bodyPr>
          <a:lstStyle/>
          <a:p>
            <a:pPr algn="l">
              <a:defRPr sz="1200" b="0">
                <a:solidFill>
                  <a:srgbClr val="1A1A2E"/>
                </a:solidFill>
                <a:latin typeface="Calibri"/>
              </a:defRPr>
            </a:pPr>
            <a:r>
              <a:rPr dirty="0"/>
              <a:t>• </a:t>
            </a:r>
            <a:r>
              <a:rPr sz="1600" dirty="0">
                <a:solidFill>
                  <a:srgbClr val="1A1A2E"/>
                </a:solidFill>
                <a:latin typeface="Calibri"/>
              </a:rPr>
              <a:t>API</a:t>
            </a:r>
            <a:r>
              <a:rPr dirty="0"/>
              <a:t>?</a:t>
            </a:r>
          </a:p>
        </p:txBody>
      </p:sp>
      <p:sp>
        <p:nvSpPr>
          <p:cNvPr id="26" name="TextBox 25"/>
          <p:cNvSpPr txBox="1"/>
          <p:nvPr/>
        </p:nvSpPr>
        <p:spPr>
          <a:xfrm>
            <a:off x="9601200" y="3200400"/>
            <a:ext cx="2286000" cy="338554"/>
          </a:xfrm>
          <a:prstGeom prst="rect">
            <a:avLst/>
          </a:prstGeom>
          <a:noFill/>
        </p:spPr>
        <p:txBody>
          <a:bodyPr wrap="square">
            <a:spAutoFit/>
          </a:bodyPr>
          <a:lstStyle/>
          <a:p>
            <a:pPr algn="l">
              <a:defRPr sz="1200" b="0">
                <a:solidFill>
                  <a:srgbClr val="1A1A2E"/>
                </a:solidFill>
                <a:latin typeface="Calibri"/>
              </a:defRPr>
            </a:pPr>
            <a:r>
              <a:rPr dirty="0"/>
              <a:t>• </a:t>
            </a:r>
            <a:r>
              <a:rPr sz="1600" dirty="0">
                <a:solidFill>
                  <a:srgbClr val="1A1A2E"/>
                </a:solidFill>
                <a:latin typeface="Calibri"/>
              </a:rPr>
              <a:t>Security</a:t>
            </a:r>
            <a:r>
              <a:rPr dirty="0"/>
              <a:t>?</a:t>
            </a:r>
          </a:p>
        </p:txBody>
      </p:sp>
      <p:sp>
        <p:nvSpPr>
          <p:cNvPr id="27" name="TextBox 26"/>
          <p:cNvSpPr txBox="1"/>
          <p:nvPr/>
        </p:nvSpPr>
        <p:spPr>
          <a:xfrm>
            <a:off x="9601200" y="3657600"/>
            <a:ext cx="2286000" cy="338554"/>
          </a:xfrm>
          <a:prstGeom prst="rect">
            <a:avLst/>
          </a:prstGeom>
          <a:noFill/>
        </p:spPr>
        <p:txBody>
          <a:bodyPr wrap="square">
            <a:spAutoFit/>
          </a:bodyPr>
          <a:lstStyle/>
          <a:p>
            <a:pPr algn="l">
              <a:defRPr sz="1200" b="0">
                <a:solidFill>
                  <a:srgbClr val="1A1A2E"/>
                </a:solidFill>
                <a:latin typeface="Calibri"/>
              </a:defRPr>
            </a:pPr>
            <a:r>
              <a:rPr dirty="0"/>
              <a:t>• </a:t>
            </a:r>
            <a:r>
              <a:rPr sz="1600" dirty="0">
                <a:solidFill>
                  <a:srgbClr val="1A1A2E"/>
                </a:solidFill>
                <a:latin typeface="Calibri"/>
              </a:rPr>
              <a:t>Evaluation</a:t>
            </a:r>
            <a:r>
              <a:rPr dirty="0"/>
              <a:t>?</a:t>
            </a:r>
          </a:p>
        </p:txBody>
      </p:sp>
      <p:sp>
        <p:nvSpPr>
          <p:cNvPr id="28" name="TextBox 27"/>
          <p:cNvSpPr txBox="1"/>
          <p:nvPr/>
        </p:nvSpPr>
        <p:spPr>
          <a:xfrm>
            <a:off x="9601200" y="4114800"/>
            <a:ext cx="2286000" cy="338554"/>
          </a:xfrm>
          <a:prstGeom prst="rect">
            <a:avLst/>
          </a:prstGeom>
          <a:noFill/>
        </p:spPr>
        <p:txBody>
          <a:bodyPr wrap="square">
            <a:spAutoFit/>
          </a:bodyPr>
          <a:lstStyle/>
          <a:p>
            <a:pPr algn="l">
              <a:defRPr sz="1200" b="0">
                <a:solidFill>
                  <a:srgbClr val="1A1A2E"/>
                </a:solidFill>
                <a:latin typeface="Calibri"/>
              </a:defRPr>
            </a:pPr>
            <a:r>
              <a:rPr sz="1600" dirty="0"/>
              <a:t>• Monitoring?</a:t>
            </a:r>
          </a:p>
        </p:txBody>
      </p:sp>
      <p:sp>
        <p:nvSpPr>
          <p:cNvPr id="29" name="TextBox 28"/>
          <p:cNvSpPr txBox="1"/>
          <p:nvPr/>
        </p:nvSpPr>
        <p:spPr>
          <a:xfrm>
            <a:off x="9601200" y="4754880"/>
            <a:ext cx="2286000" cy="584775"/>
          </a:xfrm>
          <a:prstGeom prst="rect">
            <a:avLst/>
          </a:prstGeom>
          <a:noFill/>
        </p:spPr>
        <p:txBody>
          <a:bodyPr wrap="square">
            <a:spAutoFit/>
          </a:bodyPr>
          <a:lstStyle/>
          <a:p>
            <a:pPr algn="l">
              <a:defRPr sz="1200" b="1">
                <a:solidFill>
                  <a:srgbClr val="7B2FF7"/>
                </a:solidFill>
                <a:latin typeface="Calibri"/>
              </a:defRPr>
            </a:pPr>
            <a:r>
              <a:rPr sz="1600" dirty="0"/>
              <a:t>Answer: Software</a:t>
            </a:r>
            <a:br>
              <a:rPr sz="1600" dirty="0"/>
            </a:br>
            <a:r>
              <a:rPr sz="1600" dirty="0"/>
              <a:t>engineers + AI engineers</a:t>
            </a:r>
          </a:p>
        </p:txBody>
      </p:sp>
      <p:sp>
        <p:nvSpPr>
          <p:cNvPr id="30" name="Rectangle 29"/>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457200" y="182880"/>
            <a:ext cx="10972800" cy="646331"/>
          </a:xfrm>
          <a:prstGeom prst="rect">
            <a:avLst/>
          </a:prstGeom>
          <a:noFill/>
        </p:spPr>
        <p:txBody>
          <a:bodyPr wrap="square">
            <a:spAutoFit/>
          </a:bodyPr>
          <a:lstStyle/>
          <a:p>
            <a:pPr algn="l">
              <a:defRPr sz="3400" b="1">
                <a:solidFill>
                  <a:srgbClr val="FFFFFF"/>
                </a:solidFill>
                <a:latin typeface="Calibri"/>
              </a:defRPr>
            </a:pPr>
            <a:r>
              <a:rPr sz="3600" dirty="0"/>
              <a:t>AI Agents</a:t>
            </a:r>
          </a:p>
        </p:txBody>
      </p:sp>
      <p:sp>
        <p:nvSpPr>
          <p:cNvPr id="5" name="Oval 4"/>
          <p:cNvSpPr/>
          <p:nvPr/>
        </p:nvSpPr>
        <p:spPr>
          <a:xfrm>
            <a:off x="5303520" y="2286000"/>
            <a:ext cx="1828800" cy="182880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5811558" y="2743200"/>
            <a:ext cx="812723" cy="707886"/>
          </a:xfrm>
          <a:prstGeom prst="rect">
            <a:avLst/>
          </a:prstGeom>
          <a:noFill/>
        </p:spPr>
        <p:txBody>
          <a:bodyPr wrap="none">
            <a:spAutoFit/>
          </a:bodyPr>
          <a:lstStyle/>
          <a:p>
            <a:pPr algn="ctr">
              <a:defRPr sz="2000" b="1">
                <a:solidFill>
                  <a:srgbClr val="FFFFFF"/>
                </a:solidFill>
              </a:defRPr>
            </a:pPr>
            <a:r>
              <a:rPr sz="2000"/>
              <a:t>AI</a:t>
            </a:r>
            <a:br>
              <a:rPr sz="2000"/>
            </a:br>
            <a:r>
              <a:rPr sz="2000"/>
              <a:t>Agent</a:t>
            </a:r>
          </a:p>
        </p:txBody>
      </p:sp>
      <p:sp>
        <p:nvSpPr>
          <p:cNvPr id="7" name="Rounded Rectangle 6"/>
          <p:cNvSpPr/>
          <p:nvPr/>
        </p:nvSpPr>
        <p:spPr>
          <a:xfrm>
            <a:off x="5486400" y="594360"/>
            <a:ext cx="1645920" cy="6400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5486400" y="731520"/>
            <a:ext cx="1645920" cy="400110"/>
          </a:xfrm>
          <a:prstGeom prst="rect">
            <a:avLst/>
          </a:prstGeom>
          <a:noFill/>
        </p:spPr>
        <p:txBody>
          <a:bodyPr wrap="square">
            <a:spAutoFit/>
          </a:bodyPr>
          <a:lstStyle/>
          <a:p>
            <a:pPr algn="ctr">
              <a:defRPr sz="1100" b="1">
                <a:solidFill>
                  <a:srgbClr val="FFFFFF"/>
                </a:solidFill>
                <a:latin typeface="Calibri"/>
              </a:defRPr>
            </a:pPr>
            <a:r>
              <a:rPr sz="2000" dirty="0"/>
              <a:t>Calendar API</a:t>
            </a:r>
          </a:p>
        </p:txBody>
      </p:sp>
      <p:sp>
        <p:nvSpPr>
          <p:cNvPr id="9" name="Rounded Rectangle 8"/>
          <p:cNvSpPr/>
          <p:nvPr/>
        </p:nvSpPr>
        <p:spPr>
          <a:xfrm>
            <a:off x="7660515" y="2173948"/>
            <a:ext cx="164592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7660515" y="2311108"/>
            <a:ext cx="1645920" cy="400110"/>
          </a:xfrm>
          <a:prstGeom prst="rect">
            <a:avLst/>
          </a:prstGeom>
          <a:noFill/>
        </p:spPr>
        <p:txBody>
          <a:bodyPr wrap="square">
            <a:spAutoFit/>
          </a:bodyPr>
          <a:lstStyle/>
          <a:p>
            <a:pPr algn="ctr">
              <a:defRPr sz="1100" b="1">
                <a:solidFill>
                  <a:srgbClr val="FFFFFF"/>
                </a:solidFill>
                <a:latin typeface="Calibri"/>
              </a:defRPr>
            </a:pPr>
            <a:r>
              <a:rPr sz="2000"/>
              <a:t>Email API</a:t>
            </a:r>
          </a:p>
        </p:txBody>
      </p:sp>
      <p:sp>
        <p:nvSpPr>
          <p:cNvPr id="11" name="Rounded Rectangle 10"/>
          <p:cNvSpPr/>
          <p:nvPr/>
        </p:nvSpPr>
        <p:spPr>
          <a:xfrm>
            <a:off x="6830077" y="4729772"/>
            <a:ext cx="1645920" cy="6400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6830077" y="4866932"/>
            <a:ext cx="1645920" cy="400110"/>
          </a:xfrm>
          <a:prstGeom prst="rect">
            <a:avLst/>
          </a:prstGeom>
          <a:noFill/>
        </p:spPr>
        <p:txBody>
          <a:bodyPr wrap="square">
            <a:spAutoFit/>
          </a:bodyPr>
          <a:lstStyle/>
          <a:p>
            <a:pPr algn="ctr">
              <a:defRPr sz="1100" b="1">
                <a:solidFill>
                  <a:srgbClr val="FFFFFF"/>
                </a:solidFill>
                <a:latin typeface="Calibri"/>
              </a:defRPr>
            </a:pPr>
            <a:r>
              <a:rPr sz="2000"/>
              <a:t>Database</a:t>
            </a:r>
          </a:p>
        </p:txBody>
      </p:sp>
      <p:sp>
        <p:nvSpPr>
          <p:cNvPr id="13" name="Rounded Rectangle 12"/>
          <p:cNvSpPr/>
          <p:nvPr/>
        </p:nvSpPr>
        <p:spPr>
          <a:xfrm>
            <a:off x="4142723" y="4729772"/>
            <a:ext cx="1645920" cy="6400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4142723" y="4866932"/>
            <a:ext cx="1645920" cy="400110"/>
          </a:xfrm>
          <a:prstGeom prst="rect">
            <a:avLst/>
          </a:prstGeom>
          <a:noFill/>
        </p:spPr>
        <p:txBody>
          <a:bodyPr wrap="square">
            <a:spAutoFit/>
          </a:bodyPr>
          <a:lstStyle/>
          <a:p>
            <a:pPr algn="ctr">
              <a:defRPr sz="1100" b="1">
                <a:solidFill>
                  <a:srgbClr val="FFFFFF"/>
                </a:solidFill>
                <a:latin typeface="Calibri"/>
              </a:defRPr>
            </a:pPr>
            <a:r>
              <a:rPr sz="2000"/>
              <a:t>Task System</a:t>
            </a:r>
          </a:p>
        </p:txBody>
      </p:sp>
      <p:sp>
        <p:nvSpPr>
          <p:cNvPr id="15" name="Rounded Rectangle 14"/>
          <p:cNvSpPr/>
          <p:nvPr/>
        </p:nvSpPr>
        <p:spPr>
          <a:xfrm>
            <a:off x="3312285" y="2173948"/>
            <a:ext cx="1645920" cy="6400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3312285" y="2311108"/>
            <a:ext cx="1645920" cy="400110"/>
          </a:xfrm>
          <a:prstGeom prst="rect">
            <a:avLst/>
          </a:prstGeom>
          <a:noFill/>
        </p:spPr>
        <p:txBody>
          <a:bodyPr wrap="square">
            <a:spAutoFit/>
          </a:bodyPr>
          <a:lstStyle/>
          <a:p>
            <a:pPr algn="ctr">
              <a:defRPr sz="1100" b="1">
                <a:solidFill>
                  <a:srgbClr val="FFFFFF"/>
                </a:solidFill>
                <a:latin typeface="Calibri"/>
              </a:defRPr>
            </a:pPr>
            <a:r>
              <a:rPr sz="2000"/>
              <a:t>Search API</a:t>
            </a:r>
          </a:p>
        </p:txBody>
      </p:sp>
      <p:sp>
        <p:nvSpPr>
          <p:cNvPr id="17" name="TextBox 16"/>
          <p:cNvSpPr txBox="1"/>
          <p:nvPr/>
        </p:nvSpPr>
        <p:spPr>
          <a:xfrm>
            <a:off x="914400" y="5029200"/>
            <a:ext cx="4572000" cy="400110"/>
          </a:xfrm>
          <a:prstGeom prst="rect">
            <a:avLst/>
          </a:prstGeom>
          <a:noFill/>
        </p:spPr>
        <p:txBody>
          <a:bodyPr wrap="square">
            <a:spAutoFit/>
          </a:bodyPr>
          <a:lstStyle/>
          <a:p>
            <a:pPr algn="l">
              <a:defRPr sz="1600" b="1">
                <a:solidFill>
                  <a:srgbClr val="1A3A5C"/>
                </a:solidFill>
                <a:latin typeface="Calibri"/>
              </a:defRPr>
            </a:pPr>
            <a:r>
              <a:rPr sz="2000"/>
              <a:t>AI agents can:</a:t>
            </a:r>
          </a:p>
        </p:txBody>
      </p:sp>
      <p:sp>
        <p:nvSpPr>
          <p:cNvPr id="18" name="TextBox 17"/>
          <p:cNvSpPr txBox="1"/>
          <p:nvPr/>
        </p:nvSpPr>
        <p:spPr>
          <a:xfrm>
            <a:off x="914400" y="5486400"/>
            <a:ext cx="4572000" cy="400110"/>
          </a:xfrm>
          <a:prstGeom prst="rect">
            <a:avLst/>
          </a:prstGeom>
          <a:noFill/>
        </p:spPr>
        <p:txBody>
          <a:bodyPr wrap="square">
            <a:spAutoFit/>
          </a:bodyPr>
          <a:lstStyle/>
          <a:p>
            <a:pPr algn="l">
              <a:defRPr sz="1200" b="0">
                <a:solidFill>
                  <a:srgbClr val="1A1A2E"/>
                </a:solidFill>
                <a:latin typeface="Calibri"/>
              </a:defRPr>
            </a:pPr>
            <a:r>
              <a:rPr sz="2000"/>
              <a:t>• Reason about tasks</a:t>
            </a:r>
          </a:p>
        </p:txBody>
      </p:sp>
      <p:sp>
        <p:nvSpPr>
          <p:cNvPr id="19" name="TextBox 18"/>
          <p:cNvSpPr txBox="1"/>
          <p:nvPr/>
        </p:nvSpPr>
        <p:spPr>
          <a:xfrm>
            <a:off x="914400" y="5760720"/>
            <a:ext cx="4572000" cy="400110"/>
          </a:xfrm>
          <a:prstGeom prst="rect">
            <a:avLst/>
          </a:prstGeom>
          <a:noFill/>
        </p:spPr>
        <p:txBody>
          <a:bodyPr wrap="square">
            <a:spAutoFit/>
          </a:bodyPr>
          <a:lstStyle/>
          <a:p>
            <a:pPr algn="l">
              <a:defRPr sz="1200" b="0">
                <a:solidFill>
                  <a:srgbClr val="1A1A2E"/>
                </a:solidFill>
                <a:latin typeface="Calibri"/>
              </a:defRPr>
            </a:pPr>
            <a:r>
              <a:rPr sz="2000"/>
              <a:t>• Use tools</a:t>
            </a:r>
          </a:p>
        </p:txBody>
      </p:sp>
      <p:sp>
        <p:nvSpPr>
          <p:cNvPr id="20" name="TextBox 19"/>
          <p:cNvSpPr txBox="1"/>
          <p:nvPr/>
        </p:nvSpPr>
        <p:spPr>
          <a:xfrm>
            <a:off x="914400" y="6035040"/>
            <a:ext cx="4572000" cy="400110"/>
          </a:xfrm>
          <a:prstGeom prst="rect">
            <a:avLst/>
          </a:prstGeom>
          <a:noFill/>
        </p:spPr>
        <p:txBody>
          <a:bodyPr wrap="square">
            <a:spAutoFit/>
          </a:bodyPr>
          <a:lstStyle/>
          <a:p>
            <a:pPr algn="l">
              <a:defRPr sz="1200" b="0">
                <a:solidFill>
                  <a:srgbClr val="1A1A2E"/>
                </a:solidFill>
                <a:latin typeface="Calibri"/>
              </a:defRPr>
            </a:pPr>
            <a:r>
              <a:rPr sz="2000"/>
              <a:t>• Access APIs</a:t>
            </a:r>
          </a:p>
        </p:txBody>
      </p:sp>
      <p:sp>
        <p:nvSpPr>
          <p:cNvPr id="21" name="TextBox 20"/>
          <p:cNvSpPr txBox="1"/>
          <p:nvPr/>
        </p:nvSpPr>
        <p:spPr>
          <a:xfrm>
            <a:off x="914400" y="6309360"/>
            <a:ext cx="4572000" cy="400110"/>
          </a:xfrm>
          <a:prstGeom prst="rect">
            <a:avLst/>
          </a:prstGeom>
          <a:noFill/>
        </p:spPr>
        <p:txBody>
          <a:bodyPr wrap="square">
            <a:spAutoFit/>
          </a:bodyPr>
          <a:lstStyle/>
          <a:p>
            <a:pPr algn="l">
              <a:defRPr sz="1200" b="0">
                <a:solidFill>
                  <a:srgbClr val="1A1A2E"/>
                </a:solidFill>
                <a:latin typeface="Calibri"/>
              </a:defRPr>
            </a:pPr>
            <a:r>
              <a:rPr sz="2000"/>
              <a:t>• Execute actions</a:t>
            </a:r>
          </a:p>
        </p:txBody>
      </p:sp>
      <p:sp>
        <p:nvSpPr>
          <p:cNvPr id="22" name="TextBox 21"/>
          <p:cNvSpPr txBox="1"/>
          <p:nvPr/>
        </p:nvSpPr>
        <p:spPr>
          <a:xfrm>
            <a:off x="914400" y="6583680"/>
            <a:ext cx="4572000" cy="400110"/>
          </a:xfrm>
          <a:prstGeom prst="rect">
            <a:avLst/>
          </a:prstGeom>
          <a:noFill/>
        </p:spPr>
        <p:txBody>
          <a:bodyPr wrap="square">
            <a:spAutoFit/>
          </a:bodyPr>
          <a:lstStyle/>
          <a:p>
            <a:pPr algn="l">
              <a:defRPr sz="1200" b="0">
                <a:solidFill>
                  <a:srgbClr val="1A1A2E"/>
                </a:solidFill>
                <a:latin typeface="Calibri"/>
              </a:defRPr>
            </a:pPr>
            <a:r>
              <a:rPr sz="2000"/>
              <a:t>• Coordinate steps</a:t>
            </a:r>
          </a:p>
        </p:txBody>
      </p:sp>
      <p:sp>
        <p:nvSpPr>
          <p:cNvPr id="23" name="Rectangle 22"/>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11247120" y="6400800"/>
            <a:ext cx="731520" cy="400110"/>
          </a:xfrm>
          <a:prstGeom prst="rect">
            <a:avLst/>
          </a:prstGeom>
          <a:noFill/>
        </p:spPr>
        <p:txBody>
          <a:bodyPr wrap="square">
            <a:spAutoFit/>
          </a:bodyPr>
          <a:lstStyle/>
          <a:p>
            <a:pPr algn="r">
              <a:defRPr sz="1400" b="0">
                <a:solidFill>
                  <a:srgbClr val="6B7280"/>
                </a:solidFill>
                <a:latin typeface="Calibri"/>
              </a:defRPr>
            </a:pPr>
            <a:r>
              <a:rPr sz="2000"/>
              <a:t>60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Multi-Agent Systems</a:t>
            </a:r>
          </a:p>
        </p:txBody>
      </p:sp>
      <p:sp>
        <p:nvSpPr>
          <p:cNvPr id="5" name="Rounded Rectangle 4"/>
          <p:cNvSpPr/>
          <p:nvPr/>
        </p:nvSpPr>
        <p:spPr>
          <a:xfrm>
            <a:off x="4846320" y="1371600"/>
            <a:ext cx="2286000" cy="9144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46320" y="1554480"/>
            <a:ext cx="2286000" cy="548640"/>
          </a:xfrm>
          <a:prstGeom prst="rect">
            <a:avLst/>
          </a:prstGeom>
          <a:noFill/>
        </p:spPr>
        <p:txBody>
          <a:bodyPr wrap="square">
            <a:spAutoFit/>
          </a:bodyPr>
          <a:lstStyle/>
          <a:p>
            <a:pPr algn="ctr">
              <a:defRPr sz="1800" b="1">
                <a:solidFill>
                  <a:srgbClr val="FFFFFF"/>
                </a:solidFill>
                <a:latin typeface="Calibri"/>
              </a:defRPr>
            </a:pPr>
            <a:r>
              <a:t>Manager Agent</a:t>
            </a:r>
          </a:p>
        </p:txBody>
      </p:sp>
      <p:sp>
        <p:nvSpPr>
          <p:cNvPr id="7" name="Down Arrow 6"/>
          <p:cNvSpPr/>
          <p:nvPr/>
        </p:nvSpPr>
        <p:spPr>
          <a:xfrm>
            <a:off x="5806440" y="22860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Rounded Rectangle 7"/>
          <p:cNvSpPr/>
          <p:nvPr/>
        </p:nvSpPr>
        <p:spPr>
          <a:xfrm>
            <a:off x="1828800" y="3200400"/>
            <a:ext cx="2286000" cy="9144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1828800" y="3291840"/>
            <a:ext cx="2286000" cy="731520"/>
          </a:xfrm>
          <a:prstGeom prst="rect">
            <a:avLst/>
          </a:prstGeom>
          <a:noFill/>
        </p:spPr>
        <p:txBody>
          <a:bodyPr wrap="square">
            <a:spAutoFit/>
          </a:bodyPr>
          <a:lstStyle/>
          <a:p>
            <a:pPr algn="ctr">
              <a:defRPr sz="1300" b="1">
                <a:solidFill>
                  <a:srgbClr val="FFFFFF"/>
                </a:solidFill>
                <a:latin typeface="Calibri"/>
              </a:defRPr>
            </a:pPr>
            <a:r>
              <a:rPr sz="2000"/>
              <a:t>Research</a:t>
            </a:r>
            <a:br>
              <a:rPr sz="2000"/>
            </a:br>
            <a:r>
              <a:rPr sz="2000"/>
              <a:t>Agent</a:t>
            </a:r>
          </a:p>
        </p:txBody>
      </p:sp>
      <p:sp>
        <p:nvSpPr>
          <p:cNvPr id="10" name="Rounded Rectangle 9"/>
          <p:cNvSpPr/>
          <p:nvPr/>
        </p:nvSpPr>
        <p:spPr>
          <a:xfrm>
            <a:off x="5029200" y="3200400"/>
            <a:ext cx="2286000" cy="9144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5029200" y="3291840"/>
            <a:ext cx="2286000" cy="731520"/>
          </a:xfrm>
          <a:prstGeom prst="rect">
            <a:avLst/>
          </a:prstGeom>
          <a:noFill/>
        </p:spPr>
        <p:txBody>
          <a:bodyPr wrap="square">
            <a:spAutoFit/>
          </a:bodyPr>
          <a:lstStyle/>
          <a:p>
            <a:pPr algn="ctr">
              <a:defRPr sz="1300" b="1">
                <a:solidFill>
                  <a:srgbClr val="FFFFFF"/>
                </a:solidFill>
                <a:latin typeface="Calibri"/>
              </a:defRPr>
            </a:pPr>
            <a:r>
              <a:rPr sz="2000"/>
              <a:t>Data</a:t>
            </a:r>
            <a:br>
              <a:rPr sz="2000"/>
            </a:br>
            <a:r>
              <a:rPr sz="2000"/>
              <a:t>Agent</a:t>
            </a:r>
          </a:p>
        </p:txBody>
      </p:sp>
      <p:sp>
        <p:nvSpPr>
          <p:cNvPr id="12" name="Rounded Rectangle 11"/>
          <p:cNvSpPr/>
          <p:nvPr/>
        </p:nvSpPr>
        <p:spPr>
          <a:xfrm>
            <a:off x="8229600" y="3200400"/>
            <a:ext cx="2286000" cy="9144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8229600" y="3291840"/>
            <a:ext cx="2286000" cy="731520"/>
          </a:xfrm>
          <a:prstGeom prst="rect">
            <a:avLst/>
          </a:prstGeom>
          <a:noFill/>
        </p:spPr>
        <p:txBody>
          <a:bodyPr wrap="square">
            <a:spAutoFit/>
          </a:bodyPr>
          <a:lstStyle/>
          <a:p>
            <a:pPr algn="ctr">
              <a:defRPr sz="1300" b="1">
                <a:solidFill>
                  <a:srgbClr val="FFFFFF"/>
                </a:solidFill>
                <a:latin typeface="Calibri"/>
              </a:defRPr>
            </a:pPr>
            <a:r>
              <a:rPr sz="2000"/>
              <a:t>Email</a:t>
            </a:r>
            <a:br>
              <a:rPr sz="2000"/>
            </a:br>
            <a:r>
              <a:rPr sz="2000"/>
              <a:t>Agent</a:t>
            </a:r>
          </a:p>
        </p:txBody>
      </p:sp>
      <p:sp>
        <p:nvSpPr>
          <p:cNvPr id="14" name="Rounded Rectangle 13"/>
          <p:cNvSpPr/>
          <p:nvPr/>
        </p:nvSpPr>
        <p:spPr>
          <a:xfrm>
            <a:off x="1371600" y="4572000"/>
            <a:ext cx="9144000" cy="20116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1554480" y="4663440"/>
            <a:ext cx="8778240" cy="400110"/>
          </a:xfrm>
          <a:prstGeom prst="rect">
            <a:avLst/>
          </a:prstGeom>
          <a:noFill/>
        </p:spPr>
        <p:txBody>
          <a:bodyPr wrap="square">
            <a:spAutoFit/>
          </a:bodyPr>
          <a:lstStyle/>
          <a:p>
            <a:pPr algn="l">
              <a:defRPr sz="1800" b="1">
                <a:solidFill>
                  <a:srgbClr val="FFFFFF"/>
                </a:solidFill>
                <a:latin typeface="Calibri"/>
              </a:defRPr>
            </a:pPr>
            <a:r>
              <a:rPr sz="2000"/>
              <a:t>Software Engineering challenge:</a:t>
            </a:r>
          </a:p>
        </p:txBody>
      </p:sp>
      <p:sp>
        <p:nvSpPr>
          <p:cNvPr id="16" name="TextBox 15"/>
          <p:cNvSpPr txBox="1"/>
          <p:nvPr/>
        </p:nvSpPr>
        <p:spPr>
          <a:xfrm>
            <a:off x="1828800" y="5029200"/>
            <a:ext cx="8229600" cy="400110"/>
          </a:xfrm>
          <a:prstGeom prst="rect">
            <a:avLst/>
          </a:prstGeom>
          <a:noFill/>
        </p:spPr>
        <p:txBody>
          <a:bodyPr wrap="square">
            <a:spAutoFit/>
          </a:bodyPr>
          <a:lstStyle/>
          <a:p>
            <a:pPr algn="l">
              <a:defRPr sz="1100" b="0">
                <a:solidFill>
                  <a:srgbClr val="FFFFFF"/>
                </a:solidFill>
                <a:latin typeface="Calibri"/>
              </a:defRPr>
            </a:pPr>
            <a:r>
              <a:rPr sz="2000"/>
              <a:t>• Agent communication</a:t>
            </a:r>
          </a:p>
        </p:txBody>
      </p:sp>
      <p:sp>
        <p:nvSpPr>
          <p:cNvPr id="17" name="TextBox 16"/>
          <p:cNvSpPr txBox="1"/>
          <p:nvPr/>
        </p:nvSpPr>
        <p:spPr>
          <a:xfrm>
            <a:off x="1828800" y="5212080"/>
            <a:ext cx="8229600" cy="400110"/>
          </a:xfrm>
          <a:prstGeom prst="rect">
            <a:avLst/>
          </a:prstGeom>
          <a:noFill/>
        </p:spPr>
        <p:txBody>
          <a:bodyPr wrap="square">
            <a:spAutoFit/>
          </a:bodyPr>
          <a:lstStyle/>
          <a:p>
            <a:pPr algn="l">
              <a:defRPr sz="1100" b="0">
                <a:solidFill>
                  <a:srgbClr val="FFFFFF"/>
                </a:solidFill>
                <a:latin typeface="Calibri"/>
              </a:defRPr>
            </a:pPr>
            <a:r>
              <a:rPr sz="2000"/>
              <a:t>• State</a:t>
            </a:r>
          </a:p>
        </p:txBody>
      </p:sp>
      <p:sp>
        <p:nvSpPr>
          <p:cNvPr id="18" name="TextBox 17"/>
          <p:cNvSpPr txBox="1"/>
          <p:nvPr/>
        </p:nvSpPr>
        <p:spPr>
          <a:xfrm>
            <a:off x="1828800" y="5394960"/>
            <a:ext cx="8229600" cy="400110"/>
          </a:xfrm>
          <a:prstGeom prst="rect">
            <a:avLst/>
          </a:prstGeom>
          <a:noFill/>
        </p:spPr>
        <p:txBody>
          <a:bodyPr wrap="square">
            <a:spAutoFit/>
          </a:bodyPr>
          <a:lstStyle/>
          <a:p>
            <a:pPr algn="l">
              <a:defRPr sz="1100" b="0">
                <a:solidFill>
                  <a:srgbClr val="FFFFFF"/>
                </a:solidFill>
                <a:latin typeface="Calibri"/>
              </a:defRPr>
            </a:pPr>
            <a:r>
              <a:rPr sz="2000"/>
              <a:t>• Permissions</a:t>
            </a:r>
          </a:p>
        </p:txBody>
      </p:sp>
      <p:sp>
        <p:nvSpPr>
          <p:cNvPr id="19" name="TextBox 18"/>
          <p:cNvSpPr txBox="1"/>
          <p:nvPr/>
        </p:nvSpPr>
        <p:spPr>
          <a:xfrm>
            <a:off x="1828800" y="5577840"/>
            <a:ext cx="8229600" cy="400110"/>
          </a:xfrm>
          <a:prstGeom prst="rect">
            <a:avLst/>
          </a:prstGeom>
          <a:noFill/>
        </p:spPr>
        <p:txBody>
          <a:bodyPr wrap="square">
            <a:spAutoFit/>
          </a:bodyPr>
          <a:lstStyle/>
          <a:p>
            <a:pPr algn="l">
              <a:defRPr sz="1100" b="0">
                <a:solidFill>
                  <a:srgbClr val="FFFFFF"/>
                </a:solidFill>
                <a:latin typeface="Calibri"/>
              </a:defRPr>
            </a:pPr>
            <a:r>
              <a:rPr sz="2000"/>
              <a:t>• Error handling</a:t>
            </a:r>
          </a:p>
        </p:txBody>
      </p:sp>
      <p:sp>
        <p:nvSpPr>
          <p:cNvPr id="20" name="TextBox 19"/>
          <p:cNvSpPr txBox="1"/>
          <p:nvPr/>
        </p:nvSpPr>
        <p:spPr>
          <a:xfrm>
            <a:off x="1828800" y="5760720"/>
            <a:ext cx="8229600" cy="400110"/>
          </a:xfrm>
          <a:prstGeom prst="rect">
            <a:avLst/>
          </a:prstGeom>
          <a:noFill/>
        </p:spPr>
        <p:txBody>
          <a:bodyPr wrap="square">
            <a:spAutoFit/>
          </a:bodyPr>
          <a:lstStyle/>
          <a:p>
            <a:pPr algn="l">
              <a:defRPr sz="1100" b="0">
                <a:solidFill>
                  <a:srgbClr val="FFFFFF"/>
                </a:solidFill>
                <a:latin typeface="Calibri"/>
              </a:defRPr>
            </a:pPr>
            <a:r>
              <a:rPr sz="2000"/>
              <a:t>• Observability</a:t>
            </a:r>
          </a:p>
        </p:txBody>
      </p:sp>
      <p:sp>
        <p:nvSpPr>
          <p:cNvPr id="21" name="TextBox 20"/>
          <p:cNvSpPr txBox="1"/>
          <p:nvPr/>
        </p:nvSpPr>
        <p:spPr>
          <a:xfrm>
            <a:off x="1828800" y="5943600"/>
            <a:ext cx="8229600" cy="400110"/>
          </a:xfrm>
          <a:prstGeom prst="rect">
            <a:avLst/>
          </a:prstGeom>
          <a:noFill/>
        </p:spPr>
        <p:txBody>
          <a:bodyPr wrap="square">
            <a:spAutoFit/>
          </a:bodyPr>
          <a:lstStyle/>
          <a:p>
            <a:pPr algn="l">
              <a:defRPr sz="1100" b="0">
                <a:solidFill>
                  <a:srgbClr val="FFFFFF"/>
                </a:solidFill>
                <a:latin typeface="Calibri"/>
              </a:defRPr>
            </a:pPr>
            <a:r>
              <a:rPr sz="2000"/>
              <a:t>• Evaluation</a:t>
            </a:r>
          </a:p>
        </p:txBody>
      </p:sp>
      <p:sp>
        <p:nvSpPr>
          <p:cNvPr id="22" name="TextBox 21"/>
          <p:cNvSpPr txBox="1"/>
          <p:nvPr/>
        </p:nvSpPr>
        <p:spPr>
          <a:xfrm>
            <a:off x="1828800" y="6126480"/>
            <a:ext cx="8229600" cy="400110"/>
          </a:xfrm>
          <a:prstGeom prst="rect">
            <a:avLst/>
          </a:prstGeom>
          <a:noFill/>
        </p:spPr>
        <p:txBody>
          <a:bodyPr wrap="square">
            <a:spAutoFit/>
          </a:bodyPr>
          <a:lstStyle/>
          <a:p>
            <a:pPr algn="l">
              <a:defRPr sz="1100" b="0">
                <a:solidFill>
                  <a:srgbClr val="FFFFFF"/>
                </a:solidFill>
                <a:latin typeface="Calibri"/>
              </a:defRPr>
            </a:pPr>
            <a:r>
              <a:rPr sz="2000"/>
              <a:t>• Security</a:t>
            </a:r>
          </a:p>
        </p:txBody>
      </p:sp>
      <p:sp>
        <p:nvSpPr>
          <p:cNvPr id="23" name="Rectangle 22"/>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11247120" y="6400800"/>
            <a:ext cx="731520" cy="400110"/>
          </a:xfrm>
          <a:prstGeom prst="rect">
            <a:avLst/>
          </a:prstGeom>
          <a:noFill/>
        </p:spPr>
        <p:txBody>
          <a:bodyPr wrap="square">
            <a:spAutoFit/>
          </a:bodyPr>
          <a:lstStyle/>
          <a:p>
            <a:pPr algn="r">
              <a:defRPr sz="1400" b="0">
                <a:solidFill>
                  <a:srgbClr val="6B7280"/>
                </a:solidFill>
                <a:latin typeface="Calibri"/>
              </a:defRPr>
            </a:pPr>
            <a:r>
              <a:rPr sz="2000"/>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a:t>
            </a:r>
            <a:endParaRPr dirty="0"/>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AI + MCP / Tool Integration</a:t>
            </a:r>
          </a:p>
        </p:txBody>
      </p:sp>
      <p:sp>
        <p:nvSpPr>
          <p:cNvPr id="5" name="Rounded Rectangle 4"/>
          <p:cNvSpPr/>
          <p:nvPr/>
        </p:nvSpPr>
        <p:spPr>
          <a:xfrm>
            <a:off x="4206240" y="1645920"/>
            <a:ext cx="3657600" cy="82296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06240" y="1645920"/>
            <a:ext cx="3657600" cy="822960"/>
          </a:xfrm>
          <a:prstGeom prst="rect">
            <a:avLst/>
          </a:prstGeom>
          <a:noFill/>
        </p:spPr>
        <p:txBody>
          <a:bodyPr wrap="square">
            <a:spAutoFit/>
          </a:bodyPr>
          <a:lstStyle/>
          <a:p>
            <a:pPr algn="ctr">
              <a:defRPr sz="1700" b="1">
                <a:solidFill>
                  <a:srgbClr val="FFFFFF"/>
                </a:solidFill>
                <a:latin typeface="Calibri"/>
              </a:defRPr>
            </a:pPr>
            <a:r>
              <a:t>AI Agent</a:t>
            </a:r>
          </a:p>
        </p:txBody>
      </p:sp>
      <p:sp>
        <p:nvSpPr>
          <p:cNvPr id="7" name="Down Arrow 6"/>
          <p:cNvSpPr/>
          <p:nvPr/>
        </p:nvSpPr>
        <p:spPr>
          <a:xfrm>
            <a:off x="5897880" y="246888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06240" y="2743200"/>
            <a:ext cx="3657600" cy="82296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06240" y="2743200"/>
            <a:ext cx="3657600" cy="822960"/>
          </a:xfrm>
          <a:prstGeom prst="rect">
            <a:avLst/>
          </a:prstGeom>
          <a:noFill/>
        </p:spPr>
        <p:txBody>
          <a:bodyPr wrap="square">
            <a:spAutoFit/>
          </a:bodyPr>
          <a:lstStyle/>
          <a:p>
            <a:pPr algn="ctr">
              <a:defRPr sz="1700" b="1">
                <a:solidFill>
                  <a:srgbClr val="FFFFFF"/>
                </a:solidFill>
                <a:latin typeface="Calibri"/>
              </a:defRPr>
            </a:pPr>
            <a:r>
              <a:t>Tool Interface</a:t>
            </a:r>
          </a:p>
        </p:txBody>
      </p:sp>
      <p:sp>
        <p:nvSpPr>
          <p:cNvPr id="10" name="Down Arrow 9"/>
          <p:cNvSpPr/>
          <p:nvPr/>
        </p:nvSpPr>
        <p:spPr>
          <a:xfrm>
            <a:off x="5897880" y="35661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06240" y="3840480"/>
            <a:ext cx="3657600" cy="82296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06240" y="3840480"/>
            <a:ext cx="3657600" cy="822960"/>
          </a:xfrm>
          <a:prstGeom prst="rect">
            <a:avLst/>
          </a:prstGeom>
          <a:noFill/>
        </p:spPr>
        <p:txBody>
          <a:bodyPr wrap="square">
            <a:spAutoFit/>
          </a:bodyPr>
          <a:lstStyle/>
          <a:p>
            <a:pPr algn="ctr">
              <a:defRPr sz="1700" b="1">
                <a:solidFill>
                  <a:srgbClr val="FFFFFF"/>
                </a:solidFill>
                <a:latin typeface="Calibri"/>
              </a:defRPr>
            </a:pPr>
            <a:r>
              <a:t>MCP / API</a:t>
            </a:r>
          </a:p>
        </p:txBody>
      </p:sp>
      <p:sp>
        <p:nvSpPr>
          <p:cNvPr id="13" name="Down Arrow 12"/>
          <p:cNvSpPr/>
          <p:nvPr/>
        </p:nvSpPr>
        <p:spPr>
          <a:xfrm>
            <a:off x="5897880" y="46634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206240" y="4937760"/>
            <a:ext cx="3657600" cy="82296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06240" y="4937760"/>
            <a:ext cx="3657600" cy="822960"/>
          </a:xfrm>
          <a:prstGeom prst="rect">
            <a:avLst/>
          </a:prstGeom>
          <a:noFill/>
        </p:spPr>
        <p:txBody>
          <a:bodyPr wrap="square">
            <a:spAutoFit/>
          </a:bodyPr>
          <a:lstStyle/>
          <a:p>
            <a:pPr algn="ctr">
              <a:defRPr sz="1700" b="1">
                <a:solidFill>
                  <a:srgbClr val="FFFFFF"/>
                </a:solidFill>
                <a:latin typeface="Calibri"/>
              </a:defRPr>
            </a:pPr>
            <a:r>
              <a:t>Database / Service / Application</a:t>
            </a:r>
          </a:p>
        </p:txBody>
      </p:sp>
      <p:sp>
        <p:nvSpPr>
          <p:cNvPr id="16" name="Rounded Rectangle 15"/>
          <p:cNvSpPr/>
          <p:nvPr/>
        </p:nvSpPr>
        <p:spPr>
          <a:xfrm>
            <a:off x="1188720" y="5257800"/>
            <a:ext cx="9144000" cy="13716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54480" y="5312744"/>
            <a:ext cx="8778240" cy="365760"/>
          </a:xfrm>
          <a:prstGeom prst="rect">
            <a:avLst/>
          </a:prstGeom>
          <a:noFill/>
        </p:spPr>
        <p:txBody>
          <a:bodyPr wrap="square">
            <a:spAutoFit/>
          </a:bodyPr>
          <a:lstStyle/>
          <a:p>
            <a:pPr algn="l">
              <a:defRPr sz="2000" b="1">
                <a:solidFill>
                  <a:srgbClr val="FFFFFF"/>
                </a:solidFill>
                <a:latin typeface="Calibri"/>
              </a:defRPr>
            </a:pPr>
            <a:r>
              <a:rPr dirty="0"/>
              <a:t>Example:</a:t>
            </a:r>
          </a:p>
        </p:txBody>
      </p:sp>
      <p:sp>
        <p:nvSpPr>
          <p:cNvPr id="18" name="TextBox 17"/>
          <p:cNvSpPr txBox="1"/>
          <p:nvPr/>
        </p:nvSpPr>
        <p:spPr>
          <a:xfrm>
            <a:off x="1554480" y="5609924"/>
            <a:ext cx="8778240" cy="731520"/>
          </a:xfrm>
          <a:prstGeom prst="rect">
            <a:avLst/>
          </a:prstGeom>
          <a:noFill/>
        </p:spPr>
        <p:txBody>
          <a:bodyPr wrap="square">
            <a:spAutoFit/>
          </a:bodyPr>
          <a:lstStyle/>
          <a:p>
            <a:pPr algn="l">
              <a:defRPr sz="1800" b="0">
                <a:solidFill>
                  <a:srgbClr val="FFFFFF"/>
                </a:solidFill>
                <a:latin typeface="Calibri"/>
              </a:defRPr>
            </a:pPr>
            <a:r>
              <a:rPr dirty="0"/>
              <a:t>An AI assistant may: Check calendar → create meeting → send email → update task.</a:t>
            </a:r>
            <a:br>
              <a:rPr dirty="0"/>
            </a:br>
            <a:r>
              <a:rPr dirty="0"/>
              <a:t>This is no longer simply a chatbot. It is a software system capable of taking actions.</a:t>
            </a:r>
          </a:p>
        </p:txBody>
      </p:sp>
      <p:sp>
        <p:nvSpPr>
          <p:cNvPr id="19" name="Rectangle 18"/>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62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Agentic Software Engineering</a:t>
            </a:r>
          </a:p>
        </p:txBody>
      </p:sp>
      <p:sp>
        <p:nvSpPr>
          <p:cNvPr id="5" name="Rounded Rectangle 4"/>
          <p:cNvSpPr/>
          <p:nvPr/>
        </p:nvSpPr>
        <p:spPr>
          <a:xfrm>
            <a:off x="457200" y="2651760"/>
            <a:ext cx="1371600" cy="10972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2651760"/>
            <a:ext cx="1371600" cy="1097280"/>
          </a:xfrm>
          <a:prstGeom prst="rect">
            <a:avLst/>
          </a:prstGeom>
          <a:noFill/>
        </p:spPr>
        <p:txBody>
          <a:bodyPr wrap="square">
            <a:spAutoFit/>
          </a:bodyPr>
          <a:lstStyle/>
          <a:p>
            <a:pPr algn="ctr">
              <a:defRPr sz="1600" b="1">
                <a:solidFill>
                  <a:srgbClr val="FFFFFF"/>
                </a:solidFill>
                <a:latin typeface="Calibri"/>
              </a:defRPr>
            </a:pPr>
            <a:r>
              <a:t>Inspect</a:t>
            </a:r>
            <a:br/>
            <a:r>
              <a:t>Repository</a:t>
            </a:r>
          </a:p>
        </p:txBody>
      </p:sp>
      <p:sp>
        <p:nvSpPr>
          <p:cNvPr id="7" name="Right Arrow 6"/>
          <p:cNvSpPr/>
          <p:nvPr/>
        </p:nvSpPr>
        <p:spPr>
          <a:xfrm>
            <a:off x="1828800" y="30861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965960" y="2651760"/>
            <a:ext cx="1371600" cy="10972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65960" y="2651760"/>
            <a:ext cx="1371600" cy="1097280"/>
          </a:xfrm>
          <a:prstGeom prst="rect">
            <a:avLst/>
          </a:prstGeom>
          <a:noFill/>
        </p:spPr>
        <p:txBody>
          <a:bodyPr wrap="square">
            <a:spAutoFit/>
          </a:bodyPr>
          <a:lstStyle/>
          <a:p>
            <a:pPr algn="ctr">
              <a:defRPr sz="1600" b="1">
                <a:solidFill>
                  <a:srgbClr val="FFFFFF"/>
                </a:solidFill>
                <a:latin typeface="Calibri"/>
              </a:defRPr>
            </a:pPr>
            <a:r>
              <a:t>Find</a:t>
            </a:r>
            <a:br/>
            <a:r>
              <a:t>Relevant Code</a:t>
            </a:r>
          </a:p>
        </p:txBody>
      </p:sp>
      <p:sp>
        <p:nvSpPr>
          <p:cNvPr id="10" name="Right Arrow 9"/>
          <p:cNvSpPr/>
          <p:nvPr/>
        </p:nvSpPr>
        <p:spPr>
          <a:xfrm>
            <a:off x="3337560" y="30861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474720" y="2651760"/>
            <a:ext cx="1371600" cy="10972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2651760"/>
            <a:ext cx="1371600" cy="1097280"/>
          </a:xfrm>
          <a:prstGeom prst="rect">
            <a:avLst/>
          </a:prstGeom>
          <a:noFill/>
        </p:spPr>
        <p:txBody>
          <a:bodyPr wrap="square">
            <a:spAutoFit/>
          </a:bodyPr>
          <a:lstStyle/>
          <a:p>
            <a:pPr algn="ctr">
              <a:defRPr sz="1600" b="1">
                <a:solidFill>
                  <a:srgbClr val="FFFFFF"/>
                </a:solidFill>
                <a:latin typeface="Calibri"/>
              </a:defRPr>
            </a:pPr>
            <a:r>
              <a:t>Identify</a:t>
            </a:r>
            <a:br/>
            <a:r>
              <a:t>Failure</a:t>
            </a:r>
          </a:p>
        </p:txBody>
      </p:sp>
      <p:sp>
        <p:nvSpPr>
          <p:cNvPr id="13" name="Right Arrow 12"/>
          <p:cNvSpPr/>
          <p:nvPr/>
        </p:nvSpPr>
        <p:spPr>
          <a:xfrm>
            <a:off x="4846320" y="30861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983480" y="2651760"/>
            <a:ext cx="1371600" cy="10972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83480" y="2651760"/>
            <a:ext cx="1371600" cy="1097280"/>
          </a:xfrm>
          <a:prstGeom prst="rect">
            <a:avLst/>
          </a:prstGeom>
          <a:noFill/>
        </p:spPr>
        <p:txBody>
          <a:bodyPr wrap="square">
            <a:spAutoFit/>
          </a:bodyPr>
          <a:lstStyle/>
          <a:p>
            <a:pPr algn="ctr">
              <a:defRPr sz="1600" b="1">
                <a:solidFill>
                  <a:srgbClr val="FFFFFF"/>
                </a:solidFill>
                <a:latin typeface="Calibri"/>
              </a:defRPr>
            </a:pPr>
            <a:r>
              <a:t>Modify</a:t>
            </a:r>
            <a:br/>
            <a:r>
              <a:t>Code</a:t>
            </a:r>
          </a:p>
        </p:txBody>
      </p:sp>
      <p:sp>
        <p:nvSpPr>
          <p:cNvPr id="16" name="Right Arrow 15"/>
          <p:cNvSpPr/>
          <p:nvPr/>
        </p:nvSpPr>
        <p:spPr>
          <a:xfrm>
            <a:off x="6355080" y="30861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492240" y="2651760"/>
            <a:ext cx="1371600" cy="10972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2651760"/>
            <a:ext cx="1371600" cy="1097280"/>
          </a:xfrm>
          <a:prstGeom prst="rect">
            <a:avLst/>
          </a:prstGeom>
          <a:noFill/>
        </p:spPr>
        <p:txBody>
          <a:bodyPr wrap="square">
            <a:spAutoFit/>
          </a:bodyPr>
          <a:lstStyle/>
          <a:p>
            <a:pPr algn="ctr">
              <a:defRPr sz="1600" b="1">
                <a:solidFill>
                  <a:srgbClr val="FFFFFF"/>
                </a:solidFill>
                <a:latin typeface="Calibri"/>
              </a:defRPr>
            </a:pPr>
            <a:r>
              <a:t>Run</a:t>
            </a:r>
            <a:br/>
            <a:r>
              <a:t>Tests</a:t>
            </a:r>
          </a:p>
        </p:txBody>
      </p:sp>
      <p:sp>
        <p:nvSpPr>
          <p:cNvPr id="19" name="Right Arrow 18"/>
          <p:cNvSpPr/>
          <p:nvPr/>
        </p:nvSpPr>
        <p:spPr>
          <a:xfrm>
            <a:off x="7863840" y="30861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01000" y="2651760"/>
            <a:ext cx="137160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01000" y="2651760"/>
            <a:ext cx="1371600" cy="1097280"/>
          </a:xfrm>
          <a:prstGeom prst="rect">
            <a:avLst/>
          </a:prstGeom>
          <a:noFill/>
        </p:spPr>
        <p:txBody>
          <a:bodyPr wrap="square">
            <a:spAutoFit/>
          </a:bodyPr>
          <a:lstStyle/>
          <a:p>
            <a:pPr algn="ctr">
              <a:defRPr sz="1600" b="1">
                <a:solidFill>
                  <a:srgbClr val="FFFFFF"/>
                </a:solidFill>
                <a:latin typeface="Calibri"/>
              </a:defRPr>
            </a:pPr>
            <a:r>
              <a:t>Fix</a:t>
            </a:r>
            <a:br/>
            <a:r>
              <a:t>Errors</a:t>
            </a:r>
          </a:p>
        </p:txBody>
      </p:sp>
      <p:sp>
        <p:nvSpPr>
          <p:cNvPr id="22" name="Right Arrow 21"/>
          <p:cNvSpPr/>
          <p:nvPr/>
        </p:nvSpPr>
        <p:spPr>
          <a:xfrm>
            <a:off x="9372600" y="3086100"/>
            <a:ext cx="36576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509760" y="2651760"/>
            <a:ext cx="1371600" cy="109728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09760" y="2651760"/>
            <a:ext cx="1371600" cy="1097280"/>
          </a:xfrm>
          <a:prstGeom prst="rect">
            <a:avLst/>
          </a:prstGeom>
          <a:noFill/>
        </p:spPr>
        <p:txBody>
          <a:bodyPr wrap="square">
            <a:spAutoFit/>
          </a:bodyPr>
          <a:lstStyle/>
          <a:p>
            <a:pPr algn="ctr">
              <a:defRPr sz="1600" b="1">
                <a:solidFill>
                  <a:srgbClr val="FFFFFF"/>
                </a:solidFill>
                <a:latin typeface="Calibri"/>
              </a:defRPr>
            </a:pPr>
            <a:r>
              <a:t>Prepare</a:t>
            </a:r>
            <a:br/>
            <a:r>
              <a:t>Changes</a:t>
            </a:r>
          </a:p>
        </p:txBody>
      </p:sp>
      <p:sp>
        <p:nvSpPr>
          <p:cNvPr id="25" name="TextBox 24"/>
          <p:cNvSpPr txBox="1"/>
          <p:nvPr/>
        </p:nvSpPr>
        <p:spPr>
          <a:xfrm>
            <a:off x="914400" y="1371600"/>
            <a:ext cx="10058400" cy="457200"/>
          </a:xfrm>
          <a:prstGeom prst="rect">
            <a:avLst/>
          </a:prstGeom>
          <a:noFill/>
        </p:spPr>
        <p:txBody>
          <a:bodyPr wrap="square">
            <a:spAutoFit/>
          </a:bodyPr>
          <a:lstStyle/>
          <a:p>
            <a:pPr algn="ctr">
              <a:defRPr sz="2400" b="1">
                <a:solidFill>
                  <a:srgbClr val="1A3A5C"/>
                </a:solidFill>
                <a:latin typeface="Calibri"/>
              </a:defRPr>
            </a:pPr>
            <a:r>
              <a:t>Task: "Fix the failing authentication tests."</a:t>
            </a:r>
          </a:p>
        </p:txBody>
      </p:sp>
      <p:sp>
        <p:nvSpPr>
          <p:cNvPr id="26" name="Rounded Rectangle 25"/>
          <p:cNvSpPr/>
          <p:nvPr/>
        </p:nvSpPr>
        <p:spPr>
          <a:xfrm>
            <a:off x="1828800" y="5029200"/>
            <a:ext cx="8229600" cy="13716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11680" y="5120640"/>
            <a:ext cx="7863840" cy="1188720"/>
          </a:xfrm>
          <a:prstGeom prst="rect">
            <a:avLst/>
          </a:prstGeom>
          <a:noFill/>
        </p:spPr>
        <p:txBody>
          <a:bodyPr wrap="square">
            <a:spAutoFit/>
          </a:bodyPr>
          <a:lstStyle/>
          <a:p>
            <a:pPr algn="l">
              <a:defRPr sz="1800" b="0">
                <a:solidFill>
                  <a:srgbClr val="FFFFFF"/>
                </a:solidFill>
                <a:latin typeface="Calibri"/>
              </a:defRPr>
            </a:pPr>
            <a:r>
              <a:t>Research and industry surveys in 2026 show rapid adoption of coding agents, while also highlighting the need for stronger security and governance.</a:t>
            </a:r>
          </a:p>
        </p:txBody>
      </p:sp>
      <p:sp>
        <p:nvSpPr>
          <p:cNvPr id="28" name="Rectangle 27"/>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63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New Risks in AI Software Engineering</a:t>
            </a:r>
          </a:p>
        </p:txBody>
      </p:sp>
      <p:sp>
        <p:nvSpPr>
          <p:cNvPr id="5" name="Rounded Rectangle 4"/>
          <p:cNvSpPr/>
          <p:nvPr/>
        </p:nvSpPr>
        <p:spPr>
          <a:xfrm>
            <a:off x="914400" y="16459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65960"/>
            <a:ext cx="3017520" cy="457200"/>
          </a:xfrm>
          <a:prstGeom prst="rect">
            <a:avLst/>
          </a:prstGeom>
          <a:noFill/>
        </p:spPr>
        <p:txBody>
          <a:bodyPr wrap="square">
            <a:spAutoFit/>
          </a:bodyPr>
          <a:lstStyle/>
          <a:p>
            <a:pPr algn="ctr">
              <a:defRPr sz="1300" b="1">
                <a:solidFill>
                  <a:srgbClr val="FFFFFF"/>
                </a:solidFill>
                <a:latin typeface="Calibri"/>
              </a:defRPr>
            </a:pPr>
            <a:r>
              <a:t>Hallucination</a:t>
            </a:r>
          </a:p>
        </p:txBody>
      </p:sp>
      <p:sp>
        <p:nvSpPr>
          <p:cNvPr id="7" name="Rounded Rectangle 6"/>
          <p:cNvSpPr/>
          <p:nvPr/>
        </p:nvSpPr>
        <p:spPr>
          <a:xfrm>
            <a:off x="4389120" y="16459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89120" y="1965960"/>
            <a:ext cx="3017520" cy="457200"/>
          </a:xfrm>
          <a:prstGeom prst="rect">
            <a:avLst/>
          </a:prstGeom>
          <a:noFill/>
        </p:spPr>
        <p:txBody>
          <a:bodyPr wrap="square">
            <a:spAutoFit/>
          </a:bodyPr>
          <a:lstStyle/>
          <a:p>
            <a:pPr algn="ctr">
              <a:defRPr sz="1300" b="1">
                <a:solidFill>
                  <a:srgbClr val="FFFFFF"/>
                </a:solidFill>
                <a:latin typeface="Calibri"/>
              </a:defRPr>
            </a:pPr>
            <a:r>
              <a:t>Prompt Injection</a:t>
            </a:r>
          </a:p>
        </p:txBody>
      </p:sp>
      <p:sp>
        <p:nvSpPr>
          <p:cNvPr id="9" name="Rounded Rectangle 8"/>
          <p:cNvSpPr/>
          <p:nvPr/>
        </p:nvSpPr>
        <p:spPr>
          <a:xfrm>
            <a:off x="7863840" y="16459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1965960"/>
            <a:ext cx="3017520" cy="457200"/>
          </a:xfrm>
          <a:prstGeom prst="rect">
            <a:avLst/>
          </a:prstGeom>
          <a:noFill/>
        </p:spPr>
        <p:txBody>
          <a:bodyPr wrap="square">
            <a:spAutoFit/>
          </a:bodyPr>
          <a:lstStyle/>
          <a:p>
            <a:pPr algn="ctr">
              <a:defRPr sz="1300" b="1">
                <a:solidFill>
                  <a:srgbClr val="FFFFFF"/>
                </a:solidFill>
                <a:latin typeface="Calibri"/>
              </a:defRPr>
            </a:pPr>
            <a:r>
              <a:t>Data Leakage</a:t>
            </a:r>
          </a:p>
        </p:txBody>
      </p:sp>
      <p:sp>
        <p:nvSpPr>
          <p:cNvPr id="11" name="Rounded Rectangle 10"/>
          <p:cNvSpPr/>
          <p:nvPr/>
        </p:nvSpPr>
        <p:spPr>
          <a:xfrm>
            <a:off x="914400" y="30175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337560"/>
            <a:ext cx="3017520" cy="457200"/>
          </a:xfrm>
          <a:prstGeom prst="rect">
            <a:avLst/>
          </a:prstGeom>
          <a:noFill/>
        </p:spPr>
        <p:txBody>
          <a:bodyPr wrap="square">
            <a:spAutoFit/>
          </a:bodyPr>
          <a:lstStyle/>
          <a:p>
            <a:pPr algn="ctr">
              <a:defRPr sz="1300" b="1">
                <a:solidFill>
                  <a:srgbClr val="FFFFFF"/>
                </a:solidFill>
                <a:latin typeface="Calibri"/>
              </a:defRPr>
            </a:pPr>
            <a:r>
              <a:t>Model Bias</a:t>
            </a:r>
          </a:p>
        </p:txBody>
      </p:sp>
      <p:sp>
        <p:nvSpPr>
          <p:cNvPr id="13" name="Rounded Rectangle 12"/>
          <p:cNvSpPr/>
          <p:nvPr/>
        </p:nvSpPr>
        <p:spPr>
          <a:xfrm>
            <a:off x="4389120" y="30175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3337560"/>
            <a:ext cx="3017520" cy="457200"/>
          </a:xfrm>
          <a:prstGeom prst="rect">
            <a:avLst/>
          </a:prstGeom>
          <a:noFill/>
        </p:spPr>
        <p:txBody>
          <a:bodyPr wrap="square">
            <a:spAutoFit/>
          </a:bodyPr>
          <a:lstStyle/>
          <a:p>
            <a:pPr algn="ctr">
              <a:defRPr sz="1300" b="1">
                <a:solidFill>
                  <a:srgbClr val="FFFFFF"/>
                </a:solidFill>
                <a:latin typeface="Calibri"/>
              </a:defRPr>
            </a:pPr>
            <a:r>
              <a:t>Model Drift</a:t>
            </a:r>
          </a:p>
        </p:txBody>
      </p:sp>
      <p:sp>
        <p:nvSpPr>
          <p:cNvPr id="15" name="Rounded Rectangle 14"/>
          <p:cNvSpPr/>
          <p:nvPr/>
        </p:nvSpPr>
        <p:spPr>
          <a:xfrm>
            <a:off x="7863840" y="30175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3337560"/>
            <a:ext cx="3017520" cy="457200"/>
          </a:xfrm>
          <a:prstGeom prst="rect">
            <a:avLst/>
          </a:prstGeom>
          <a:noFill/>
        </p:spPr>
        <p:txBody>
          <a:bodyPr wrap="square">
            <a:spAutoFit/>
          </a:bodyPr>
          <a:lstStyle/>
          <a:p>
            <a:pPr algn="ctr">
              <a:defRPr sz="1300" b="1">
                <a:solidFill>
                  <a:srgbClr val="FFFFFF"/>
                </a:solidFill>
                <a:latin typeface="Calibri"/>
              </a:defRPr>
            </a:pPr>
            <a:r>
              <a:t>Unsafe Tool Use</a:t>
            </a:r>
          </a:p>
        </p:txBody>
      </p:sp>
      <p:sp>
        <p:nvSpPr>
          <p:cNvPr id="17" name="Rounded Rectangle 16"/>
          <p:cNvSpPr/>
          <p:nvPr/>
        </p:nvSpPr>
        <p:spPr>
          <a:xfrm>
            <a:off x="914400" y="43891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709160"/>
            <a:ext cx="3017520" cy="457200"/>
          </a:xfrm>
          <a:prstGeom prst="rect">
            <a:avLst/>
          </a:prstGeom>
          <a:noFill/>
        </p:spPr>
        <p:txBody>
          <a:bodyPr wrap="square">
            <a:spAutoFit/>
          </a:bodyPr>
          <a:lstStyle/>
          <a:p>
            <a:pPr algn="ctr">
              <a:defRPr sz="1300" b="1">
                <a:solidFill>
                  <a:srgbClr val="FFFFFF"/>
                </a:solidFill>
                <a:latin typeface="Calibri"/>
              </a:defRPr>
            </a:pPr>
            <a:r>
              <a:t>Excessive Permissions</a:t>
            </a:r>
          </a:p>
        </p:txBody>
      </p:sp>
      <p:sp>
        <p:nvSpPr>
          <p:cNvPr id="19" name="Rounded Rectangle 18"/>
          <p:cNvSpPr/>
          <p:nvPr/>
        </p:nvSpPr>
        <p:spPr>
          <a:xfrm>
            <a:off x="4389120" y="43891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0" y="4709160"/>
            <a:ext cx="3017520" cy="457200"/>
          </a:xfrm>
          <a:prstGeom prst="rect">
            <a:avLst/>
          </a:prstGeom>
          <a:noFill/>
        </p:spPr>
        <p:txBody>
          <a:bodyPr wrap="square">
            <a:spAutoFit/>
          </a:bodyPr>
          <a:lstStyle/>
          <a:p>
            <a:pPr algn="ctr">
              <a:defRPr sz="1300" b="1">
                <a:solidFill>
                  <a:srgbClr val="FFFFFF"/>
                </a:solidFill>
                <a:latin typeface="Calibri"/>
              </a:defRPr>
            </a:pPr>
            <a:r>
              <a:t>Generated Vulnerabilities</a:t>
            </a:r>
          </a:p>
        </p:txBody>
      </p:sp>
      <p:sp>
        <p:nvSpPr>
          <p:cNvPr id="21" name="Rounded Rectangle 20"/>
          <p:cNvSpPr/>
          <p:nvPr/>
        </p:nvSpPr>
        <p:spPr>
          <a:xfrm>
            <a:off x="7863840" y="4389120"/>
            <a:ext cx="3017520" cy="109728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63840" y="4709160"/>
            <a:ext cx="3017520" cy="457200"/>
          </a:xfrm>
          <a:prstGeom prst="rect">
            <a:avLst/>
          </a:prstGeom>
          <a:noFill/>
        </p:spPr>
        <p:txBody>
          <a:bodyPr wrap="square">
            <a:spAutoFit/>
          </a:bodyPr>
          <a:lstStyle/>
          <a:p>
            <a:pPr algn="ctr">
              <a:defRPr sz="1300" b="1">
                <a:solidFill>
                  <a:srgbClr val="FFFFFF"/>
                </a:solidFill>
                <a:latin typeface="Calibri"/>
              </a:defRPr>
            </a:pPr>
            <a:r>
              <a:t>Non-deterministic Behavior</a:t>
            </a:r>
          </a:p>
        </p:txBody>
      </p:sp>
      <p:sp>
        <p:nvSpPr>
          <p:cNvPr id="23" name="Rounded Rectangle 22"/>
          <p:cNvSpPr/>
          <p:nvPr/>
        </p:nvSpPr>
        <p:spPr>
          <a:xfrm>
            <a:off x="1828800" y="5943600"/>
            <a:ext cx="822960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11680" y="5989320"/>
            <a:ext cx="7863840" cy="548640"/>
          </a:xfrm>
          <a:prstGeom prst="rect">
            <a:avLst/>
          </a:prstGeom>
          <a:noFill/>
        </p:spPr>
        <p:txBody>
          <a:bodyPr wrap="square">
            <a:spAutoFit/>
          </a:bodyPr>
          <a:lstStyle/>
          <a:p>
            <a:pPr algn="ctr">
              <a:defRPr sz="2000" b="1">
                <a:solidFill>
                  <a:srgbClr val="FFFFFF"/>
                </a:solidFill>
                <a:latin typeface="Calibri"/>
              </a:defRPr>
            </a:pPr>
            <a:r>
              <a:t>AI increases the importance of Software Engineering; it does not eliminate it.</a:t>
            </a:r>
          </a:p>
        </p:txBody>
      </p:sp>
      <p:sp>
        <p:nvSpPr>
          <p:cNvPr id="25" name="Rectangle 24"/>
          <p:cNvSpPr/>
          <p:nvPr/>
        </p:nvSpPr>
        <p:spPr>
          <a:xfrm>
            <a:off x="0" y="6675120"/>
            <a:ext cx="12191695" cy="1828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64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Human + AI Engineering</a:t>
            </a:r>
          </a:p>
        </p:txBody>
      </p:sp>
      <p:sp>
        <p:nvSpPr>
          <p:cNvPr id="5" name="Oval 4"/>
          <p:cNvSpPr/>
          <p:nvPr/>
        </p:nvSpPr>
        <p:spPr>
          <a:xfrm>
            <a:off x="3657600" y="2286000"/>
            <a:ext cx="2286000" cy="22860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0" y="2857500"/>
            <a:ext cx="2286000" cy="1143000"/>
          </a:xfrm>
          <a:prstGeom prst="rect">
            <a:avLst/>
          </a:prstGeom>
          <a:noFill/>
        </p:spPr>
        <p:txBody>
          <a:bodyPr wrap="none">
            <a:spAutoFit/>
          </a:bodyPr>
          <a:lstStyle/>
          <a:p>
            <a:pPr algn="ctr">
              <a:defRPr sz="1600" b="1">
                <a:solidFill>
                  <a:srgbClr val="FFFFFF"/>
                </a:solidFill>
              </a:defRPr>
            </a:pPr>
            <a:r>
              <a:t>Human</a:t>
            </a:r>
          </a:p>
        </p:txBody>
      </p:sp>
      <p:sp>
        <p:nvSpPr>
          <p:cNvPr id="7" name="Oval 6"/>
          <p:cNvSpPr/>
          <p:nvPr/>
        </p:nvSpPr>
        <p:spPr>
          <a:xfrm>
            <a:off x="6217920" y="2286000"/>
            <a:ext cx="2286000" cy="228600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0" y="2857500"/>
            <a:ext cx="2286000" cy="1143000"/>
          </a:xfrm>
          <a:prstGeom prst="rect">
            <a:avLst/>
          </a:prstGeom>
          <a:noFill/>
        </p:spPr>
        <p:txBody>
          <a:bodyPr wrap="none">
            <a:spAutoFit/>
          </a:bodyPr>
          <a:lstStyle/>
          <a:p>
            <a:pPr algn="ctr">
              <a:defRPr sz="2400" b="1">
                <a:solidFill>
                  <a:srgbClr val="FFFFFF"/>
                </a:solidFill>
              </a:defRPr>
            </a:pPr>
            <a:r>
              <a:t>AI</a:t>
            </a:r>
          </a:p>
        </p:txBody>
      </p:sp>
      <p:sp>
        <p:nvSpPr>
          <p:cNvPr id="9" name="Oval 8"/>
          <p:cNvSpPr/>
          <p:nvPr/>
        </p:nvSpPr>
        <p:spPr>
          <a:xfrm>
            <a:off x="4937760" y="4114800"/>
            <a:ext cx="2286000" cy="2286000"/>
          </a:xfrm>
          <a:prstGeom prst="ellipse">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4686300"/>
            <a:ext cx="2286000" cy="1143000"/>
          </a:xfrm>
          <a:prstGeom prst="rect">
            <a:avLst/>
          </a:prstGeom>
          <a:noFill/>
        </p:spPr>
        <p:txBody>
          <a:bodyPr wrap="none">
            <a:spAutoFit/>
          </a:bodyPr>
          <a:lstStyle/>
          <a:p>
            <a:pPr algn="ctr">
              <a:defRPr sz="1200" b="1">
                <a:solidFill>
                  <a:srgbClr val="FFFFFF"/>
                </a:solidFill>
              </a:defRPr>
            </a:pPr>
            <a:r>
              <a:t>Engineering</a:t>
            </a:r>
            <a:br/>
            <a:r>
              <a:t>Process</a:t>
            </a:r>
          </a:p>
        </p:txBody>
      </p:sp>
      <p:sp>
        <p:nvSpPr>
          <p:cNvPr id="11" name="Rounded Rectangle 10"/>
          <p:cNvSpPr/>
          <p:nvPr/>
        </p:nvSpPr>
        <p:spPr>
          <a:xfrm>
            <a:off x="1828800" y="5303520"/>
            <a:ext cx="8229600" cy="10972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11680" y="5394960"/>
            <a:ext cx="7863840" cy="914400"/>
          </a:xfrm>
          <a:prstGeom prst="rect">
            <a:avLst/>
          </a:prstGeom>
          <a:noFill/>
        </p:spPr>
        <p:txBody>
          <a:bodyPr wrap="square">
            <a:spAutoFit/>
          </a:bodyPr>
          <a:lstStyle/>
          <a:p>
            <a:pPr algn="ctr">
              <a:defRPr sz="2400" b="1">
                <a:solidFill>
                  <a:srgbClr val="FFFFFF"/>
                </a:solidFill>
                <a:latin typeface="Calibri"/>
              </a:defRPr>
            </a:pPr>
            <a:r>
              <a:t>Core principle: AI generates possibilities; engineering establishes reliability.</a:t>
            </a:r>
          </a:p>
        </p:txBody>
      </p:sp>
      <p:sp>
        <p:nvSpPr>
          <p:cNvPr id="13" name="Rectangle 12"/>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65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9 — SOFTWARE QUALITY</a:t>
            </a:r>
          </a:p>
        </p:txBody>
      </p:sp>
      <p:sp>
        <p:nvSpPr>
          <p:cNvPr id="5" name="Rounded Rectangle 4"/>
          <p:cNvSpPr/>
          <p:nvPr/>
        </p:nvSpPr>
        <p:spPr>
          <a:xfrm>
            <a:off x="731520" y="1645920"/>
            <a:ext cx="2560320" cy="18288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2560320" cy="457200"/>
          </a:xfrm>
          <a:prstGeom prst="rect">
            <a:avLst/>
          </a:prstGeom>
          <a:noFill/>
        </p:spPr>
        <p:txBody>
          <a:bodyPr wrap="square">
            <a:spAutoFit/>
          </a:bodyPr>
          <a:lstStyle/>
          <a:p>
            <a:pPr algn="ctr">
              <a:defRPr sz="2400" b="1">
                <a:solidFill>
                  <a:srgbClr val="FFFFFF"/>
                </a:solidFill>
                <a:latin typeface="Calibri"/>
              </a:defRPr>
            </a:pPr>
            <a:r>
              <a:t>Correct</a:t>
            </a:r>
          </a:p>
        </p:txBody>
      </p:sp>
      <p:sp>
        <p:nvSpPr>
          <p:cNvPr id="7" name="Rounded Rectangle 6"/>
          <p:cNvSpPr/>
          <p:nvPr/>
        </p:nvSpPr>
        <p:spPr>
          <a:xfrm>
            <a:off x="3566160" y="1645920"/>
            <a:ext cx="2560320" cy="18288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66160" y="2194560"/>
            <a:ext cx="2560320" cy="457200"/>
          </a:xfrm>
          <a:prstGeom prst="rect">
            <a:avLst/>
          </a:prstGeom>
          <a:noFill/>
        </p:spPr>
        <p:txBody>
          <a:bodyPr wrap="square">
            <a:spAutoFit/>
          </a:bodyPr>
          <a:lstStyle/>
          <a:p>
            <a:pPr algn="ctr">
              <a:defRPr sz="2400" b="1">
                <a:solidFill>
                  <a:srgbClr val="FFFFFF"/>
                </a:solidFill>
                <a:latin typeface="Calibri"/>
              </a:defRPr>
            </a:pPr>
            <a:r>
              <a:t>Reliable</a:t>
            </a:r>
          </a:p>
        </p:txBody>
      </p:sp>
      <p:sp>
        <p:nvSpPr>
          <p:cNvPr id="9" name="Rounded Rectangle 8"/>
          <p:cNvSpPr/>
          <p:nvPr/>
        </p:nvSpPr>
        <p:spPr>
          <a:xfrm>
            <a:off x="6400800" y="1645920"/>
            <a:ext cx="2560320" cy="1828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2194560"/>
            <a:ext cx="2560320" cy="457200"/>
          </a:xfrm>
          <a:prstGeom prst="rect">
            <a:avLst/>
          </a:prstGeom>
          <a:noFill/>
        </p:spPr>
        <p:txBody>
          <a:bodyPr wrap="square">
            <a:spAutoFit/>
          </a:bodyPr>
          <a:lstStyle/>
          <a:p>
            <a:pPr algn="ctr">
              <a:defRPr sz="2400" b="1">
                <a:solidFill>
                  <a:srgbClr val="FFFFFF"/>
                </a:solidFill>
                <a:latin typeface="Calibri"/>
              </a:defRPr>
            </a:pPr>
            <a:r>
              <a:t>Secure</a:t>
            </a:r>
          </a:p>
        </p:txBody>
      </p:sp>
      <p:sp>
        <p:nvSpPr>
          <p:cNvPr id="11" name="Rounded Rectangle 10"/>
          <p:cNvSpPr/>
          <p:nvPr/>
        </p:nvSpPr>
        <p:spPr>
          <a:xfrm>
            <a:off x="9235440" y="1645920"/>
            <a:ext cx="2560320" cy="18288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35440" y="2194560"/>
            <a:ext cx="2560320" cy="457200"/>
          </a:xfrm>
          <a:prstGeom prst="rect">
            <a:avLst/>
          </a:prstGeom>
          <a:noFill/>
        </p:spPr>
        <p:txBody>
          <a:bodyPr wrap="square">
            <a:spAutoFit/>
          </a:bodyPr>
          <a:lstStyle/>
          <a:p>
            <a:pPr algn="ctr">
              <a:defRPr sz="2400" b="1">
                <a:solidFill>
                  <a:srgbClr val="FFFFFF"/>
                </a:solidFill>
                <a:latin typeface="Calibri"/>
              </a:defRPr>
            </a:pPr>
            <a:r>
              <a:t>Usable</a:t>
            </a:r>
          </a:p>
        </p:txBody>
      </p:sp>
      <p:sp>
        <p:nvSpPr>
          <p:cNvPr id="13" name="Rounded Rectangle 12"/>
          <p:cNvSpPr/>
          <p:nvPr/>
        </p:nvSpPr>
        <p:spPr>
          <a:xfrm>
            <a:off x="731520" y="3931920"/>
            <a:ext cx="2560320" cy="18288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480560"/>
            <a:ext cx="2560320" cy="457200"/>
          </a:xfrm>
          <a:prstGeom prst="rect">
            <a:avLst/>
          </a:prstGeom>
          <a:noFill/>
        </p:spPr>
        <p:txBody>
          <a:bodyPr wrap="square">
            <a:spAutoFit/>
          </a:bodyPr>
          <a:lstStyle/>
          <a:p>
            <a:pPr algn="ctr">
              <a:defRPr sz="2400" b="1">
                <a:solidFill>
                  <a:srgbClr val="FFFFFF"/>
                </a:solidFill>
                <a:latin typeface="Calibri"/>
              </a:defRPr>
            </a:pPr>
            <a:r>
              <a:t>Maintainable</a:t>
            </a:r>
          </a:p>
        </p:txBody>
      </p:sp>
      <p:sp>
        <p:nvSpPr>
          <p:cNvPr id="15" name="Rounded Rectangle 14"/>
          <p:cNvSpPr/>
          <p:nvPr/>
        </p:nvSpPr>
        <p:spPr>
          <a:xfrm>
            <a:off x="3566160" y="3931920"/>
            <a:ext cx="2560320" cy="18288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66160" y="4480560"/>
            <a:ext cx="2560320" cy="457200"/>
          </a:xfrm>
          <a:prstGeom prst="rect">
            <a:avLst/>
          </a:prstGeom>
          <a:noFill/>
        </p:spPr>
        <p:txBody>
          <a:bodyPr wrap="square">
            <a:spAutoFit/>
          </a:bodyPr>
          <a:lstStyle/>
          <a:p>
            <a:pPr algn="ctr">
              <a:defRPr sz="2400" b="1">
                <a:solidFill>
                  <a:srgbClr val="FFFFFF"/>
                </a:solidFill>
                <a:latin typeface="Calibri"/>
              </a:defRPr>
            </a:pPr>
            <a:r>
              <a:t>Efficient</a:t>
            </a:r>
          </a:p>
        </p:txBody>
      </p:sp>
      <p:sp>
        <p:nvSpPr>
          <p:cNvPr id="17" name="Rounded Rectangle 16"/>
          <p:cNvSpPr/>
          <p:nvPr/>
        </p:nvSpPr>
        <p:spPr>
          <a:xfrm>
            <a:off x="6400800" y="3931920"/>
            <a:ext cx="2560320" cy="182880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4480560"/>
            <a:ext cx="2560320" cy="457200"/>
          </a:xfrm>
          <a:prstGeom prst="rect">
            <a:avLst/>
          </a:prstGeom>
          <a:noFill/>
        </p:spPr>
        <p:txBody>
          <a:bodyPr wrap="square">
            <a:spAutoFit/>
          </a:bodyPr>
          <a:lstStyle/>
          <a:p>
            <a:pPr algn="ctr">
              <a:defRPr sz="2400" b="1">
                <a:solidFill>
                  <a:srgbClr val="FFFFFF"/>
                </a:solidFill>
                <a:latin typeface="Calibri"/>
              </a:defRPr>
            </a:pPr>
            <a:r>
              <a:t>Scalable</a:t>
            </a:r>
          </a:p>
        </p:txBody>
      </p:sp>
      <p:sp>
        <p:nvSpPr>
          <p:cNvPr id="19" name="Rectangle 18"/>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66</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Correctness</a:t>
            </a:r>
          </a:p>
        </p:txBody>
      </p:sp>
      <p:sp>
        <p:nvSpPr>
          <p:cNvPr id="5" name="TextBox 4"/>
          <p:cNvSpPr txBox="1"/>
          <p:nvPr/>
        </p:nvSpPr>
        <p:spPr>
          <a:xfrm>
            <a:off x="914400" y="1645920"/>
            <a:ext cx="10058400" cy="548640"/>
          </a:xfrm>
          <a:prstGeom prst="rect">
            <a:avLst/>
          </a:prstGeom>
          <a:noFill/>
        </p:spPr>
        <p:txBody>
          <a:bodyPr wrap="square">
            <a:spAutoFit/>
          </a:bodyPr>
          <a:lstStyle/>
          <a:p>
            <a:pPr algn="ctr">
              <a:defRPr sz="2200" b="0">
                <a:solidFill>
                  <a:srgbClr val="1A1A2E"/>
                </a:solidFill>
                <a:latin typeface="Calibri"/>
              </a:defRPr>
            </a:pPr>
            <a:r>
              <a:t>Does the software produce the expected result?</a:t>
            </a:r>
          </a:p>
        </p:txBody>
      </p:sp>
      <p:sp>
        <p:nvSpPr>
          <p:cNvPr id="6" name="Rounded Rectangle 5"/>
          <p:cNvSpPr/>
          <p:nvPr/>
        </p:nvSpPr>
        <p:spPr>
          <a:xfrm>
            <a:off x="1828800" y="2743200"/>
            <a:ext cx="8229600" cy="32004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2834640"/>
            <a:ext cx="7863840" cy="457200"/>
          </a:xfrm>
          <a:prstGeom prst="rect">
            <a:avLst/>
          </a:prstGeom>
          <a:noFill/>
        </p:spPr>
        <p:txBody>
          <a:bodyPr wrap="square">
            <a:spAutoFit/>
          </a:bodyPr>
          <a:lstStyle/>
          <a:p>
            <a:pPr algn="l">
              <a:defRPr sz="2200" b="1">
                <a:solidFill>
                  <a:srgbClr val="FFFFFF"/>
                </a:solidFill>
                <a:latin typeface="Calibri"/>
              </a:defRPr>
            </a:pPr>
            <a:r>
              <a:t>AI Example:</a:t>
            </a:r>
          </a:p>
        </p:txBody>
      </p:sp>
      <p:sp>
        <p:nvSpPr>
          <p:cNvPr id="8" name="TextBox 7"/>
          <p:cNvSpPr txBox="1"/>
          <p:nvPr/>
        </p:nvSpPr>
        <p:spPr>
          <a:xfrm>
            <a:off x="2011680" y="3383280"/>
            <a:ext cx="7863840" cy="2286000"/>
          </a:xfrm>
          <a:prstGeom prst="rect">
            <a:avLst/>
          </a:prstGeom>
          <a:noFill/>
        </p:spPr>
        <p:txBody>
          <a:bodyPr wrap="square">
            <a:spAutoFit/>
          </a:bodyPr>
          <a:lstStyle/>
          <a:p>
            <a:pPr algn="l">
              <a:defRPr sz="2000" b="0">
                <a:solidFill>
                  <a:srgbClr val="FFFFFF"/>
                </a:solidFill>
                <a:latin typeface="Calibri"/>
              </a:defRPr>
            </a:pPr>
            <a:r>
              <a:t>A loan prediction model should produce predictions according to its defined specification and validation criteria.</a:t>
            </a:r>
          </a:p>
        </p:txBody>
      </p:sp>
      <p:sp>
        <p:nvSpPr>
          <p:cNvPr id="9" name="Rectangle 8"/>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67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Reliability</a:t>
            </a:r>
          </a:p>
        </p:txBody>
      </p:sp>
      <p:sp>
        <p:nvSpPr>
          <p:cNvPr id="5" name="TextBox 4"/>
          <p:cNvSpPr txBox="1"/>
          <p:nvPr/>
        </p:nvSpPr>
        <p:spPr>
          <a:xfrm>
            <a:off x="914400" y="1645920"/>
            <a:ext cx="10058400" cy="548640"/>
          </a:xfrm>
          <a:prstGeom prst="rect">
            <a:avLst/>
          </a:prstGeom>
          <a:noFill/>
        </p:spPr>
        <p:txBody>
          <a:bodyPr wrap="square">
            <a:spAutoFit/>
          </a:bodyPr>
          <a:lstStyle/>
          <a:p>
            <a:pPr algn="ctr">
              <a:defRPr sz="2200" b="0">
                <a:solidFill>
                  <a:srgbClr val="1A1A2E"/>
                </a:solidFill>
                <a:latin typeface="Calibri"/>
              </a:defRPr>
            </a:pPr>
            <a:r>
              <a:t>Can the software perform consistently?</a:t>
            </a:r>
          </a:p>
        </p:txBody>
      </p:sp>
      <p:sp>
        <p:nvSpPr>
          <p:cNvPr id="6" name="Rounded Rectangle 5"/>
          <p:cNvSpPr/>
          <p:nvPr/>
        </p:nvSpPr>
        <p:spPr>
          <a:xfrm>
            <a:off x="1828800" y="2743200"/>
            <a:ext cx="8229600" cy="32004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2834640"/>
            <a:ext cx="7863840" cy="457200"/>
          </a:xfrm>
          <a:prstGeom prst="rect">
            <a:avLst/>
          </a:prstGeom>
          <a:noFill/>
        </p:spPr>
        <p:txBody>
          <a:bodyPr wrap="square">
            <a:spAutoFit/>
          </a:bodyPr>
          <a:lstStyle/>
          <a:p>
            <a:pPr algn="l">
              <a:defRPr sz="2200" b="1">
                <a:solidFill>
                  <a:srgbClr val="FFFFFF"/>
                </a:solidFill>
                <a:latin typeface="Calibri"/>
              </a:defRPr>
            </a:pPr>
            <a:r>
              <a:t>AI Example:</a:t>
            </a:r>
          </a:p>
        </p:txBody>
      </p:sp>
      <p:sp>
        <p:nvSpPr>
          <p:cNvPr id="8" name="TextBox 7"/>
          <p:cNvSpPr txBox="1"/>
          <p:nvPr/>
        </p:nvSpPr>
        <p:spPr>
          <a:xfrm>
            <a:off x="2011680" y="3383280"/>
            <a:ext cx="7863840" cy="2286000"/>
          </a:xfrm>
          <a:prstGeom prst="rect">
            <a:avLst/>
          </a:prstGeom>
          <a:noFill/>
        </p:spPr>
        <p:txBody>
          <a:bodyPr wrap="square">
            <a:spAutoFit/>
          </a:bodyPr>
          <a:lstStyle/>
          <a:p>
            <a:pPr algn="l">
              <a:defRPr sz="2000" b="0">
                <a:solidFill>
                  <a:srgbClr val="FFFFFF"/>
                </a:solidFill>
                <a:latin typeface="Calibri"/>
              </a:defRPr>
            </a:pPr>
            <a:r>
              <a:t>An AI customer-support system should not randomly fail during normal operation.</a:t>
            </a:r>
          </a:p>
        </p:txBody>
      </p:sp>
      <p:sp>
        <p:nvSpPr>
          <p:cNvPr id="9" name="Rectangle 8"/>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68</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Security</a:t>
            </a:r>
          </a:p>
        </p:txBody>
      </p:sp>
      <p:sp>
        <p:nvSpPr>
          <p:cNvPr id="5" name="TextBox 4"/>
          <p:cNvSpPr txBox="1"/>
          <p:nvPr/>
        </p:nvSpPr>
        <p:spPr>
          <a:xfrm>
            <a:off x="914400" y="1645920"/>
            <a:ext cx="10058400" cy="548640"/>
          </a:xfrm>
          <a:prstGeom prst="rect">
            <a:avLst/>
          </a:prstGeom>
          <a:noFill/>
        </p:spPr>
        <p:txBody>
          <a:bodyPr wrap="square">
            <a:spAutoFit/>
          </a:bodyPr>
          <a:lstStyle/>
          <a:p>
            <a:pPr algn="ctr">
              <a:defRPr sz="2200" b="0">
                <a:solidFill>
                  <a:srgbClr val="1A1A2E"/>
                </a:solidFill>
                <a:latin typeface="Calibri"/>
              </a:defRPr>
            </a:pPr>
            <a:r>
              <a:t>Protect: User data, Credentials, APIs, Databases, AI models, Sensitive documents</a:t>
            </a:r>
          </a:p>
        </p:txBody>
      </p:sp>
      <p:sp>
        <p:nvSpPr>
          <p:cNvPr id="6" name="Rounded Rectangle 5"/>
          <p:cNvSpPr/>
          <p:nvPr/>
        </p:nvSpPr>
        <p:spPr>
          <a:xfrm>
            <a:off x="1828800" y="2743200"/>
            <a:ext cx="8229600" cy="32004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2834640"/>
            <a:ext cx="7863840" cy="457200"/>
          </a:xfrm>
          <a:prstGeom prst="rect">
            <a:avLst/>
          </a:prstGeom>
          <a:noFill/>
        </p:spPr>
        <p:txBody>
          <a:bodyPr wrap="square">
            <a:spAutoFit/>
          </a:bodyPr>
          <a:lstStyle/>
          <a:p>
            <a:pPr algn="l">
              <a:defRPr sz="2200" b="1">
                <a:solidFill>
                  <a:srgbClr val="FFFFFF"/>
                </a:solidFill>
                <a:latin typeface="Calibri"/>
              </a:defRPr>
            </a:pPr>
            <a:r>
              <a:t>AI Example:</a:t>
            </a:r>
          </a:p>
        </p:txBody>
      </p:sp>
      <p:sp>
        <p:nvSpPr>
          <p:cNvPr id="8" name="TextBox 7"/>
          <p:cNvSpPr txBox="1"/>
          <p:nvPr/>
        </p:nvSpPr>
        <p:spPr>
          <a:xfrm>
            <a:off x="2011680" y="3383280"/>
            <a:ext cx="7863840" cy="2286000"/>
          </a:xfrm>
          <a:prstGeom prst="rect">
            <a:avLst/>
          </a:prstGeom>
          <a:noFill/>
        </p:spPr>
        <p:txBody>
          <a:bodyPr wrap="square">
            <a:spAutoFit/>
          </a:bodyPr>
          <a:lstStyle/>
          <a:p>
            <a:pPr algn="l">
              <a:defRPr sz="2000" b="0">
                <a:solidFill>
                  <a:srgbClr val="FFFFFF"/>
                </a:solidFill>
                <a:latin typeface="Calibri"/>
              </a:defRPr>
            </a:pPr>
            <a:r>
              <a:t>A RAG chatbot should not reveal confidential HR documents to unauthorized users.</a:t>
            </a:r>
          </a:p>
        </p:txBody>
      </p:sp>
      <p:sp>
        <p:nvSpPr>
          <p:cNvPr id="9" name="Rectangle 8"/>
          <p:cNvSpPr/>
          <p:nvPr/>
        </p:nvSpPr>
        <p:spPr>
          <a:xfrm>
            <a:off x="0" y="6675120"/>
            <a:ext cx="12191695" cy="1828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69</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Maintainability</a:t>
            </a:r>
          </a:p>
        </p:txBody>
      </p:sp>
      <p:sp>
        <p:nvSpPr>
          <p:cNvPr id="5" name="TextBox 4"/>
          <p:cNvSpPr txBox="1"/>
          <p:nvPr/>
        </p:nvSpPr>
        <p:spPr>
          <a:xfrm>
            <a:off x="914400" y="1645920"/>
            <a:ext cx="10058400" cy="548640"/>
          </a:xfrm>
          <a:prstGeom prst="rect">
            <a:avLst/>
          </a:prstGeom>
          <a:noFill/>
        </p:spPr>
        <p:txBody>
          <a:bodyPr wrap="square">
            <a:spAutoFit/>
          </a:bodyPr>
          <a:lstStyle/>
          <a:p>
            <a:pPr algn="ctr">
              <a:defRPr sz="2200" b="0">
                <a:solidFill>
                  <a:srgbClr val="1A1A2E"/>
                </a:solidFill>
                <a:latin typeface="Calibri"/>
              </a:defRPr>
            </a:pPr>
            <a:r>
              <a:t>Can engineers modify the software safely?</a:t>
            </a:r>
          </a:p>
        </p:txBody>
      </p:sp>
      <p:sp>
        <p:nvSpPr>
          <p:cNvPr id="6" name="Rounded Rectangle 5"/>
          <p:cNvSpPr/>
          <p:nvPr/>
        </p:nvSpPr>
        <p:spPr>
          <a:xfrm>
            <a:off x="1828800" y="2743200"/>
            <a:ext cx="8229600" cy="32004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2834640"/>
            <a:ext cx="7863840" cy="457200"/>
          </a:xfrm>
          <a:prstGeom prst="rect">
            <a:avLst/>
          </a:prstGeom>
          <a:noFill/>
        </p:spPr>
        <p:txBody>
          <a:bodyPr wrap="square">
            <a:spAutoFit/>
          </a:bodyPr>
          <a:lstStyle/>
          <a:p>
            <a:pPr algn="l">
              <a:defRPr sz="2200" b="1">
                <a:solidFill>
                  <a:srgbClr val="FFFFFF"/>
                </a:solidFill>
                <a:latin typeface="Calibri"/>
              </a:defRPr>
            </a:pPr>
            <a:r>
              <a:t>AI Example:</a:t>
            </a:r>
          </a:p>
        </p:txBody>
      </p:sp>
      <p:sp>
        <p:nvSpPr>
          <p:cNvPr id="8" name="TextBox 7"/>
          <p:cNvSpPr txBox="1"/>
          <p:nvPr/>
        </p:nvSpPr>
        <p:spPr>
          <a:xfrm>
            <a:off x="2011680" y="3383280"/>
            <a:ext cx="7863840" cy="2286000"/>
          </a:xfrm>
          <a:prstGeom prst="rect">
            <a:avLst/>
          </a:prstGeom>
          <a:noFill/>
        </p:spPr>
        <p:txBody>
          <a:bodyPr wrap="square">
            <a:spAutoFit/>
          </a:bodyPr>
          <a:lstStyle/>
          <a:p>
            <a:pPr algn="l">
              <a:defRPr sz="2000" b="0">
                <a:solidFill>
                  <a:srgbClr val="FFFFFF"/>
                </a:solidFill>
                <a:latin typeface="Calibri"/>
              </a:defRPr>
            </a:pPr>
            <a:r>
              <a:t>AI-generated code must also be: Understandable, Testable, Structured, Documented.</a:t>
            </a:r>
          </a:p>
        </p:txBody>
      </p:sp>
      <p:sp>
        <p:nvSpPr>
          <p:cNvPr id="9" name="Rectangle 8"/>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Scalability</a:t>
            </a:r>
          </a:p>
        </p:txBody>
      </p:sp>
      <p:sp>
        <p:nvSpPr>
          <p:cNvPr id="5" name="TextBox 4"/>
          <p:cNvSpPr txBox="1"/>
          <p:nvPr/>
        </p:nvSpPr>
        <p:spPr>
          <a:xfrm>
            <a:off x="914400" y="1371600"/>
            <a:ext cx="10058400" cy="457200"/>
          </a:xfrm>
          <a:prstGeom prst="rect">
            <a:avLst/>
          </a:prstGeom>
          <a:noFill/>
        </p:spPr>
        <p:txBody>
          <a:bodyPr wrap="square">
            <a:spAutoFit/>
          </a:bodyPr>
          <a:lstStyle/>
          <a:p>
            <a:pPr algn="ctr">
              <a:defRPr sz="2600" b="1">
                <a:solidFill>
                  <a:srgbClr val="1A3A5C"/>
                </a:solidFill>
                <a:latin typeface="Calibri"/>
              </a:defRPr>
            </a:pPr>
            <a:r>
              <a:t>Can the system handle growth?</a:t>
            </a:r>
          </a:p>
        </p:txBody>
      </p:sp>
      <p:sp>
        <p:nvSpPr>
          <p:cNvPr id="6" name="Rounded Rectangle 5"/>
          <p:cNvSpPr/>
          <p:nvPr/>
        </p:nvSpPr>
        <p:spPr>
          <a:xfrm>
            <a:off x="3520440" y="4572000"/>
            <a:ext cx="5029200" cy="6400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20440" y="4663440"/>
            <a:ext cx="5029200" cy="457200"/>
          </a:xfrm>
          <a:prstGeom prst="rect">
            <a:avLst/>
          </a:prstGeom>
          <a:noFill/>
        </p:spPr>
        <p:txBody>
          <a:bodyPr wrap="square">
            <a:spAutoFit/>
          </a:bodyPr>
          <a:lstStyle/>
          <a:p>
            <a:pPr algn="ctr">
              <a:defRPr sz="1800" b="1">
                <a:solidFill>
                  <a:srgbClr val="FFFFFF"/>
                </a:solidFill>
                <a:latin typeface="Calibri"/>
              </a:defRPr>
            </a:pPr>
            <a:r>
              <a:t>1,000</a:t>
            </a:r>
          </a:p>
        </p:txBody>
      </p:sp>
      <p:sp>
        <p:nvSpPr>
          <p:cNvPr id="8" name="Rounded Rectangle 7"/>
          <p:cNvSpPr/>
          <p:nvPr/>
        </p:nvSpPr>
        <p:spPr>
          <a:xfrm>
            <a:off x="3977640" y="3840480"/>
            <a:ext cx="4114800" cy="6400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77640" y="3931920"/>
            <a:ext cx="4114800" cy="457200"/>
          </a:xfrm>
          <a:prstGeom prst="rect">
            <a:avLst/>
          </a:prstGeom>
          <a:noFill/>
        </p:spPr>
        <p:txBody>
          <a:bodyPr wrap="square">
            <a:spAutoFit/>
          </a:bodyPr>
          <a:lstStyle/>
          <a:p>
            <a:pPr algn="ctr">
              <a:defRPr sz="1800" b="1">
                <a:solidFill>
                  <a:srgbClr val="FFFFFF"/>
                </a:solidFill>
                <a:latin typeface="Calibri"/>
              </a:defRPr>
            </a:pPr>
            <a:r>
              <a:t>10,000</a:t>
            </a:r>
          </a:p>
        </p:txBody>
      </p:sp>
      <p:sp>
        <p:nvSpPr>
          <p:cNvPr id="10" name="Rounded Rectangle 9"/>
          <p:cNvSpPr/>
          <p:nvPr/>
        </p:nvSpPr>
        <p:spPr>
          <a:xfrm>
            <a:off x="4434840" y="3108960"/>
            <a:ext cx="3200400" cy="6400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3200400"/>
            <a:ext cx="3200400" cy="457200"/>
          </a:xfrm>
          <a:prstGeom prst="rect">
            <a:avLst/>
          </a:prstGeom>
          <a:noFill/>
        </p:spPr>
        <p:txBody>
          <a:bodyPr wrap="square">
            <a:spAutoFit/>
          </a:bodyPr>
          <a:lstStyle/>
          <a:p>
            <a:pPr algn="ctr">
              <a:defRPr sz="1800" b="1">
                <a:solidFill>
                  <a:srgbClr val="FFFFFF"/>
                </a:solidFill>
                <a:latin typeface="Calibri"/>
              </a:defRPr>
            </a:pPr>
            <a:r>
              <a:t>100,000</a:t>
            </a:r>
          </a:p>
        </p:txBody>
      </p:sp>
      <p:sp>
        <p:nvSpPr>
          <p:cNvPr id="12" name="Rounded Rectangle 11"/>
          <p:cNvSpPr/>
          <p:nvPr/>
        </p:nvSpPr>
        <p:spPr>
          <a:xfrm>
            <a:off x="4892040" y="2377439"/>
            <a:ext cx="2286000" cy="6400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92040" y="2468879"/>
            <a:ext cx="2286000" cy="457200"/>
          </a:xfrm>
          <a:prstGeom prst="rect">
            <a:avLst/>
          </a:prstGeom>
          <a:noFill/>
        </p:spPr>
        <p:txBody>
          <a:bodyPr wrap="square">
            <a:spAutoFit/>
          </a:bodyPr>
          <a:lstStyle/>
          <a:p>
            <a:pPr algn="ctr">
              <a:defRPr sz="1800" b="1">
                <a:solidFill>
                  <a:srgbClr val="FFFFFF"/>
                </a:solidFill>
                <a:latin typeface="Calibri"/>
              </a:defRPr>
            </a:pPr>
            <a:r>
              <a:t>1,000,000</a:t>
            </a:r>
          </a:p>
        </p:txBody>
      </p:sp>
      <p:sp>
        <p:nvSpPr>
          <p:cNvPr id="14" name="Rounded Rectangle 13"/>
          <p:cNvSpPr/>
          <p:nvPr/>
        </p:nvSpPr>
        <p:spPr>
          <a:xfrm>
            <a:off x="914400" y="1645920"/>
            <a:ext cx="4114800" cy="41148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96214" y="1783079"/>
            <a:ext cx="3749039" cy="365760"/>
          </a:xfrm>
          <a:prstGeom prst="rect">
            <a:avLst/>
          </a:prstGeom>
          <a:noFill/>
        </p:spPr>
        <p:txBody>
          <a:bodyPr wrap="square">
            <a:spAutoFit/>
          </a:bodyPr>
          <a:lstStyle/>
          <a:p>
            <a:pPr algn="l">
              <a:defRPr sz="2000" b="1">
                <a:solidFill>
                  <a:srgbClr val="FFFFFF"/>
                </a:solidFill>
                <a:latin typeface="Calibri"/>
              </a:defRPr>
            </a:pPr>
            <a:r>
              <a:t>AI LLM Application:</a:t>
            </a:r>
          </a:p>
        </p:txBody>
      </p:sp>
      <p:sp>
        <p:nvSpPr>
          <p:cNvPr id="16" name="TextBox 15"/>
          <p:cNvSpPr txBox="1"/>
          <p:nvPr/>
        </p:nvSpPr>
        <p:spPr>
          <a:xfrm>
            <a:off x="1097280" y="2194560"/>
            <a:ext cx="3749039" cy="365760"/>
          </a:xfrm>
          <a:prstGeom prst="rect">
            <a:avLst/>
          </a:prstGeom>
          <a:noFill/>
        </p:spPr>
        <p:txBody>
          <a:bodyPr wrap="square">
            <a:spAutoFit/>
          </a:bodyPr>
          <a:lstStyle/>
          <a:p>
            <a:pPr algn="l">
              <a:defRPr sz="1300" b="0">
                <a:solidFill>
                  <a:srgbClr val="FFFFFF"/>
                </a:solidFill>
                <a:latin typeface="Calibri"/>
              </a:defRPr>
            </a:pPr>
            <a:r>
              <a:t>• 10 users → 10,000 users</a:t>
            </a:r>
          </a:p>
        </p:txBody>
      </p:sp>
      <p:sp>
        <p:nvSpPr>
          <p:cNvPr id="17" name="TextBox 16"/>
          <p:cNvSpPr txBox="1"/>
          <p:nvPr/>
        </p:nvSpPr>
        <p:spPr>
          <a:xfrm>
            <a:off x="1097280" y="2651760"/>
            <a:ext cx="3749039" cy="365760"/>
          </a:xfrm>
          <a:prstGeom prst="rect">
            <a:avLst/>
          </a:prstGeom>
          <a:noFill/>
        </p:spPr>
        <p:txBody>
          <a:bodyPr wrap="square">
            <a:spAutoFit/>
          </a:bodyPr>
          <a:lstStyle/>
          <a:p>
            <a:pPr algn="l">
              <a:defRPr sz="1300" b="0">
                <a:solidFill>
                  <a:srgbClr val="FFFFFF"/>
                </a:solidFill>
                <a:latin typeface="Calibri"/>
              </a:defRPr>
            </a:pPr>
            <a:r>
              <a:t>• API limits</a:t>
            </a:r>
          </a:p>
        </p:txBody>
      </p:sp>
      <p:sp>
        <p:nvSpPr>
          <p:cNvPr id="18" name="TextBox 17"/>
          <p:cNvSpPr txBox="1"/>
          <p:nvPr/>
        </p:nvSpPr>
        <p:spPr>
          <a:xfrm>
            <a:off x="1097280" y="3108960"/>
            <a:ext cx="3749039" cy="365760"/>
          </a:xfrm>
          <a:prstGeom prst="rect">
            <a:avLst/>
          </a:prstGeom>
          <a:noFill/>
        </p:spPr>
        <p:txBody>
          <a:bodyPr wrap="square">
            <a:spAutoFit/>
          </a:bodyPr>
          <a:lstStyle/>
          <a:p>
            <a:pPr algn="l">
              <a:defRPr sz="1300" b="0">
                <a:solidFill>
                  <a:srgbClr val="FFFFFF"/>
                </a:solidFill>
                <a:latin typeface="Calibri"/>
              </a:defRPr>
            </a:pPr>
            <a:r>
              <a:t>• Model cost</a:t>
            </a:r>
          </a:p>
        </p:txBody>
      </p:sp>
      <p:sp>
        <p:nvSpPr>
          <p:cNvPr id="19" name="TextBox 18"/>
          <p:cNvSpPr txBox="1"/>
          <p:nvPr/>
        </p:nvSpPr>
        <p:spPr>
          <a:xfrm>
            <a:off x="1097280" y="3566160"/>
            <a:ext cx="3749039" cy="365760"/>
          </a:xfrm>
          <a:prstGeom prst="rect">
            <a:avLst/>
          </a:prstGeom>
          <a:noFill/>
        </p:spPr>
        <p:txBody>
          <a:bodyPr wrap="square">
            <a:spAutoFit/>
          </a:bodyPr>
          <a:lstStyle/>
          <a:p>
            <a:pPr algn="l">
              <a:defRPr sz="1300" b="0">
                <a:solidFill>
                  <a:srgbClr val="FFFFFF"/>
                </a:solidFill>
                <a:latin typeface="Calibri"/>
              </a:defRPr>
            </a:pPr>
            <a:r>
              <a:t>• Latency</a:t>
            </a:r>
          </a:p>
        </p:txBody>
      </p:sp>
      <p:sp>
        <p:nvSpPr>
          <p:cNvPr id="20" name="TextBox 19"/>
          <p:cNvSpPr txBox="1"/>
          <p:nvPr/>
        </p:nvSpPr>
        <p:spPr>
          <a:xfrm>
            <a:off x="1097280" y="4023360"/>
            <a:ext cx="3749039" cy="365760"/>
          </a:xfrm>
          <a:prstGeom prst="rect">
            <a:avLst/>
          </a:prstGeom>
          <a:noFill/>
        </p:spPr>
        <p:txBody>
          <a:bodyPr wrap="square">
            <a:spAutoFit/>
          </a:bodyPr>
          <a:lstStyle/>
          <a:p>
            <a:pPr algn="l">
              <a:defRPr sz="1300" b="0">
                <a:solidFill>
                  <a:srgbClr val="FFFFFF"/>
                </a:solidFill>
                <a:latin typeface="Calibri"/>
              </a:defRPr>
            </a:pPr>
            <a:r>
              <a:t>• Database load</a:t>
            </a:r>
          </a:p>
        </p:txBody>
      </p:sp>
      <p:sp>
        <p:nvSpPr>
          <p:cNvPr id="21" name="TextBox 20"/>
          <p:cNvSpPr txBox="1"/>
          <p:nvPr/>
        </p:nvSpPr>
        <p:spPr>
          <a:xfrm>
            <a:off x="1097280" y="4480560"/>
            <a:ext cx="3749039" cy="365760"/>
          </a:xfrm>
          <a:prstGeom prst="rect">
            <a:avLst/>
          </a:prstGeom>
          <a:noFill/>
        </p:spPr>
        <p:txBody>
          <a:bodyPr wrap="square">
            <a:spAutoFit/>
          </a:bodyPr>
          <a:lstStyle/>
          <a:p>
            <a:pPr algn="l">
              <a:defRPr sz="1300" b="0">
                <a:solidFill>
                  <a:srgbClr val="FFFFFF"/>
                </a:solidFill>
                <a:latin typeface="Calibri"/>
              </a:defRPr>
            </a:pPr>
            <a:r>
              <a:t>• Caching</a:t>
            </a:r>
          </a:p>
        </p:txBody>
      </p:sp>
      <p:sp>
        <p:nvSpPr>
          <p:cNvPr id="22" name="Rectangle 21"/>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Observability</a:t>
            </a:r>
          </a:p>
        </p:txBody>
      </p:sp>
      <p:sp>
        <p:nvSpPr>
          <p:cNvPr id="5" name="Rounded Rectangle 4"/>
          <p:cNvSpPr/>
          <p:nvPr/>
        </p:nvSpPr>
        <p:spPr>
          <a:xfrm>
            <a:off x="731520" y="1463040"/>
            <a:ext cx="5029200" cy="475488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54480"/>
            <a:ext cx="5029200" cy="457200"/>
          </a:xfrm>
          <a:prstGeom prst="rect">
            <a:avLst/>
          </a:prstGeom>
          <a:noFill/>
        </p:spPr>
        <p:txBody>
          <a:bodyPr wrap="square">
            <a:spAutoFit/>
          </a:bodyPr>
          <a:lstStyle/>
          <a:p>
            <a:pPr algn="ctr">
              <a:defRPr sz="2200" b="1">
                <a:solidFill>
                  <a:srgbClr val="FFFFFF"/>
                </a:solidFill>
                <a:latin typeface="Calibri"/>
              </a:defRPr>
            </a:pPr>
            <a:r>
              <a:t>TRADITIONAL SYSTEMS</a:t>
            </a:r>
          </a:p>
        </p:txBody>
      </p:sp>
      <p:sp>
        <p:nvSpPr>
          <p:cNvPr id="7" name="TextBox 6"/>
          <p:cNvSpPr txBox="1"/>
          <p:nvPr/>
        </p:nvSpPr>
        <p:spPr>
          <a:xfrm>
            <a:off x="1188720" y="2286000"/>
            <a:ext cx="4114800" cy="365760"/>
          </a:xfrm>
          <a:prstGeom prst="rect">
            <a:avLst/>
          </a:prstGeom>
          <a:noFill/>
        </p:spPr>
        <p:txBody>
          <a:bodyPr wrap="square">
            <a:spAutoFit/>
          </a:bodyPr>
          <a:lstStyle/>
          <a:p>
            <a:pPr algn="l">
              <a:defRPr sz="2000" b="0">
                <a:solidFill>
                  <a:srgbClr val="FFFFFF"/>
                </a:solidFill>
                <a:latin typeface="Calibri"/>
              </a:defRPr>
            </a:pPr>
            <a:r>
              <a:t>• Logs</a:t>
            </a:r>
          </a:p>
        </p:txBody>
      </p:sp>
      <p:sp>
        <p:nvSpPr>
          <p:cNvPr id="8" name="TextBox 7"/>
          <p:cNvSpPr txBox="1"/>
          <p:nvPr/>
        </p:nvSpPr>
        <p:spPr>
          <a:xfrm>
            <a:off x="1188720" y="2926080"/>
            <a:ext cx="4114800" cy="365760"/>
          </a:xfrm>
          <a:prstGeom prst="rect">
            <a:avLst/>
          </a:prstGeom>
          <a:noFill/>
        </p:spPr>
        <p:txBody>
          <a:bodyPr wrap="square">
            <a:spAutoFit/>
          </a:bodyPr>
          <a:lstStyle/>
          <a:p>
            <a:pPr algn="l">
              <a:defRPr sz="2000" b="0">
                <a:solidFill>
                  <a:srgbClr val="FFFFFF"/>
                </a:solidFill>
                <a:latin typeface="Calibri"/>
              </a:defRPr>
            </a:pPr>
            <a:r>
              <a:t>• Metrics</a:t>
            </a:r>
          </a:p>
        </p:txBody>
      </p:sp>
      <p:sp>
        <p:nvSpPr>
          <p:cNvPr id="9" name="TextBox 8"/>
          <p:cNvSpPr txBox="1"/>
          <p:nvPr/>
        </p:nvSpPr>
        <p:spPr>
          <a:xfrm>
            <a:off x="1188720" y="3566160"/>
            <a:ext cx="4114800" cy="365760"/>
          </a:xfrm>
          <a:prstGeom prst="rect">
            <a:avLst/>
          </a:prstGeom>
          <a:noFill/>
        </p:spPr>
        <p:txBody>
          <a:bodyPr wrap="square">
            <a:spAutoFit/>
          </a:bodyPr>
          <a:lstStyle/>
          <a:p>
            <a:pPr algn="l">
              <a:defRPr sz="2000" b="0">
                <a:solidFill>
                  <a:srgbClr val="FFFFFF"/>
                </a:solidFill>
                <a:latin typeface="Calibri"/>
              </a:defRPr>
            </a:pPr>
            <a:r>
              <a:t>• Traces</a:t>
            </a:r>
          </a:p>
        </p:txBody>
      </p:sp>
      <p:sp>
        <p:nvSpPr>
          <p:cNvPr id="10" name="TextBox 9"/>
          <p:cNvSpPr txBox="1"/>
          <p:nvPr/>
        </p:nvSpPr>
        <p:spPr>
          <a:xfrm>
            <a:off x="1188720" y="4206240"/>
            <a:ext cx="4114800" cy="365760"/>
          </a:xfrm>
          <a:prstGeom prst="rect">
            <a:avLst/>
          </a:prstGeom>
          <a:noFill/>
        </p:spPr>
        <p:txBody>
          <a:bodyPr wrap="square">
            <a:spAutoFit/>
          </a:bodyPr>
          <a:lstStyle/>
          <a:p>
            <a:pPr algn="l">
              <a:defRPr sz="2000" b="0">
                <a:solidFill>
                  <a:srgbClr val="FFFFFF"/>
                </a:solidFill>
                <a:latin typeface="Calibri"/>
              </a:defRPr>
            </a:pPr>
            <a:r>
              <a:t>• Alerts</a:t>
            </a:r>
          </a:p>
        </p:txBody>
      </p:sp>
      <p:sp>
        <p:nvSpPr>
          <p:cNvPr id="11" name="Rounded Rectangle 10"/>
          <p:cNvSpPr/>
          <p:nvPr/>
        </p:nvSpPr>
        <p:spPr>
          <a:xfrm>
            <a:off x="6400800" y="1463040"/>
            <a:ext cx="5029200" cy="47548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554480"/>
            <a:ext cx="5029200" cy="457200"/>
          </a:xfrm>
          <a:prstGeom prst="rect">
            <a:avLst/>
          </a:prstGeom>
          <a:noFill/>
        </p:spPr>
        <p:txBody>
          <a:bodyPr wrap="square">
            <a:spAutoFit/>
          </a:bodyPr>
          <a:lstStyle/>
          <a:p>
            <a:pPr algn="ctr">
              <a:defRPr sz="2000" b="1">
                <a:solidFill>
                  <a:srgbClr val="FFFFFF"/>
                </a:solidFill>
                <a:latin typeface="Calibri"/>
              </a:defRPr>
            </a:pPr>
            <a:r>
              <a:t>AI SYSTEMS ADDITIONALLY NEED</a:t>
            </a:r>
          </a:p>
        </p:txBody>
      </p:sp>
      <p:sp>
        <p:nvSpPr>
          <p:cNvPr id="13" name="TextBox 12"/>
          <p:cNvSpPr txBox="1"/>
          <p:nvPr/>
        </p:nvSpPr>
        <p:spPr>
          <a:xfrm>
            <a:off x="6858000" y="2286000"/>
            <a:ext cx="4114800" cy="365760"/>
          </a:xfrm>
          <a:prstGeom prst="rect">
            <a:avLst/>
          </a:prstGeom>
          <a:noFill/>
        </p:spPr>
        <p:txBody>
          <a:bodyPr wrap="square">
            <a:spAutoFit/>
          </a:bodyPr>
          <a:lstStyle/>
          <a:p>
            <a:pPr algn="l">
              <a:defRPr sz="1300" b="0">
                <a:solidFill>
                  <a:srgbClr val="FFFFFF"/>
                </a:solidFill>
                <a:latin typeface="Calibri"/>
              </a:defRPr>
            </a:pPr>
            <a:r>
              <a:t>• Model Performance</a:t>
            </a:r>
          </a:p>
        </p:txBody>
      </p:sp>
      <p:sp>
        <p:nvSpPr>
          <p:cNvPr id="14" name="TextBox 13"/>
          <p:cNvSpPr txBox="1"/>
          <p:nvPr/>
        </p:nvSpPr>
        <p:spPr>
          <a:xfrm>
            <a:off x="6858000" y="2834640"/>
            <a:ext cx="4114800" cy="365760"/>
          </a:xfrm>
          <a:prstGeom prst="rect">
            <a:avLst/>
          </a:prstGeom>
          <a:noFill/>
        </p:spPr>
        <p:txBody>
          <a:bodyPr wrap="square">
            <a:spAutoFit/>
          </a:bodyPr>
          <a:lstStyle/>
          <a:p>
            <a:pPr algn="l">
              <a:defRPr sz="1300" b="0">
                <a:solidFill>
                  <a:srgbClr val="FFFFFF"/>
                </a:solidFill>
                <a:latin typeface="Calibri"/>
              </a:defRPr>
            </a:pPr>
            <a:r>
              <a:t>• Token Usage</a:t>
            </a:r>
          </a:p>
        </p:txBody>
      </p:sp>
      <p:sp>
        <p:nvSpPr>
          <p:cNvPr id="15" name="TextBox 14"/>
          <p:cNvSpPr txBox="1"/>
          <p:nvPr/>
        </p:nvSpPr>
        <p:spPr>
          <a:xfrm>
            <a:off x="6858000" y="3383280"/>
            <a:ext cx="4114800" cy="365760"/>
          </a:xfrm>
          <a:prstGeom prst="rect">
            <a:avLst/>
          </a:prstGeom>
          <a:noFill/>
        </p:spPr>
        <p:txBody>
          <a:bodyPr wrap="square">
            <a:spAutoFit/>
          </a:bodyPr>
          <a:lstStyle/>
          <a:p>
            <a:pPr algn="l">
              <a:defRPr sz="1300" b="0">
                <a:solidFill>
                  <a:srgbClr val="FFFFFF"/>
                </a:solidFill>
                <a:latin typeface="Calibri"/>
              </a:defRPr>
            </a:pPr>
            <a:r>
              <a:t>• Latency</a:t>
            </a:r>
          </a:p>
        </p:txBody>
      </p:sp>
      <p:sp>
        <p:nvSpPr>
          <p:cNvPr id="16" name="TextBox 15"/>
          <p:cNvSpPr txBox="1"/>
          <p:nvPr/>
        </p:nvSpPr>
        <p:spPr>
          <a:xfrm>
            <a:off x="6858000" y="3931920"/>
            <a:ext cx="4114800" cy="365760"/>
          </a:xfrm>
          <a:prstGeom prst="rect">
            <a:avLst/>
          </a:prstGeom>
          <a:noFill/>
        </p:spPr>
        <p:txBody>
          <a:bodyPr wrap="square">
            <a:spAutoFit/>
          </a:bodyPr>
          <a:lstStyle/>
          <a:p>
            <a:pPr algn="l">
              <a:defRPr sz="1300" b="0">
                <a:solidFill>
                  <a:srgbClr val="FFFFFF"/>
                </a:solidFill>
                <a:latin typeface="Calibri"/>
              </a:defRPr>
            </a:pPr>
            <a:r>
              <a:t>• Retrieval Quality</a:t>
            </a:r>
          </a:p>
        </p:txBody>
      </p:sp>
      <p:sp>
        <p:nvSpPr>
          <p:cNvPr id="17" name="TextBox 16"/>
          <p:cNvSpPr txBox="1"/>
          <p:nvPr/>
        </p:nvSpPr>
        <p:spPr>
          <a:xfrm>
            <a:off x="6858000" y="4480560"/>
            <a:ext cx="4114800" cy="365760"/>
          </a:xfrm>
          <a:prstGeom prst="rect">
            <a:avLst/>
          </a:prstGeom>
          <a:noFill/>
        </p:spPr>
        <p:txBody>
          <a:bodyPr wrap="square">
            <a:spAutoFit/>
          </a:bodyPr>
          <a:lstStyle/>
          <a:p>
            <a:pPr algn="l">
              <a:defRPr sz="1300" b="0">
                <a:solidFill>
                  <a:srgbClr val="FFFFFF"/>
                </a:solidFill>
                <a:latin typeface="Calibri"/>
              </a:defRPr>
            </a:pPr>
            <a:r>
              <a:t>• Hallucination Evaluation</a:t>
            </a:r>
          </a:p>
        </p:txBody>
      </p:sp>
      <p:sp>
        <p:nvSpPr>
          <p:cNvPr id="18" name="TextBox 17"/>
          <p:cNvSpPr txBox="1"/>
          <p:nvPr/>
        </p:nvSpPr>
        <p:spPr>
          <a:xfrm>
            <a:off x="6858000" y="5029200"/>
            <a:ext cx="4114800" cy="365760"/>
          </a:xfrm>
          <a:prstGeom prst="rect">
            <a:avLst/>
          </a:prstGeom>
          <a:noFill/>
        </p:spPr>
        <p:txBody>
          <a:bodyPr wrap="square">
            <a:spAutoFit/>
          </a:bodyPr>
          <a:lstStyle/>
          <a:p>
            <a:pPr algn="l">
              <a:defRPr sz="1300" b="0">
                <a:solidFill>
                  <a:srgbClr val="FFFFFF"/>
                </a:solidFill>
                <a:latin typeface="Calibri"/>
              </a:defRPr>
            </a:pPr>
            <a:r>
              <a:t>• Agent Actions</a:t>
            </a:r>
          </a:p>
        </p:txBody>
      </p:sp>
      <p:sp>
        <p:nvSpPr>
          <p:cNvPr id="19" name="Rectangle 18"/>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72</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SCENARIO: AI University Assistant</a:t>
            </a:r>
          </a:p>
        </p:txBody>
      </p:sp>
      <p:sp>
        <p:nvSpPr>
          <p:cNvPr id="5" name="Rounded Rectangle 4"/>
          <p:cNvSpPr/>
          <p:nvPr/>
        </p:nvSpPr>
        <p:spPr>
          <a:xfrm>
            <a:off x="1371600" y="1645920"/>
            <a:ext cx="9144000" cy="5943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1737360"/>
            <a:ext cx="8778240" cy="411480"/>
          </a:xfrm>
          <a:prstGeom prst="rect">
            <a:avLst/>
          </a:prstGeom>
          <a:noFill/>
        </p:spPr>
        <p:txBody>
          <a:bodyPr wrap="square">
            <a:spAutoFit/>
          </a:bodyPr>
          <a:lstStyle/>
          <a:p>
            <a:pPr algn="l">
              <a:defRPr sz="1800" b="0">
                <a:solidFill>
                  <a:srgbClr val="1A1A2E"/>
                </a:solidFill>
                <a:latin typeface="Calibri"/>
              </a:defRPr>
            </a:pPr>
            <a:r>
              <a:t>University wants: "An AI assistant that answers student questions."</a:t>
            </a:r>
          </a:p>
        </p:txBody>
      </p:sp>
      <p:sp>
        <p:nvSpPr>
          <p:cNvPr id="7" name="Rounded Rectangle 6"/>
          <p:cNvSpPr/>
          <p:nvPr/>
        </p:nvSpPr>
        <p:spPr>
          <a:xfrm>
            <a:off x="1371600" y="2377440"/>
            <a:ext cx="9144000" cy="5943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54480" y="2468880"/>
            <a:ext cx="8778240" cy="411480"/>
          </a:xfrm>
          <a:prstGeom prst="rect">
            <a:avLst/>
          </a:prstGeom>
          <a:noFill/>
        </p:spPr>
        <p:txBody>
          <a:bodyPr wrap="square">
            <a:spAutoFit/>
          </a:bodyPr>
          <a:lstStyle/>
          <a:p>
            <a:pPr algn="l">
              <a:defRPr sz="1800" b="0">
                <a:solidFill>
                  <a:srgbClr val="1A1A2E"/>
                </a:solidFill>
                <a:latin typeface="Calibri"/>
              </a:defRPr>
            </a:pPr>
            <a:r>
              <a:t>What do we need? UI, Backend, Authentication, Database</a:t>
            </a:r>
          </a:p>
        </p:txBody>
      </p:sp>
      <p:sp>
        <p:nvSpPr>
          <p:cNvPr id="9" name="Rounded Rectangle 8"/>
          <p:cNvSpPr/>
          <p:nvPr/>
        </p:nvSpPr>
        <p:spPr>
          <a:xfrm>
            <a:off x="1371600" y="3108960"/>
            <a:ext cx="9144000" cy="5943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80" y="3200400"/>
            <a:ext cx="8778240" cy="411480"/>
          </a:xfrm>
          <a:prstGeom prst="rect">
            <a:avLst/>
          </a:prstGeom>
          <a:noFill/>
        </p:spPr>
        <p:txBody>
          <a:bodyPr wrap="square">
            <a:spAutoFit/>
          </a:bodyPr>
          <a:lstStyle/>
          <a:p>
            <a:pPr algn="l">
              <a:defRPr sz="1800" b="0">
                <a:solidFill>
                  <a:srgbClr val="1A1A2E"/>
                </a:solidFill>
                <a:latin typeface="Calibri"/>
              </a:defRPr>
            </a:pPr>
            <a:r>
              <a:t>University documents, RAG, LLM, Monitoring, Security</a:t>
            </a:r>
          </a:p>
        </p:txBody>
      </p:sp>
      <p:sp>
        <p:nvSpPr>
          <p:cNvPr id="11" name="Rectangle 10"/>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73</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SCENARIO: AI Hallucination</a:t>
            </a:r>
          </a:p>
        </p:txBody>
      </p:sp>
      <p:sp>
        <p:nvSpPr>
          <p:cNvPr id="5" name="Rounded Rectangle 4"/>
          <p:cNvSpPr/>
          <p:nvPr/>
        </p:nvSpPr>
        <p:spPr>
          <a:xfrm>
            <a:off x="1371600" y="1645920"/>
            <a:ext cx="9144000" cy="594360"/>
          </a:xfrm>
          <a:prstGeom prst="roundRect">
            <a:avLst>
              <a:gd name="adj" fmla="val 10000"/>
            </a:avLst>
          </a:prstGeom>
          <a:solidFill>
            <a:srgbClr val="FFFFFF"/>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1737360"/>
            <a:ext cx="8778240" cy="411480"/>
          </a:xfrm>
          <a:prstGeom prst="rect">
            <a:avLst/>
          </a:prstGeom>
          <a:noFill/>
        </p:spPr>
        <p:txBody>
          <a:bodyPr wrap="square">
            <a:spAutoFit/>
          </a:bodyPr>
          <a:lstStyle/>
          <a:p>
            <a:pPr algn="l">
              <a:defRPr sz="1800" b="0">
                <a:solidFill>
                  <a:srgbClr val="1A1A2E"/>
                </a:solidFill>
                <a:latin typeface="Calibri"/>
              </a:defRPr>
            </a:pPr>
            <a:r>
              <a:t>AI assistant tells a student: "Your final exam is tomorrow."</a:t>
            </a:r>
          </a:p>
        </p:txBody>
      </p:sp>
      <p:sp>
        <p:nvSpPr>
          <p:cNvPr id="7" name="Rounded Rectangle 6"/>
          <p:cNvSpPr/>
          <p:nvPr/>
        </p:nvSpPr>
        <p:spPr>
          <a:xfrm>
            <a:off x="1371600" y="2377440"/>
            <a:ext cx="9144000" cy="594360"/>
          </a:xfrm>
          <a:prstGeom prst="roundRect">
            <a:avLst>
              <a:gd name="adj" fmla="val 10000"/>
            </a:avLst>
          </a:prstGeom>
          <a:solidFill>
            <a:srgbClr val="FFFFFF"/>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54480" y="2468880"/>
            <a:ext cx="8778240" cy="411480"/>
          </a:xfrm>
          <a:prstGeom prst="rect">
            <a:avLst/>
          </a:prstGeom>
          <a:noFill/>
        </p:spPr>
        <p:txBody>
          <a:bodyPr wrap="square">
            <a:spAutoFit/>
          </a:bodyPr>
          <a:lstStyle/>
          <a:p>
            <a:pPr algn="l">
              <a:defRPr sz="1800" b="0">
                <a:solidFill>
                  <a:srgbClr val="1A1A2E"/>
                </a:solidFill>
                <a:latin typeface="Calibri"/>
              </a:defRPr>
            </a:pPr>
            <a:r>
              <a:t>But the official schedule says next week.</a:t>
            </a:r>
          </a:p>
        </p:txBody>
      </p:sp>
      <p:sp>
        <p:nvSpPr>
          <p:cNvPr id="9" name="Rounded Rectangle 8"/>
          <p:cNvSpPr/>
          <p:nvPr/>
        </p:nvSpPr>
        <p:spPr>
          <a:xfrm>
            <a:off x="1371600" y="3108960"/>
            <a:ext cx="9144000" cy="594360"/>
          </a:xfrm>
          <a:prstGeom prst="roundRect">
            <a:avLst>
              <a:gd name="adj" fmla="val 10000"/>
            </a:avLst>
          </a:prstGeom>
          <a:solidFill>
            <a:srgbClr val="FFFFFF"/>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80" y="3200400"/>
            <a:ext cx="8778240" cy="411480"/>
          </a:xfrm>
          <a:prstGeom prst="rect">
            <a:avLst/>
          </a:prstGeom>
          <a:noFill/>
        </p:spPr>
        <p:txBody>
          <a:bodyPr wrap="square">
            <a:spAutoFit/>
          </a:bodyPr>
          <a:lstStyle/>
          <a:p>
            <a:pPr algn="l">
              <a:defRPr sz="1800" b="0">
                <a:solidFill>
                  <a:srgbClr val="1A1A2E"/>
                </a:solidFill>
                <a:latin typeface="Calibri"/>
              </a:defRPr>
            </a:pPr>
            <a:r>
              <a:t>Questions: What went wrong? How can we reduce this?</a:t>
            </a:r>
          </a:p>
        </p:txBody>
      </p:sp>
      <p:sp>
        <p:nvSpPr>
          <p:cNvPr id="11" name="Rounded Rectangle 10"/>
          <p:cNvSpPr/>
          <p:nvPr/>
        </p:nvSpPr>
        <p:spPr>
          <a:xfrm>
            <a:off x="1371600" y="3840480"/>
            <a:ext cx="9144000" cy="594360"/>
          </a:xfrm>
          <a:prstGeom prst="roundRect">
            <a:avLst>
              <a:gd name="adj" fmla="val 10000"/>
            </a:avLst>
          </a:prstGeom>
          <a:solidFill>
            <a:srgbClr val="FFFFFF"/>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54480" y="3931920"/>
            <a:ext cx="8778240" cy="411480"/>
          </a:xfrm>
          <a:prstGeom prst="rect">
            <a:avLst/>
          </a:prstGeom>
          <a:noFill/>
        </p:spPr>
        <p:txBody>
          <a:bodyPr wrap="square">
            <a:spAutoFit/>
          </a:bodyPr>
          <a:lstStyle/>
          <a:p>
            <a:pPr algn="l">
              <a:defRPr sz="1800" b="0">
                <a:solidFill>
                  <a:srgbClr val="1A1A2E"/>
                </a:solidFill>
                <a:latin typeface="Calibri"/>
              </a:defRPr>
            </a:pPr>
            <a:r>
              <a:t>Should the AI answer without evidence? What role does testing play?</a:t>
            </a:r>
          </a:p>
        </p:txBody>
      </p:sp>
      <p:sp>
        <p:nvSpPr>
          <p:cNvPr id="13" name="Rectangle 12"/>
          <p:cNvSpPr/>
          <p:nvPr/>
        </p:nvSpPr>
        <p:spPr>
          <a:xfrm>
            <a:off x="0" y="6675120"/>
            <a:ext cx="12191695" cy="1828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74</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SCENARIO: AI Banking Agent</a:t>
            </a:r>
          </a:p>
        </p:txBody>
      </p:sp>
      <p:sp>
        <p:nvSpPr>
          <p:cNvPr id="5" name="Rounded Rectangle 4"/>
          <p:cNvSpPr/>
          <p:nvPr/>
        </p:nvSpPr>
        <p:spPr>
          <a:xfrm>
            <a:off x="1371600" y="1645920"/>
            <a:ext cx="9144000" cy="594360"/>
          </a:xfrm>
          <a:prstGeom prst="roundRect">
            <a:avLst>
              <a:gd name="adj" fmla="val 10000"/>
            </a:avLst>
          </a:prstGeom>
          <a:solidFill>
            <a:srgbClr val="FFFFFF"/>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1737360"/>
            <a:ext cx="8778240" cy="411480"/>
          </a:xfrm>
          <a:prstGeom prst="rect">
            <a:avLst/>
          </a:prstGeom>
          <a:noFill/>
        </p:spPr>
        <p:txBody>
          <a:bodyPr wrap="square">
            <a:spAutoFit/>
          </a:bodyPr>
          <a:lstStyle/>
          <a:p>
            <a:pPr algn="l">
              <a:defRPr sz="1800" b="0">
                <a:solidFill>
                  <a:srgbClr val="1A1A2E"/>
                </a:solidFill>
                <a:latin typeface="Calibri"/>
              </a:defRPr>
            </a:pPr>
            <a:r>
              <a:t>An AI agent has permission to: Check balance, Transfer money, Send notifications</a:t>
            </a:r>
          </a:p>
        </p:txBody>
      </p:sp>
      <p:sp>
        <p:nvSpPr>
          <p:cNvPr id="7" name="Rounded Rectangle 6"/>
          <p:cNvSpPr/>
          <p:nvPr/>
        </p:nvSpPr>
        <p:spPr>
          <a:xfrm>
            <a:off x="1371600" y="2377440"/>
            <a:ext cx="9144000" cy="594360"/>
          </a:xfrm>
          <a:prstGeom prst="roundRect">
            <a:avLst>
              <a:gd name="adj" fmla="val 10000"/>
            </a:avLst>
          </a:prstGeom>
          <a:solidFill>
            <a:srgbClr val="FFFFFF"/>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54480" y="2468880"/>
            <a:ext cx="8778240" cy="411480"/>
          </a:xfrm>
          <a:prstGeom prst="rect">
            <a:avLst/>
          </a:prstGeom>
          <a:noFill/>
        </p:spPr>
        <p:txBody>
          <a:bodyPr wrap="square">
            <a:spAutoFit/>
          </a:bodyPr>
          <a:lstStyle/>
          <a:p>
            <a:pPr algn="l">
              <a:defRPr sz="1800" b="0">
                <a:solidFill>
                  <a:srgbClr val="1A1A2E"/>
                </a:solidFill>
                <a:latin typeface="Calibri"/>
              </a:defRPr>
            </a:pPr>
            <a:r>
              <a:t>Question: Should the agent automatically transfer money?</a:t>
            </a:r>
          </a:p>
        </p:txBody>
      </p:sp>
      <p:sp>
        <p:nvSpPr>
          <p:cNvPr id="9" name="Rounded Rectangle 8"/>
          <p:cNvSpPr/>
          <p:nvPr/>
        </p:nvSpPr>
        <p:spPr>
          <a:xfrm>
            <a:off x="1371600" y="3108960"/>
            <a:ext cx="9144000" cy="594360"/>
          </a:xfrm>
          <a:prstGeom prst="roundRect">
            <a:avLst>
              <a:gd name="adj" fmla="val 10000"/>
            </a:avLst>
          </a:prstGeom>
          <a:solidFill>
            <a:srgbClr val="FFFFFF"/>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80" y="3200400"/>
            <a:ext cx="8778240" cy="411480"/>
          </a:xfrm>
          <a:prstGeom prst="rect">
            <a:avLst/>
          </a:prstGeom>
          <a:noFill/>
        </p:spPr>
        <p:txBody>
          <a:bodyPr wrap="square">
            <a:spAutoFit/>
          </a:bodyPr>
          <a:lstStyle/>
          <a:p>
            <a:pPr algn="l">
              <a:defRPr sz="1800" b="0">
                <a:solidFill>
                  <a:srgbClr val="1A1A2E"/>
                </a:solidFill>
                <a:latin typeface="Calibri"/>
              </a:defRPr>
            </a:pPr>
            <a:r>
              <a:t>Discussion: Authorization, Human approval, Transaction limits</a:t>
            </a:r>
          </a:p>
        </p:txBody>
      </p:sp>
      <p:sp>
        <p:nvSpPr>
          <p:cNvPr id="11" name="Rounded Rectangle 10"/>
          <p:cNvSpPr/>
          <p:nvPr/>
        </p:nvSpPr>
        <p:spPr>
          <a:xfrm>
            <a:off x="1371600" y="3840480"/>
            <a:ext cx="9144000" cy="594360"/>
          </a:xfrm>
          <a:prstGeom prst="roundRect">
            <a:avLst>
              <a:gd name="adj" fmla="val 10000"/>
            </a:avLst>
          </a:prstGeom>
          <a:solidFill>
            <a:srgbClr val="FFFFFF"/>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54480" y="3931920"/>
            <a:ext cx="8778240" cy="411480"/>
          </a:xfrm>
          <a:prstGeom prst="rect">
            <a:avLst/>
          </a:prstGeom>
          <a:noFill/>
        </p:spPr>
        <p:txBody>
          <a:bodyPr wrap="square">
            <a:spAutoFit/>
          </a:bodyPr>
          <a:lstStyle/>
          <a:p>
            <a:pPr algn="l">
              <a:defRPr sz="1800" b="0">
                <a:solidFill>
                  <a:srgbClr val="1A1A2E"/>
                </a:solidFill>
                <a:latin typeface="Calibri"/>
              </a:defRPr>
            </a:pPr>
            <a:r>
              <a:t>Audit logs, Security, Confirmation</a:t>
            </a:r>
          </a:p>
        </p:txBody>
      </p:sp>
      <p:sp>
        <p:nvSpPr>
          <p:cNvPr id="13" name="Rectangle 12"/>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75</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SCENARIO: AI Coding Agent</a:t>
            </a:r>
          </a:p>
        </p:txBody>
      </p:sp>
      <p:sp>
        <p:nvSpPr>
          <p:cNvPr id="5" name="Rounded Rectangle 4"/>
          <p:cNvSpPr/>
          <p:nvPr/>
        </p:nvSpPr>
        <p:spPr>
          <a:xfrm>
            <a:off x="1371600" y="1645920"/>
            <a:ext cx="9144000" cy="594360"/>
          </a:xfrm>
          <a:prstGeom prst="roundRect">
            <a:avLst>
              <a:gd name="adj" fmla="val 10000"/>
            </a:avLst>
          </a:prstGeom>
          <a:solidFill>
            <a:srgbClr val="FFFFFF"/>
          </a:solidFill>
          <a:ln>
            <a:solidFill>
              <a:srgbClr val="7B2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1737360"/>
            <a:ext cx="8778240" cy="411480"/>
          </a:xfrm>
          <a:prstGeom prst="rect">
            <a:avLst/>
          </a:prstGeom>
          <a:noFill/>
        </p:spPr>
        <p:txBody>
          <a:bodyPr wrap="square">
            <a:spAutoFit/>
          </a:bodyPr>
          <a:lstStyle/>
          <a:p>
            <a:pPr algn="l">
              <a:defRPr sz="1800" b="0">
                <a:solidFill>
                  <a:srgbClr val="1A1A2E"/>
                </a:solidFill>
                <a:latin typeface="Calibri"/>
              </a:defRPr>
            </a:pPr>
            <a:r>
              <a:t>An AI coding agent generates 5,000 lines of code.</a:t>
            </a:r>
          </a:p>
        </p:txBody>
      </p:sp>
      <p:sp>
        <p:nvSpPr>
          <p:cNvPr id="7" name="Rounded Rectangle 6"/>
          <p:cNvSpPr/>
          <p:nvPr/>
        </p:nvSpPr>
        <p:spPr>
          <a:xfrm>
            <a:off x="1371600" y="2377440"/>
            <a:ext cx="9144000" cy="594360"/>
          </a:xfrm>
          <a:prstGeom prst="roundRect">
            <a:avLst>
              <a:gd name="adj" fmla="val 10000"/>
            </a:avLst>
          </a:prstGeom>
          <a:solidFill>
            <a:srgbClr val="FFFFFF"/>
          </a:solidFill>
          <a:ln>
            <a:solidFill>
              <a:srgbClr val="7B2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54480" y="2468880"/>
            <a:ext cx="8778240" cy="411480"/>
          </a:xfrm>
          <a:prstGeom prst="rect">
            <a:avLst/>
          </a:prstGeom>
          <a:noFill/>
        </p:spPr>
        <p:txBody>
          <a:bodyPr wrap="square">
            <a:spAutoFit/>
          </a:bodyPr>
          <a:lstStyle/>
          <a:p>
            <a:pPr algn="l">
              <a:defRPr sz="1800" b="0">
                <a:solidFill>
                  <a:srgbClr val="1A1A2E"/>
                </a:solidFill>
                <a:latin typeface="Calibri"/>
              </a:defRPr>
            </a:pPr>
            <a:r>
              <a:rPr dirty="0"/>
              <a:t>Developer says: "It works, so deploy it."</a:t>
            </a:r>
          </a:p>
        </p:txBody>
      </p:sp>
      <p:sp>
        <p:nvSpPr>
          <p:cNvPr id="9" name="Rounded Rectangle 8"/>
          <p:cNvSpPr/>
          <p:nvPr/>
        </p:nvSpPr>
        <p:spPr>
          <a:xfrm>
            <a:off x="1371600" y="3108960"/>
            <a:ext cx="9144000" cy="594360"/>
          </a:xfrm>
          <a:prstGeom prst="roundRect">
            <a:avLst>
              <a:gd name="adj" fmla="val 10000"/>
            </a:avLst>
          </a:prstGeom>
          <a:solidFill>
            <a:srgbClr val="FFFFFF"/>
          </a:solidFill>
          <a:ln>
            <a:solidFill>
              <a:srgbClr val="7B2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80" y="3200400"/>
            <a:ext cx="8778240" cy="411480"/>
          </a:xfrm>
          <a:prstGeom prst="rect">
            <a:avLst/>
          </a:prstGeom>
          <a:noFill/>
        </p:spPr>
        <p:txBody>
          <a:bodyPr wrap="square">
            <a:spAutoFit/>
          </a:bodyPr>
          <a:lstStyle/>
          <a:p>
            <a:pPr algn="l">
              <a:defRPr sz="1800" b="0">
                <a:solidFill>
                  <a:srgbClr val="1A1A2E"/>
                </a:solidFill>
                <a:latin typeface="Calibri"/>
              </a:defRPr>
            </a:pPr>
            <a:r>
              <a:t>Question: Would you deploy immediately?</a:t>
            </a:r>
          </a:p>
        </p:txBody>
      </p:sp>
      <p:sp>
        <p:nvSpPr>
          <p:cNvPr id="11" name="Rounded Rectangle 10"/>
          <p:cNvSpPr/>
          <p:nvPr/>
        </p:nvSpPr>
        <p:spPr>
          <a:xfrm>
            <a:off x="1371600" y="3931920"/>
            <a:ext cx="9144000" cy="594360"/>
          </a:xfrm>
          <a:prstGeom prst="roundRect">
            <a:avLst>
              <a:gd name="adj" fmla="val 10000"/>
            </a:avLst>
          </a:prstGeom>
          <a:solidFill>
            <a:srgbClr val="FFFFFF"/>
          </a:solidFill>
          <a:ln>
            <a:solidFill>
              <a:srgbClr val="7B2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54480" y="3931920"/>
            <a:ext cx="8778240" cy="411480"/>
          </a:xfrm>
          <a:prstGeom prst="rect">
            <a:avLst/>
          </a:prstGeom>
          <a:noFill/>
        </p:spPr>
        <p:txBody>
          <a:bodyPr wrap="square">
            <a:spAutoFit/>
          </a:bodyPr>
          <a:lstStyle/>
          <a:p>
            <a:pPr algn="l">
              <a:defRPr sz="1800" b="0">
                <a:solidFill>
                  <a:srgbClr val="1A1A2E"/>
                </a:solidFill>
                <a:latin typeface="Calibri"/>
              </a:defRPr>
            </a:pPr>
            <a:r>
              <a:t>Need: Code review, Testing, Security scanning, CI/CD, Human approval</a:t>
            </a:r>
          </a:p>
        </p:txBody>
      </p:sp>
      <p:sp>
        <p:nvSpPr>
          <p:cNvPr id="13" name="Rectangle 12"/>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SCENARIO: AI Hiring System</a:t>
            </a:r>
          </a:p>
        </p:txBody>
      </p:sp>
      <p:sp>
        <p:nvSpPr>
          <p:cNvPr id="5" name="Rounded Rectangle 4"/>
          <p:cNvSpPr/>
          <p:nvPr/>
        </p:nvSpPr>
        <p:spPr>
          <a:xfrm>
            <a:off x="1371600" y="1645920"/>
            <a:ext cx="9144000" cy="594360"/>
          </a:xfrm>
          <a:prstGeom prst="roundRect">
            <a:avLst>
              <a:gd name="adj" fmla="val 10000"/>
            </a:avLst>
          </a:prstGeom>
          <a:solidFill>
            <a:srgbClr val="FFFFFF"/>
          </a:solidFill>
          <a:ln>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1737360"/>
            <a:ext cx="8778240" cy="411480"/>
          </a:xfrm>
          <a:prstGeom prst="rect">
            <a:avLst/>
          </a:prstGeom>
          <a:noFill/>
        </p:spPr>
        <p:txBody>
          <a:bodyPr wrap="square">
            <a:spAutoFit/>
          </a:bodyPr>
          <a:lstStyle/>
          <a:p>
            <a:pPr algn="l">
              <a:defRPr sz="1800" b="0">
                <a:solidFill>
                  <a:srgbClr val="1A1A2E"/>
                </a:solidFill>
                <a:latin typeface="Calibri"/>
              </a:defRPr>
            </a:pPr>
            <a:r>
              <a:t>A company uses AI to rank job candidates.</a:t>
            </a:r>
          </a:p>
        </p:txBody>
      </p:sp>
      <p:sp>
        <p:nvSpPr>
          <p:cNvPr id="7" name="Rounded Rectangle 6"/>
          <p:cNvSpPr/>
          <p:nvPr/>
        </p:nvSpPr>
        <p:spPr>
          <a:xfrm>
            <a:off x="1371600" y="2377440"/>
            <a:ext cx="9144000" cy="594360"/>
          </a:xfrm>
          <a:prstGeom prst="roundRect">
            <a:avLst>
              <a:gd name="adj" fmla="val 10000"/>
            </a:avLst>
          </a:prstGeom>
          <a:solidFill>
            <a:srgbClr val="FFFFFF"/>
          </a:solidFill>
          <a:ln>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54480" y="2468880"/>
            <a:ext cx="8778240" cy="411480"/>
          </a:xfrm>
          <a:prstGeom prst="rect">
            <a:avLst/>
          </a:prstGeom>
          <a:noFill/>
        </p:spPr>
        <p:txBody>
          <a:bodyPr wrap="square">
            <a:spAutoFit/>
          </a:bodyPr>
          <a:lstStyle/>
          <a:p>
            <a:pPr algn="l">
              <a:defRPr sz="1800" b="0">
                <a:solidFill>
                  <a:srgbClr val="1A1A2E"/>
                </a:solidFill>
                <a:latin typeface="Calibri"/>
              </a:defRPr>
            </a:pPr>
            <a:r>
              <a:t>What can go wrong? Bias, Incorrect ranking, Lack of transparency</a:t>
            </a:r>
          </a:p>
        </p:txBody>
      </p:sp>
      <p:sp>
        <p:nvSpPr>
          <p:cNvPr id="9" name="Rounded Rectangle 8"/>
          <p:cNvSpPr/>
          <p:nvPr/>
        </p:nvSpPr>
        <p:spPr>
          <a:xfrm>
            <a:off x="1371600" y="3108960"/>
            <a:ext cx="9144000" cy="594360"/>
          </a:xfrm>
          <a:prstGeom prst="roundRect">
            <a:avLst>
              <a:gd name="adj" fmla="val 10000"/>
            </a:avLst>
          </a:prstGeom>
          <a:solidFill>
            <a:srgbClr val="FFFFFF"/>
          </a:solidFill>
          <a:ln>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80" y="3200400"/>
            <a:ext cx="8778240" cy="411480"/>
          </a:xfrm>
          <a:prstGeom prst="rect">
            <a:avLst/>
          </a:prstGeom>
          <a:noFill/>
        </p:spPr>
        <p:txBody>
          <a:bodyPr wrap="square">
            <a:spAutoFit/>
          </a:bodyPr>
          <a:lstStyle/>
          <a:p>
            <a:pPr algn="l">
              <a:defRPr sz="1800" b="0">
                <a:solidFill>
                  <a:srgbClr val="1A1A2E"/>
                </a:solidFill>
                <a:latin typeface="Calibri"/>
              </a:defRPr>
            </a:pPr>
            <a:r>
              <a:t>Privacy concerns, Poor data quality</a:t>
            </a:r>
          </a:p>
        </p:txBody>
      </p:sp>
      <p:sp>
        <p:nvSpPr>
          <p:cNvPr id="11" name="Rounded Rectangle 10"/>
          <p:cNvSpPr/>
          <p:nvPr/>
        </p:nvSpPr>
        <p:spPr>
          <a:xfrm>
            <a:off x="1371600" y="3840480"/>
            <a:ext cx="9144000" cy="594360"/>
          </a:xfrm>
          <a:prstGeom prst="roundRect">
            <a:avLst>
              <a:gd name="adj" fmla="val 10000"/>
            </a:avLst>
          </a:prstGeom>
          <a:solidFill>
            <a:srgbClr val="FFFFFF"/>
          </a:solidFill>
          <a:ln>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54480" y="3931920"/>
            <a:ext cx="8778240" cy="411480"/>
          </a:xfrm>
          <a:prstGeom prst="rect">
            <a:avLst/>
          </a:prstGeom>
          <a:noFill/>
        </p:spPr>
        <p:txBody>
          <a:bodyPr wrap="square">
            <a:spAutoFit/>
          </a:bodyPr>
          <a:lstStyle/>
          <a:p>
            <a:pPr algn="l">
              <a:defRPr sz="1800" b="0">
                <a:solidFill>
                  <a:srgbClr val="1A1A2E"/>
                </a:solidFill>
                <a:latin typeface="Calibri"/>
              </a:defRPr>
            </a:pPr>
            <a:r>
              <a:t>Engineering lesson: AI systems require technical + ethical + governance considerations.</a:t>
            </a:r>
          </a:p>
        </p:txBody>
      </p:sp>
      <p:sp>
        <p:nvSpPr>
          <p:cNvPr id="13" name="Rectangle 12"/>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ACTIVITY: Software Around You</a:t>
            </a:r>
          </a:p>
        </p:txBody>
      </p:sp>
      <p:sp>
        <p:nvSpPr>
          <p:cNvPr id="5" name="Rounded Rectangle 4"/>
          <p:cNvSpPr/>
          <p:nvPr/>
        </p:nvSpPr>
        <p:spPr>
          <a:xfrm>
            <a:off x="1371600" y="1645920"/>
            <a:ext cx="9144000" cy="68580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554480" y="173736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54480" y="1863090"/>
            <a:ext cx="502920" cy="251460"/>
          </a:xfrm>
          <a:prstGeom prst="rect">
            <a:avLst/>
          </a:prstGeom>
          <a:noFill/>
        </p:spPr>
        <p:txBody>
          <a:bodyPr wrap="none">
            <a:spAutoFit/>
          </a:bodyPr>
          <a:lstStyle/>
          <a:p>
            <a:pPr algn="ctr">
              <a:defRPr sz="1400" b="1">
                <a:solidFill>
                  <a:srgbClr val="FFFFFF"/>
                </a:solidFill>
              </a:defRPr>
            </a:pPr>
            <a:r>
              <a:t>1</a:t>
            </a:r>
          </a:p>
        </p:txBody>
      </p:sp>
      <p:sp>
        <p:nvSpPr>
          <p:cNvPr id="8" name="TextBox 7"/>
          <p:cNvSpPr txBox="1"/>
          <p:nvPr/>
        </p:nvSpPr>
        <p:spPr>
          <a:xfrm>
            <a:off x="2194560" y="1783080"/>
            <a:ext cx="8046720" cy="457200"/>
          </a:xfrm>
          <a:prstGeom prst="rect">
            <a:avLst/>
          </a:prstGeom>
          <a:noFill/>
        </p:spPr>
        <p:txBody>
          <a:bodyPr wrap="square">
            <a:spAutoFit/>
          </a:bodyPr>
          <a:lstStyle/>
          <a:p>
            <a:pPr algn="l">
              <a:defRPr sz="1800" b="0">
                <a:solidFill>
                  <a:srgbClr val="1A1A2E"/>
                </a:solidFill>
                <a:latin typeface="Calibri"/>
              </a:defRPr>
            </a:pPr>
            <a:r>
              <a:t>Find 10 software systems you used today.</a:t>
            </a:r>
          </a:p>
        </p:txBody>
      </p:sp>
      <p:sp>
        <p:nvSpPr>
          <p:cNvPr id="9" name="Rounded Rectangle 8"/>
          <p:cNvSpPr/>
          <p:nvPr/>
        </p:nvSpPr>
        <p:spPr>
          <a:xfrm>
            <a:off x="1371600" y="2468880"/>
            <a:ext cx="9144000" cy="68580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554480" y="256032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54480" y="2686050"/>
            <a:ext cx="502920" cy="251460"/>
          </a:xfrm>
          <a:prstGeom prst="rect">
            <a:avLst/>
          </a:prstGeom>
          <a:noFill/>
        </p:spPr>
        <p:txBody>
          <a:bodyPr wrap="none">
            <a:spAutoFit/>
          </a:bodyPr>
          <a:lstStyle/>
          <a:p>
            <a:pPr algn="ctr">
              <a:defRPr sz="1400" b="1">
                <a:solidFill>
                  <a:srgbClr val="FFFFFF"/>
                </a:solidFill>
              </a:defRPr>
            </a:pPr>
            <a:r>
              <a:t>2</a:t>
            </a:r>
          </a:p>
        </p:txBody>
      </p:sp>
      <p:sp>
        <p:nvSpPr>
          <p:cNvPr id="12" name="TextBox 11"/>
          <p:cNvSpPr txBox="1"/>
          <p:nvPr/>
        </p:nvSpPr>
        <p:spPr>
          <a:xfrm>
            <a:off x="2194560" y="2606040"/>
            <a:ext cx="8046720" cy="457200"/>
          </a:xfrm>
          <a:prstGeom prst="rect">
            <a:avLst/>
          </a:prstGeom>
          <a:noFill/>
        </p:spPr>
        <p:txBody>
          <a:bodyPr wrap="square">
            <a:spAutoFit/>
          </a:bodyPr>
          <a:lstStyle/>
          <a:p>
            <a:pPr algn="l">
              <a:defRPr sz="1800" b="0">
                <a:solidFill>
                  <a:srgbClr val="1A1A2E"/>
                </a:solidFill>
                <a:latin typeface="Calibri"/>
              </a:defRPr>
            </a:pPr>
            <a:r>
              <a:t>For each: Name, Purpose, Users</a:t>
            </a:r>
          </a:p>
        </p:txBody>
      </p:sp>
      <p:sp>
        <p:nvSpPr>
          <p:cNvPr id="13" name="Rounded Rectangle 12"/>
          <p:cNvSpPr/>
          <p:nvPr/>
        </p:nvSpPr>
        <p:spPr>
          <a:xfrm>
            <a:off x="1371600" y="3291840"/>
            <a:ext cx="9144000" cy="685800"/>
          </a:xfrm>
          <a:prstGeom prst="roundRect">
            <a:avLst>
              <a:gd name="adj" fmla="val 10000"/>
            </a:avLst>
          </a:prstGeom>
          <a:solidFill>
            <a:srgbClr val="FFFFF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54480" y="338328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54480" y="3509010"/>
            <a:ext cx="502920" cy="251460"/>
          </a:xfrm>
          <a:prstGeom prst="rect">
            <a:avLst/>
          </a:prstGeom>
          <a:noFill/>
        </p:spPr>
        <p:txBody>
          <a:bodyPr wrap="none">
            <a:spAutoFit/>
          </a:bodyPr>
          <a:lstStyle/>
          <a:p>
            <a:pPr algn="ctr">
              <a:defRPr sz="1400" b="1">
                <a:solidFill>
                  <a:srgbClr val="FFFFFF"/>
                </a:solidFill>
              </a:defRPr>
            </a:pPr>
            <a:r>
              <a:t>3</a:t>
            </a:r>
          </a:p>
        </p:txBody>
      </p:sp>
      <p:sp>
        <p:nvSpPr>
          <p:cNvPr id="16" name="TextBox 15"/>
          <p:cNvSpPr txBox="1"/>
          <p:nvPr/>
        </p:nvSpPr>
        <p:spPr>
          <a:xfrm>
            <a:off x="2194560" y="3429000"/>
            <a:ext cx="8046720" cy="457200"/>
          </a:xfrm>
          <a:prstGeom prst="rect">
            <a:avLst/>
          </a:prstGeom>
          <a:noFill/>
        </p:spPr>
        <p:txBody>
          <a:bodyPr wrap="square">
            <a:spAutoFit/>
          </a:bodyPr>
          <a:lstStyle/>
          <a:p>
            <a:pPr algn="l">
              <a:defRPr sz="1800" b="0">
                <a:solidFill>
                  <a:srgbClr val="1A1A2E"/>
                </a:solidFill>
                <a:latin typeface="Calibri"/>
              </a:defRPr>
            </a:pPr>
            <a:r>
              <a:t>One possible failure, One quality attribute</a:t>
            </a:r>
          </a:p>
        </p:txBody>
      </p:sp>
      <p:sp>
        <p:nvSpPr>
          <p:cNvPr id="17" name="Rectangle 16"/>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ACTIVITY: Traditional vs AI Software</a:t>
            </a:r>
          </a:p>
        </p:txBody>
      </p:sp>
      <p:sp>
        <p:nvSpPr>
          <p:cNvPr id="5" name="Rounded Rectangle 4"/>
          <p:cNvSpPr/>
          <p:nvPr/>
        </p:nvSpPr>
        <p:spPr>
          <a:xfrm>
            <a:off x="1371600" y="1645920"/>
            <a:ext cx="9144000" cy="685800"/>
          </a:xfrm>
          <a:prstGeom prst="roundRect">
            <a:avLst>
              <a:gd name="adj" fmla="val 10000"/>
            </a:avLst>
          </a:prstGeom>
          <a:solidFill>
            <a:srgbClr val="FFFFFF"/>
          </a:solidFill>
          <a:ln>
            <a:solidFill>
              <a:srgbClr val="7B2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554480" y="1737360"/>
            <a:ext cx="502920" cy="50292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54480" y="1863090"/>
            <a:ext cx="502920" cy="251460"/>
          </a:xfrm>
          <a:prstGeom prst="rect">
            <a:avLst/>
          </a:prstGeom>
          <a:noFill/>
        </p:spPr>
        <p:txBody>
          <a:bodyPr wrap="none">
            <a:spAutoFit/>
          </a:bodyPr>
          <a:lstStyle/>
          <a:p>
            <a:pPr algn="ctr">
              <a:defRPr sz="1400" b="1">
                <a:solidFill>
                  <a:srgbClr val="FFFFFF"/>
                </a:solidFill>
              </a:defRPr>
            </a:pPr>
            <a:r>
              <a:t>1</a:t>
            </a:r>
          </a:p>
        </p:txBody>
      </p:sp>
      <p:sp>
        <p:nvSpPr>
          <p:cNvPr id="8" name="TextBox 7"/>
          <p:cNvSpPr txBox="1"/>
          <p:nvPr/>
        </p:nvSpPr>
        <p:spPr>
          <a:xfrm>
            <a:off x="2194560" y="1783080"/>
            <a:ext cx="8046720" cy="457200"/>
          </a:xfrm>
          <a:prstGeom prst="rect">
            <a:avLst/>
          </a:prstGeom>
          <a:noFill/>
        </p:spPr>
        <p:txBody>
          <a:bodyPr wrap="square">
            <a:spAutoFit/>
          </a:bodyPr>
          <a:lstStyle/>
          <a:p>
            <a:pPr algn="l">
              <a:defRPr sz="1800" b="0">
                <a:solidFill>
                  <a:srgbClr val="1A1A2E"/>
                </a:solidFill>
                <a:latin typeface="Calibri"/>
              </a:defRPr>
            </a:pPr>
            <a:r>
              <a:t>Compare: Traditional Banking App vs AI Banking Assistant</a:t>
            </a:r>
          </a:p>
        </p:txBody>
      </p:sp>
      <p:sp>
        <p:nvSpPr>
          <p:cNvPr id="9" name="Rounded Rectangle 8"/>
          <p:cNvSpPr/>
          <p:nvPr/>
        </p:nvSpPr>
        <p:spPr>
          <a:xfrm>
            <a:off x="1371600" y="2468880"/>
            <a:ext cx="9144000" cy="685800"/>
          </a:xfrm>
          <a:prstGeom prst="roundRect">
            <a:avLst>
              <a:gd name="adj" fmla="val 10000"/>
            </a:avLst>
          </a:prstGeom>
          <a:solidFill>
            <a:srgbClr val="FFFFFF"/>
          </a:solidFill>
          <a:ln>
            <a:solidFill>
              <a:srgbClr val="7B2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554480" y="2560320"/>
            <a:ext cx="502920" cy="50292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54480" y="2686050"/>
            <a:ext cx="502920" cy="251460"/>
          </a:xfrm>
          <a:prstGeom prst="rect">
            <a:avLst/>
          </a:prstGeom>
          <a:noFill/>
        </p:spPr>
        <p:txBody>
          <a:bodyPr wrap="none">
            <a:spAutoFit/>
          </a:bodyPr>
          <a:lstStyle/>
          <a:p>
            <a:pPr algn="ctr">
              <a:defRPr sz="1400" b="1">
                <a:solidFill>
                  <a:srgbClr val="FFFFFF"/>
                </a:solidFill>
              </a:defRPr>
            </a:pPr>
            <a:r>
              <a:t>2</a:t>
            </a:r>
          </a:p>
        </p:txBody>
      </p:sp>
      <p:sp>
        <p:nvSpPr>
          <p:cNvPr id="12" name="TextBox 11"/>
          <p:cNvSpPr txBox="1"/>
          <p:nvPr/>
        </p:nvSpPr>
        <p:spPr>
          <a:xfrm>
            <a:off x="2194560" y="2606040"/>
            <a:ext cx="8046720" cy="457200"/>
          </a:xfrm>
          <a:prstGeom prst="rect">
            <a:avLst/>
          </a:prstGeom>
          <a:noFill/>
        </p:spPr>
        <p:txBody>
          <a:bodyPr wrap="square">
            <a:spAutoFit/>
          </a:bodyPr>
          <a:lstStyle/>
          <a:p>
            <a:pPr algn="l">
              <a:defRPr sz="1800" b="0">
                <a:solidFill>
                  <a:srgbClr val="1A1A2E"/>
                </a:solidFill>
                <a:latin typeface="Calibri"/>
              </a:defRPr>
            </a:pPr>
            <a:r>
              <a:t>Students identify: Components, Risks, Data</a:t>
            </a:r>
          </a:p>
        </p:txBody>
      </p:sp>
      <p:sp>
        <p:nvSpPr>
          <p:cNvPr id="13" name="Rounded Rectangle 12"/>
          <p:cNvSpPr/>
          <p:nvPr/>
        </p:nvSpPr>
        <p:spPr>
          <a:xfrm>
            <a:off x="1371600" y="3291840"/>
            <a:ext cx="9144000" cy="685800"/>
          </a:xfrm>
          <a:prstGeom prst="roundRect">
            <a:avLst>
              <a:gd name="adj" fmla="val 10000"/>
            </a:avLst>
          </a:prstGeom>
          <a:solidFill>
            <a:srgbClr val="FFFFFF"/>
          </a:solidFill>
          <a:ln>
            <a:solidFill>
              <a:srgbClr val="7B2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54480" y="3383280"/>
            <a:ext cx="502920" cy="50292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54480" y="3509010"/>
            <a:ext cx="502920" cy="251460"/>
          </a:xfrm>
          <a:prstGeom prst="rect">
            <a:avLst/>
          </a:prstGeom>
          <a:noFill/>
        </p:spPr>
        <p:txBody>
          <a:bodyPr wrap="none">
            <a:spAutoFit/>
          </a:bodyPr>
          <a:lstStyle/>
          <a:p>
            <a:pPr algn="ctr">
              <a:defRPr sz="1400" b="1">
                <a:solidFill>
                  <a:srgbClr val="FFFFFF"/>
                </a:solidFill>
              </a:defRPr>
            </a:pPr>
            <a:r>
              <a:t>3</a:t>
            </a:r>
          </a:p>
        </p:txBody>
      </p:sp>
      <p:sp>
        <p:nvSpPr>
          <p:cNvPr id="16" name="TextBox 15"/>
          <p:cNvSpPr txBox="1"/>
          <p:nvPr/>
        </p:nvSpPr>
        <p:spPr>
          <a:xfrm>
            <a:off x="2194560" y="3429000"/>
            <a:ext cx="8046720" cy="457200"/>
          </a:xfrm>
          <a:prstGeom prst="rect">
            <a:avLst/>
          </a:prstGeom>
          <a:noFill/>
        </p:spPr>
        <p:txBody>
          <a:bodyPr wrap="square">
            <a:spAutoFit/>
          </a:bodyPr>
          <a:lstStyle/>
          <a:p>
            <a:pPr algn="l">
              <a:defRPr sz="1800" b="0">
                <a:solidFill>
                  <a:srgbClr val="1A1A2E"/>
                </a:solidFill>
                <a:latin typeface="Calibri"/>
              </a:defRPr>
            </a:pPr>
            <a:r>
              <a:t>Security, Testing, Users</a:t>
            </a:r>
          </a:p>
        </p:txBody>
      </p:sp>
      <p:sp>
        <p:nvSpPr>
          <p:cNvPr id="17" name="Rectangle 16"/>
          <p:cNvSpPr/>
          <p:nvPr/>
        </p:nvSpPr>
        <p:spPr>
          <a:xfrm>
            <a:off x="0" y="6675120"/>
            <a:ext cx="12191695" cy="182880"/>
          </a:xfrm>
          <a:prstGeom prst="rect">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79</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ACTIVITY: Design an AI System</a:t>
            </a:r>
          </a:p>
        </p:txBody>
      </p:sp>
      <p:sp>
        <p:nvSpPr>
          <p:cNvPr id="5" name="Rounded Rectangle 4"/>
          <p:cNvSpPr/>
          <p:nvPr/>
        </p:nvSpPr>
        <p:spPr>
          <a:xfrm>
            <a:off x="1371600" y="1645920"/>
            <a:ext cx="9144000" cy="685800"/>
          </a:xfrm>
          <a:prstGeom prst="roundRect">
            <a:avLst>
              <a:gd name="adj" fmla="val 10000"/>
            </a:avLst>
          </a:prstGeom>
          <a:solidFill>
            <a:srgbClr val="FFFFFF"/>
          </a:solidFill>
          <a:ln>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554480" y="1737360"/>
            <a:ext cx="502920" cy="502920"/>
          </a:xfrm>
          <a:prstGeom prst="ellipse">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54480" y="1863090"/>
            <a:ext cx="502920" cy="251460"/>
          </a:xfrm>
          <a:prstGeom prst="rect">
            <a:avLst/>
          </a:prstGeom>
          <a:noFill/>
        </p:spPr>
        <p:txBody>
          <a:bodyPr wrap="none">
            <a:spAutoFit/>
          </a:bodyPr>
          <a:lstStyle/>
          <a:p>
            <a:pPr algn="ctr">
              <a:defRPr sz="1400" b="1">
                <a:solidFill>
                  <a:srgbClr val="FFFFFF"/>
                </a:solidFill>
              </a:defRPr>
            </a:pPr>
            <a:r>
              <a:t>1</a:t>
            </a:r>
          </a:p>
        </p:txBody>
      </p:sp>
      <p:sp>
        <p:nvSpPr>
          <p:cNvPr id="8" name="TextBox 7"/>
          <p:cNvSpPr txBox="1"/>
          <p:nvPr/>
        </p:nvSpPr>
        <p:spPr>
          <a:xfrm>
            <a:off x="2194560" y="1783080"/>
            <a:ext cx="8046720" cy="457200"/>
          </a:xfrm>
          <a:prstGeom prst="rect">
            <a:avLst/>
          </a:prstGeom>
          <a:noFill/>
        </p:spPr>
        <p:txBody>
          <a:bodyPr wrap="square">
            <a:spAutoFit/>
          </a:bodyPr>
          <a:lstStyle/>
          <a:p>
            <a:pPr algn="l">
              <a:defRPr sz="1800" b="0">
                <a:solidFill>
                  <a:srgbClr val="1A1A2E"/>
                </a:solidFill>
                <a:latin typeface="Calibri"/>
              </a:defRPr>
            </a:pPr>
            <a:r>
              <a:t>Groups select one: University AI Assistant, AI Healthcare, AI E-commerce</a:t>
            </a:r>
          </a:p>
        </p:txBody>
      </p:sp>
      <p:sp>
        <p:nvSpPr>
          <p:cNvPr id="9" name="Rounded Rectangle 8"/>
          <p:cNvSpPr/>
          <p:nvPr/>
        </p:nvSpPr>
        <p:spPr>
          <a:xfrm>
            <a:off x="1371600" y="2468880"/>
            <a:ext cx="9144000" cy="685800"/>
          </a:xfrm>
          <a:prstGeom prst="roundRect">
            <a:avLst>
              <a:gd name="adj" fmla="val 10000"/>
            </a:avLst>
          </a:prstGeom>
          <a:solidFill>
            <a:srgbClr val="FFFFFF"/>
          </a:solidFill>
          <a:ln>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554480" y="2560320"/>
            <a:ext cx="502920" cy="502920"/>
          </a:xfrm>
          <a:prstGeom prst="ellipse">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54480" y="2686050"/>
            <a:ext cx="502920" cy="251460"/>
          </a:xfrm>
          <a:prstGeom prst="rect">
            <a:avLst/>
          </a:prstGeom>
          <a:noFill/>
        </p:spPr>
        <p:txBody>
          <a:bodyPr wrap="none">
            <a:spAutoFit/>
          </a:bodyPr>
          <a:lstStyle/>
          <a:p>
            <a:pPr algn="ctr">
              <a:defRPr sz="1400" b="1">
                <a:solidFill>
                  <a:srgbClr val="FFFFFF"/>
                </a:solidFill>
              </a:defRPr>
            </a:pPr>
            <a:r>
              <a:t>2</a:t>
            </a:r>
          </a:p>
        </p:txBody>
      </p:sp>
      <p:sp>
        <p:nvSpPr>
          <p:cNvPr id="12" name="TextBox 11"/>
          <p:cNvSpPr txBox="1"/>
          <p:nvPr/>
        </p:nvSpPr>
        <p:spPr>
          <a:xfrm>
            <a:off x="2194560" y="2606040"/>
            <a:ext cx="8046720" cy="457200"/>
          </a:xfrm>
          <a:prstGeom prst="rect">
            <a:avLst/>
          </a:prstGeom>
          <a:noFill/>
        </p:spPr>
        <p:txBody>
          <a:bodyPr wrap="square">
            <a:spAutoFit/>
          </a:bodyPr>
          <a:lstStyle/>
          <a:p>
            <a:pPr algn="l">
              <a:defRPr sz="1800" b="0">
                <a:solidFill>
                  <a:srgbClr val="1A1A2E"/>
                </a:solidFill>
                <a:latin typeface="Calibri"/>
              </a:defRPr>
            </a:pPr>
            <a:r>
              <a:t>AI Agriculture, AI Customer Support, AI Banking</a:t>
            </a:r>
          </a:p>
        </p:txBody>
      </p:sp>
      <p:sp>
        <p:nvSpPr>
          <p:cNvPr id="13" name="Rounded Rectangle 12"/>
          <p:cNvSpPr/>
          <p:nvPr/>
        </p:nvSpPr>
        <p:spPr>
          <a:xfrm>
            <a:off x="1371600" y="3291840"/>
            <a:ext cx="9144000" cy="685800"/>
          </a:xfrm>
          <a:prstGeom prst="roundRect">
            <a:avLst>
              <a:gd name="adj" fmla="val 10000"/>
            </a:avLst>
          </a:prstGeom>
          <a:solidFill>
            <a:srgbClr val="FFFFFF"/>
          </a:solidFill>
          <a:ln>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54480" y="3383280"/>
            <a:ext cx="502920" cy="502920"/>
          </a:xfrm>
          <a:prstGeom prst="ellipse">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54480" y="3509010"/>
            <a:ext cx="502920" cy="251460"/>
          </a:xfrm>
          <a:prstGeom prst="rect">
            <a:avLst/>
          </a:prstGeom>
          <a:noFill/>
        </p:spPr>
        <p:txBody>
          <a:bodyPr wrap="none">
            <a:spAutoFit/>
          </a:bodyPr>
          <a:lstStyle/>
          <a:p>
            <a:pPr algn="ctr">
              <a:defRPr sz="1400" b="1">
                <a:solidFill>
                  <a:srgbClr val="FFFFFF"/>
                </a:solidFill>
              </a:defRPr>
            </a:pPr>
            <a:r>
              <a:t>3</a:t>
            </a:r>
          </a:p>
        </p:txBody>
      </p:sp>
      <p:sp>
        <p:nvSpPr>
          <p:cNvPr id="16" name="TextBox 15"/>
          <p:cNvSpPr txBox="1"/>
          <p:nvPr/>
        </p:nvSpPr>
        <p:spPr>
          <a:xfrm>
            <a:off x="2194560" y="3429000"/>
            <a:ext cx="8046720" cy="457200"/>
          </a:xfrm>
          <a:prstGeom prst="rect">
            <a:avLst/>
          </a:prstGeom>
          <a:noFill/>
        </p:spPr>
        <p:txBody>
          <a:bodyPr wrap="square">
            <a:spAutoFit/>
          </a:bodyPr>
          <a:lstStyle/>
          <a:p>
            <a:pPr algn="l">
              <a:defRPr sz="1800" b="0">
                <a:solidFill>
                  <a:srgbClr val="1A1A2E"/>
                </a:solidFill>
                <a:latin typeface="Calibri"/>
              </a:defRPr>
            </a:pPr>
            <a:r>
              <a:t>Identify: Problem, Users, Data, AI component, Backend, Database, Security, Testing</a:t>
            </a:r>
          </a:p>
        </p:txBody>
      </p:sp>
      <p:sp>
        <p:nvSpPr>
          <p:cNvPr id="17" name="Rectangle 16"/>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ACTIVITY: Should AI Make the Decision?</a:t>
            </a:r>
          </a:p>
        </p:txBody>
      </p:sp>
      <p:sp>
        <p:nvSpPr>
          <p:cNvPr id="5" name="Rounded Rectangle 4"/>
          <p:cNvSpPr/>
          <p:nvPr/>
        </p:nvSpPr>
        <p:spPr>
          <a:xfrm>
            <a:off x="1371600" y="1645920"/>
            <a:ext cx="9144000" cy="68580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554480" y="173736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54480" y="1863090"/>
            <a:ext cx="502920" cy="251460"/>
          </a:xfrm>
          <a:prstGeom prst="rect">
            <a:avLst/>
          </a:prstGeom>
          <a:noFill/>
        </p:spPr>
        <p:txBody>
          <a:bodyPr wrap="none">
            <a:spAutoFit/>
          </a:bodyPr>
          <a:lstStyle/>
          <a:p>
            <a:pPr algn="ctr">
              <a:defRPr sz="1400" b="1">
                <a:solidFill>
                  <a:srgbClr val="FFFFFF"/>
                </a:solidFill>
              </a:defRPr>
            </a:pPr>
            <a:r>
              <a:t>1</a:t>
            </a:r>
          </a:p>
        </p:txBody>
      </p:sp>
      <p:sp>
        <p:nvSpPr>
          <p:cNvPr id="8" name="TextBox 7"/>
          <p:cNvSpPr txBox="1"/>
          <p:nvPr/>
        </p:nvSpPr>
        <p:spPr>
          <a:xfrm>
            <a:off x="2194560" y="1783080"/>
            <a:ext cx="8046720" cy="457200"/>
          </a:xfrm>
          <a:prstGeom prst="rect">
            <a:avLst/>
          </a:prstGeom>
          <a:noFill/>
        </p:spPr>
        <p:txBody>
          <a:bodyPr wrap="square">
            <a:spAutoFit/>
          </a:bodyPr>
          <a:lstStyle/>
          <a:p>
            <a:pPr algn="l">
              <a:defRPr sz="1800" b="0">
                <a:solidFill>
                  <a:srgbClr val="1A1A2E"/>
                </a:solidFill>
                <a:latin typeface="Calibri"/>
              </a:defRPr>
            </a:pPr>
            <a:r>
              <a:t>A: AI recommends a movie. B: AI approves a bank loan.</a:t>
            </a:r>
          </a:p>
        </p:txBody>
      </p:sp>
      <p:sp>
        <p:nvSpPr>
          <p:cNvPr id="9" name="Rounded Rectangle 8"/>
          <p:cNvSpPr/>
          <p:nvPr/>
        </p:nvSpPr>
        <p:spPr>
          <a:xfrm>
            <a:off x="1371600" y="2468880"/>
            <a:ext cx="9144000" cy="68580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554480" y="256032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54480" y="2686050"/>
            <a:ext cx="502920" cy="251460"/>
          </a:xfrm>
          <a:prstGeom prst="rect">
            <a:avLst/>
          </a:prstGeom>
          <a:noFill/>
        </p:spPr>
        <p:txBody>
          <a:bodyPr wrap="none">
            <a:spAutoFit/>
          </a:bodyPr>
          <a:lstStyle/>
          <a:p>
            <a:pPr algn="ctr">
              <a:defRPr sz="1400" b="1">
                <a:solidFill>
                  <a:srgbClr val="FFFFFF"/>
                </a:solidFill>
              </a:defRPr>
            </a:pPr>
            <a:r>
              <a:t>2</a:t>
            </a:r>
          </a:p>
        </p:txBody>
      </p:sp>
      <p:sp>
        <p:nvSpPr>
          <p:cNvPr id="12" name="TextBox 11"/>
          <p:cNvSpPr txBox="1"/>
          <p:nvPr/>
        </p:nvSpPr>
        <p:spPr>
          <a:xfrm>
            <a:off x="2194560" y="2606040"/>
            <a:ext cx="8046720" cy="457200"/>
          </a:xfrm>
          <a:prstGeom prst="rect">
            <a:avLst/>
          </a:prstGeom>
          <a:noFill/>
        </p:spPr>
        <p:txBody>
          <a:bodyPr wrap="square">
            <a:spAutoFit/>
          </a:bodyPr>
          <a:lstStyle/>
          <a:p>
            <a:pPr algn="l">
              <a:defRPr sz="1800" b="0">
                <a:solidFill>
                  <a:srgbClr val="1A1A2E"/>
                </a:solidFill>
                <a:latin typeface="Calibri"/>
              </a:defRPr>
            </a:pPr>
            <a:r>
              <a:t>C: AI diagnoses a disease. D: AI sends an email.</a:t>
            </a:r>
          </a:p>
        </p:txBody>
      </p:sp>
      <p:sp>
        <p:nvSpPr>
          <p:cNvPr id="13" name="Rounded Rectangle 12"/>
          <p:cNvSpPr/>
          <p:nvPr/>
        </p:nvSpPr>
        <p:spPr>
          <a:xfrm>
            <a:off x="1371600" y="3291840"/>
            <a:ext cx="9144000" cy="68580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54480" y="338328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54480" y="3509010"/>
            <a:ext cx="502920" cy="251460"/>
          </a:xfrm>
          <a:prstGeom prst="rect">
            <a:avLst/>
          </a:prstGeom>
          <a:noFill/>
        </p:spPr>
        <p:txBody>
          <a:bodyPr wrap="none">
            <a:spAutoFit/>
          </a:bodyPr>
          <a:lstStyle/>
          <a:p>
            <a:pPr algn="ctr">
              <a:defRPr sz="1400" b="1">
                <a:solidFill>
                  <a:srgbClr val="FFFFFF"/>
                </a:solidFill>
              </a:defRPr>
            </a:pPr>
            <a:r>
              <a:t>3</a:t>
            </a:r>
          </a:p>
        </p:txBody>
      </p:sp>
      <p:sp>
        <p:nvSpPr>
          <p:cNvPr id="16" name="TextBox 15"/>
          <p:cNvSpPr txBox="1"/>
          <p:nvPr/>
        </p:nvSpPr>
        <p:spPr>
          <a:xfrm>
            <a:off x="2194560" y="3429000"/>
            <a:ext cx="8046720" cy="457200"/>
          </a:xfrm>
          <a:prstGeom prst="rect">
            <a:avLst/>
          </a:prstGeom>
          <a:noFill/>
        </p:spPr>
        <p:txBody>
          <a:bodyPr wrap="square">
            <a:spAutoFit/>
          </a:bodyPr>
          <a:lstStyle/>
          <a:p>
            <a:pPr algn="l">
              <a:defRPr sz="1800" b="0">
                <a:solidFill>
                  <a:srgbClr val="1A1A2E"/>
                </a:solidFill>
                <a:latin typeface="Calibri"/>
              </a:defRPr>
            </a:pPr>
            <a:r>
              <a:t>E: AI transfers money.</a:t>
            </a:r>
          </a:p>
        </p:txBody>
      </p:sp>
      <p:sp>
        <p:nvSpPr>
          <p:cNvPr id="17" name="Rounded Rectangle 16"/>
          <p:cNvSpPr/>
          <p:nvPr/>
        </p:nvSpPr>
        <p:spPr>
          <a:xfrm>
            <a:off x="1371600" y="4114800"/>
            <a:ext cx="9144000" cy="68580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554480" y="420624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54480" y="4331970"/>
            <a:ext cx="502920" cy="251460"/>
          </a:xfrm>
          <a:prstGeom prst="rect">
            <a:avLst/>
          </a:prstGeom>
          <a:noFill/>
        </p:spPr>
        <p:txBody>
          <a:bodyPr wrap="none">
            <a:spAutoFit/>
          </a:bodyPr>
          <a:lstStyle/>
          <a:p>
            <a:pPr algn="ctr">
              <a:defRPr sz="1400" b="1">
                <a:solidFill>
                  <a:srgbClr val="FFFFFF"/>
                </a:solidFill>
              </a:defRPr>
            </a:pPr>
            <a:r>
              <a:t>4</a:t>
            </a:r>
          </a:p>
        </p:txBody>
      </p:sp>
      <p:sp>
        <p:nvSpPr>
          <p:cNvPr id="20" name="TextBox 19"/>
          <p:cNvSpPr txBox="1"/>
          <p:nvPr/>
        </p:nvSpPr>
        <p:spPr>
          <a:xfrm>
            <a:off x="2194560" y="4251960"/>
            <a:ext cx="8046720" cy="457200"/>
          </a:xfrm>
          <a:prstGeom prst="rect">
            <a:avLst/>
          </a:prstGeom>
          <a:noFill/>
        </p:spPr>
        <p:txBody>
          <a:bodyPr wrap="square">
            <a:spAutoFit/>
          </a:bodyPr>
          <a:lstStyle/>
          <a:p>
            <a:pPr algn="l">
              <a:defRPr sz="1800" b="0">
                <a:solidFill>
                  <a:srgbClr val="1A1A2E"/>
                </a:solidFill>
                <a:latin typeface="Calibri"/>
              </a:defRPr>
            </a:pPr>
            <a:r>
              <a:t>Ask: Should AI act autonomously or require human approval? Why?</a:t>
            </a:r>
          </a:p>
        </p:txBody>
      </p:sp>
      <p:sp>
        <p:nvSpPr>
          <p:cNvPr id="21" name="Rectangle 20"/>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042"/>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SECTION 12 — MINI PROJECT</a:t>
            </a:r>
          </a:p>
        </p:txBody>
      </p:sp>
      <p:sp>
        <p:nvSpPr>
          <p:cNvPr id="5" name="Rounded Rectangle 4"/>
          <p:cNvSpPr/>
          <p:nvPr/>
        </p:nvSpPr>
        <p:spPr>
          <a:xfrm>
            <a:off x="1828800" y="1828800"/>
            <a:ext cx="8229600" cy="18288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2103120"/>
            <a:ext cx="8229600" cy="548640"/>
          </a:xfrm>
          <a:prstGeom prst="rect">
            <a:avLst/>
          </a:prstGeom>
          <a:noFill/>
        </p:spPr>
        <p:txBody>
          <a:bodyPr wrap="square">
            <a:spAutoFit/>
          </a:bodyPr>
          <a:lstStyle/>
          <a:p>
            <a:pPr algn="ctr">
              <a:defRPr sz="3200" b="1">
                <a:solidFill>
                  <a:srgbClr val="FFFFFF"/>
                </a:solidFill>
                <a:latin typeface="Calibri"/>
              </a:defRPr>
            </a:pPr>
            <a:r>
              <a:t>University AI Student Assistant</a:t>
            </a:r>
          </a:p>
        </p:txBody>
      </p:sp>
      <p:sp>
        <p:nvSpPr>
          <p:cNvPr id="7" name="TextBox 6"/>
          <p:cNvSpPr txBox="1"/>
          <p:nvPr/>
        </p:nvSpPr>
        <p:spPr>
          <a:xfrm>
            <a:off x="1828800" y="2743200"/>
            <a:ext cx="8229600" cy="731520"/>
          </a:xfrm>
          <a:prstGeom prst="rect">
            <a:avLst/>
          </a:prstGeom>
          <a:noFill/>
        </p:spPr>
        <p:txBody>
          <a:bodyPr wrap="square">
            <a:spAutoFit/>
          </a:bodyPr>
          <a:lstStyle/>
          <a:p>
            <a:pPr algn="ctr">
              <a:defRPr sz="2200" b="0">
                <a:solidFill>
                  <a:srgbClr val="FFFFFF"/>
                </a:solidFill>
                <a:latin typeface="Calibri"/>
              </a:defRPr>
            </a:pPr>
            <a:r>
              <a:t>Build a conceptual design for an AI-powered university assistant</a:t>
            </a:r>
          </a:p>
        </p:txBody>
      </p:sp>
      <p:sp>
        <p:nvSpPr>
          <p:cNvPr id="8" name="Rounded Rectangle 7"/>
          <p:cNvSpPr/>
          <p:nvPr/>
        </p:nvSpPr>
        <p:spPr>
          <a:xfrm>
            <a:off x="914400" y="4114800"/>
            <a:ext cx="1645920" cy="13716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572000"/>
            <a:ext cx="1645920" cy="457200"/>
          </a:xfrm>
          <a:prstGeom prst="rect">
            <a:avLst/>
          </a:prstGeom>
          <a:noFill/>
        </p:spPr>
        <p:txBody>
          <a:bodyPr wrap="square">
            <a:spAutoFit/>
          </a:bodyPr>
          <a:lstStyle/>
          <a:p>
            <a:pPr algn="ctr">
              <a:defRPr sz="1800" b="1">
                <a:solidFill>
                  <a:srgbClr val="FFFFFF"/>
                </a:solidFill>
                <a:latin typeface="Calibri"/>
              </a:defRPr>
            </a:pPr>
            <a:r>
              <a:t>Courses</a:t>
            </a:r>
          </a:p>
        </p:txBody>
      </p:sp>
      <p:sp>
        <p:nvSpPr>
          <p:cNvPr id="10" name="Rounded Rectangle 9"/>
          <p:cNvSpPr/>
          <p:nvPr/>
        </p:nvSpPr>
        <p:spPr>
          <a:xfrm>
            <a:off x="2743200" y="4114800"/>
            <a:ext cx="1645920" cy="13716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0" y="4572000"/>
            <a:ext cx="1645920" cy="457200"/>
          </a:xfrm>
          <a:prstGeom prst="rect">
            <a:avLst/>
          </a:prstGeom>
          <a:noFill/>
        </p:spPr>
        <p:txBody>
          <a:bodyPr wrap="square">
            <a:spAutoFit/>
          </a:bodyPr>
          <a:lstStyle/>
          <a:p>
            <a:pPr algn="ctr">
              <a:defRPr sz="1800" b="1">
                <a:solidFill>
                  <a:srgbClr val="FFFFFF"/>
                </a:solidFill>
                <a:latin typeface="Calibri"/>
              </a:defRPr>
            </a:pPr>
            <a:r>
              <a:t>Timetables</a:t>
            </a:r>
          </a:p>
        </p:txBody>
      </p:sp>
      <p:sp>
        <p:nvSpPr>
          <p:cNvPr id="12" name="Rounded Rectangle 11"/>
          <p:cNvSpPr/>
          <p:nvPr/>
        </p:nvSpPr>
        <p:spPr>
          <a:xfrm>
            <a:off x="4572000" y="4114800"/>
            <a:ext cx="1645920" cy="13716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4572000"/>
            <a:ext cx="1645920" cy="457200"/>
          </a:xfrm>
          <a:prstGeom prst="rect">
            <a:avLst/>
          </a:prstGeom>
          <a:noFill/>
        </p:spPr>
        <p:txBody>
          <a:bodyPr wrap="square">
            <a:spAutoFit/>
          </a:bodyPr>
          <a:lstStyle/>
          <a:p>
            <a:pPr algn="ctr">
              <a:defRPr sz="1800" b="1">
                <a:solidFill>
                  <a:srgbClr val="FFFFFF"/>
                </a:solidFill>
                <a:latin typeface="Calibri"/>
              </a:defRPr>
            </a:pPr>
            <a:r>
              <a:t>Exams</a:t>
            </a:r>
          </a:p>
        </p:txBody>
      </p:sp>
      <p:sp>
        <p:nvSpPr>
          <p:cNvPr id="14" name="Rounded Rectangle 13"/>
          <p:cNvSpPr/>
          <p:nvPr/>
        </p:nvSpPr>
        <p:spPr>
          <a:xfrm>
            <a:off x="6400800" y="4114800"/>
            <a:ext cx="1645920" cy="13716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4572000"/>
            <a:ext cx="1645920" cy="457200"/>
          </a:xfrm>
          <a:prstGeom prst="rect">
            <a:avLst/>
          </a:prstGeom>
          <a:noFill/>
        </p:spPr>
        <p:txBody>
          <a:bodyPr wrap="square">
            <a:spAutoFit/>
          </a:bodyPr>
          <a:lstStyle/>
          <a:p>
            <a:pPr algn="ctr">
              <a:defRPr sz="1800" b="1">
                <a:solidFill>
                  <a:srgbClr val="FFFFFF"/>
                </a:solidFill>
                <a:latin typeface="Calibri"/>
              </a:defRPr>
            </a:pPr>
            <a:r>
              <a:t>Policies</a:t>
            </a:r>
          </a:p>
        </p:txBody>
      </p:sp>
      <p:sp>
        <p:nvSpPr>
          <p:cNvPr id="16" name="Rounded Rectangle 15"/>
          <p:cNvSpPr/>
          <p:nvPr/>
        </p:nvSpPr>
        <p:spPr>
          <a:xfrm>
            <a:off x="8229600" y="4114800"/>
            <a:ext cx="1645920" cy="13716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4572000"/>
            <a:ext cx="1645920" cy="457200"/>
          </a:xfrm>
          <a:prstGeom prst="rect">
            <a:avLst/>
          </a:prstGeom>
          <a:noFill/>
        </p:spPr>
        <p:txBody>
          <a:bodyPr wrap="square">
            <a:spAutoFit/>
          </a:bodyPr>
          <a:lstStyle/>
          <a:p>
            <a:pPr algn="ctr">
              <a:defRPr sz="1800" b="1">
                <a:solidFill>
                  <a:srgbClr val="FFFFFF"/>
                </a:solidFill>
                <a:latin typeface="Calibri"/>
              </a:defRPr>
            </a:pPr>
            <a:r>
              <a:t>Faculty</a:t>
            </a:r>
          </a:p>
        </p:txBody>
      </p:sp>
      <p:sp>
        <p:nvSpPr>
          <p:cNvPr id="18" name="Rounded Rectangle 17"/>
          <p:cNvSpPr/>
          <p:nvPr/>
        </p:nvSpPr>
        <p:spPr>
          <a:xfrm>
            <a:off x="10058400" y="4114800"/>
            <a:ext cx="1645920" cy="13716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0" y="4572000"/>
            <a:ext cx="1645920" cy="457200"/>
          </a:xfrm>
          <a:prstGeom prst="rect">
            <a:avLst/>
          </a:prstGeom>
          <a:noFill/>
        </p:spPr>
        <p:txBody>
          <a:bodyPr wrap="square">
            <a:spAutoFit/>
          </a:bodyPr>
          <a:lstStyle/>
          <a:p>
            <a:pPr algn="ctr">
              <a:defRPr sz="1800" b="1">
                <a:solidFill>
                  <a:srgbClr val="FFFFFF"/>
                </a:solidFill>
                <a:latin typeface="Calibri"/>
              </a:defRPr>
            </a:pPr>
            <a:r>
              <a:t>Departments</a:t>
            </a:r>
          </a:p>
        </p:txBody>
      </p:sp>
      <p:sp>
        <p:nvSpPr>
          <p:cNvPr id="20" name="Rectangle 19"/>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Project Architecture</a:t>
            </a:r>
          </a:p>
        </p:txBody>
      </p:sp>
      <p:sp>
        <p:nvSpPr>
          <p:cNvPr id="5" name="Rounded Rectangle 4"/>
          <p:cNvSpPr/>
          <p:nvPr/>
        </p:nvSpPr>
        <p:spPr>
          <a:xfrm>
            <a:off x="4434840" y="1280160"/>
            <a:ext cx="3200400" cy="54864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34840" y="1280160"/>
            <a:ext cx="3200400" cy="548640"/>
          </a:xfrm>
          <a:prstGeom prst="rect">
            <a:avLst/>
          </a:prstGeom>
          <a:noFill/>
        </p:spPr>
        <p:txBody>
          <a:bodyPr wrap="square">
            <a:spAutoFit/>
          </a:bodyPr>
          <a:lstStyle/>
          <a:p>
            <a:pPr algn="ctr">
              <a:defRPr sz="1700" b="1">
                <a:solidFill>
                  <a:srgbClr val="FFFFFF"/>
                </a:solidFill>
                <a:latin typeface="Calibri"/>
              </a:defRPr>
            </a:pPr>
            <a:r>
              <a:t>Student</a:t>
            </a:r>
          </a:p>
        </p:txBody>
      </p:sp>
      <p:sp>
        <p:nvSpPr>
          <p:cNvPr id="7" name="Down Arrow 6"/>
          <p:cNvSpPr/>
          <p:nvPr/>
        </p:nvSpPr>
        <p:spPr>
          <a:xfrm>
            <a:off x="5897880" y="18288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434840" y="1938528"/>
            <a:ext cx="3200400" cy="54864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1938528"/>
            <a:ext cx="3200400" cy="548640"/>
          </a:xfrm>
          <a:prstGeom prst="rect">
            <a:avLst/>
          </a:prstGeom>
          <a:noFill/>
        </p:spPr>
        <p:txBody>
          <a:bodyPr wrap="square">
            <a:spAutoFit/>
          </a:bodyPr>
          <a:lstStyle/>
          <a:p>
            <a:pPr algn="ctr">
              <a:defRPr sz="1700" b="1">
                <a:solidFill>
                  <a:srgbClr val="FFFFFF"/>
                </a:solidFill>
                <a:latin typeface="Calibri"/>
              </a:defRPr>
            </a:pPr>
            <a:r>
              <a:t>Web / Mobile UI</a:t>
            </a:r>
          </a:p>
        </p:txBody>
      </p:sp>
      <p:sp>
        <p:nvSpPr>
          <p:cNvPr id="10" name="Down Arrow 9"/>
          <p:cNvSpPr/>
          <p:nvPr/>
        </p:nvSpPr>
        <p:spPr>
          <a:xfrm>
            <a:off x="5897880" y="2487168"/>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434840" y="2596896"/>
            <a:ext cx="3200400" cy="54864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596896"/>
            <a:ext cx="3200400" cy="548640"/>
          </a:xfrm>
          <a:prstGeom prst="rect">
            <a:avLst/>
          </a:prstGeom>
          <a:noFill/>
        </p:spPr>
        <p:txBody>
          <a:bodyPr wrap="square">
            <a:spAutoFit/>
          </a:bodyPr>
          <a:lstStyle/>
          <a:p>
            <a:pPr algn="ctr">
              <a:defRPr sz="1700" b="1">
                <a:solidFill>
                  <a:srgbClr val="FFFFFF"/>
                </a:solidFill>
                <a:latin typeface="Calibri"/>
              </a:defRPr>
            </a:pPr>
            <a:r>
              <a:t>Backend API</a:t>
            </a:r>
          </a:p>
        </p:txBody>
      </p:sp>
      <p:sp>
        <p:nvSpPr>
          <p:cNvPr id="13" name="Down Arrow 12"/>
          <p:cNvSpPr/>
          <p:nvPr/>
        </p:nvSpPr>
        <p:spPr>
          <a:xfrm>
            <a:off x="5897880" y="3145536"/>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434840" y="3255264"/>
            <a:ext cx="3200400" cy="5486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3255264"/>
            <a:ext cx="3200400" cy="548640"/>
          </a:xfrm>
          <a:prstGeom prst="rect">
            <a:avLst/>
          </a:prstGeom>
          <a:noFill/>
        </p:spPr>
        <p:txBody>
          <a:bodyPr wrap="square">
            <a:spAutoFit/>
          </a:bodyPr>
          <a:lstStyle/>
          <a:p>
            <a:pPr algn="ctr">
              <a:defRPr sz="1700" b="1">
                <a:solidFill>
                  <a:srgbClr val="FFFFFF"/>
                </a:solidFill>
                <a:latin typeface="Calibri"/>
              </a:defRPr>
            </a:pPr>
            <a:r>
              <a:t>Authentication</a:t>
            </a:r>
          </a:p>
        </p:txBody>
      </p:sp>
      <p:sp>
        <p:nvSpPr>
          <p:cNvPr id="16" name="Down Arrow 15"/>
          <p:cNvSpPr/>
          <p:nvPr/>
        </p:nvSpPr>
        <p:spPr>
          <a:xfrm>
            <a:off x="5897880" y="3803904"/>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34840" y="3913632"/>
            <a:ext cx="3200400" cy="54864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3913632"/>
            <a:ext cx="3200400" cy="548640"/>
          </a:xfrm>
          <a:prstGeom prst="rect">
            <a:avLst/>
          </a:prstGeom>
          <a:noFill/>
        </p:spPr>
        <p:txBody>
          <a:bodyPr wrap="square">
            <a:spAutoFit/>
          </a:bodyPr>
          <a:lstStyle/>
          <a:p>
            <a:pPr algn="ctr">
              <a:defRPr sz="1700" b="1">
                <a:solidFill>
                  <a:srgbClr val="FFFFFF"/>
                </a:solidFill>
                <a:latin typeface="Calibri"/>
              </a:defRPr>
            </a:pPr>
            <a:r>
              <a:t>RAG Pipeline</a:t>
            </a:r>
          </a:p>
        </p:txBody>
      </p:sp>
      <p:sp>
        <p:nvSpPr>
          <p:cNvPr id="19" name="Down Arrow 18"/>
          <p:cNvSpPr/>
          <p:nvPr/>
        </p:nvSpPr>
        <p:spPr>
          <a:xfrm>
            <a:off x="5897880" y="4462272"/>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434840" y="4572000"/>
            <a:ext cx="3200400" cy="54864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4840" y="4572000"/>
            <a:ext cx="3200400" cy="548640"/>
          </a:xfrm>
          <a:prstGeom prst="rect">
            <a:avLst/>
          </a:prstGeom>
          <a:noFill/>
        </p:spPr>
        <p:txBody>
          <a:bodyPr wrap="square">
            <a:spAutoFit/>
          </a:bodyPr>
          <a:lstStyle/>
          <a:p>
            <a:pPr algn="ctr">
              <a:defRPr sz="1700" b="1">
                <a:solidFill>
                  <a:srgbClr val="FFFFFF"/>
                </a:solidFill>
                <a:latin typeface="Calibri"/>
              </a:defRPr>
            </a:pPr>
            <a:r>
              <a:t>Vector Database</a:t>
            </a:r>
          </a:p>
        </p:txBody>
      </p:sp>
      <p:sp>
        <p:nvSpPr>
          <p:cNvPr id="22" name="Down Arrow 21"/>
          <p:cNvSpPr/>
          <p:nvPr/>
        </p:nvSpPr>
        <p:spPr>
          <a:xfrm>
            <a:off x="5897880" y="512064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434840" y="5230368"/>
            <a:ext cx="3200400" cy="54864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34840" y="5230368"/>
            <a:ext cx="3200400" cy="548640"/>
          </a:xfrm>
          <a:prstGeom prst="rect">
            <a:avLst/>
          </a:prstGeom>
          <a:noFill/>
        </p:spPr>
        <p:txBody>
          <a:bodyPr wrap="square">
            <a:spAutoFit/>
          </a:bodyPr>
          <a:lstStyle/>
          <a:p>
            <a:pPr algn="ctr">
              <a:defRPr sz="1700" b="1">
                <a:solidFill>
                  <a:srgbClr val="FFFFFF"/>
                </a:solidFill>
                <a:latin typeface="Calibri"/>
              </a:defRPr>
            </a:pPr>
            <a:r>
              <a:t>LLM</a:t>
            </a:r>
          </a:p>
        </p:txBody>
      </p:sp>
      <p:sp>
        <p:nvSpPr>
          <p:cNvPr id="25" name="Down Arrow 24"/>
          <p:cNvSpPr/>
          <p:nvPr/>
        </p:nvSpPr>
        <p:spPr>
          <a:xfrm>
            <a:off x="5897880" y="5779008"/>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434840" y="5888736"/>
            <a:ext cx="3200400" cy="548640"/>
          </a:xfrm>
          <a:prstGeom prst="roundRect">
            <a:avLst>
              <a:gd name="adj" fmla="val 10000"/>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34840" y="5888736"/>
            <a:ext cx="3200400" cy="548640"/>
          </a:xfrm>
          <a:prstGeom prst="rect">
            <a:avLst/>
          </a:prstGeom>
          <a:noFill/>
        </p:spPr>
        <p:txBody>
          <a:bodyPr wrap="square">
            <a:spAutoFit/>
          </a:bodyPr>
          <a:lstStyle/>
          <a:p>
            <a:pPr algn="ctr">
              <a:defRPr sz="1700" b="1">
                <a:solidFill>
                  <a:srgbClr val="FFFFFF"/>
                </a:solidFill>
                <a:latin typeface="Calibri"/>
              </a:defRPr>
            </a:pPr>
            <a:r>
              <a:t>University Knowledge Base</a:t>
            </a:r>
          </a:p>
        </p:txBody>
      </p:sp>
      <p:sp>
        <p:nvSpPr>
          <p:cNvPr id="28" name="Rectangle 27"/>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83</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Project Requirements</a:t>
            </a:r>
          </a:p>
        </p:txBody>
      </p:sp>
      <p:sp>
        <p:nvSpPr>
          <p:cNvPr id="5" name="Rounded Rectangle 4"/>
          <p:cNvSpPr/>
          <p:nvPr/>
        </p:nvSpPr>
        <p:spPr>
          <a:xfrm>
            <a:off x="731520" y="1463040"/>
            <a:ext cx="5029200" cy="47548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54480"/>
            <a:ext cx="5029200" cy="457200"/>
          </a:xfrm>
          <a:prstGeom prst="rect">
            <a:avLst/>
          </a:prstGeom>
          <a:noFill/>
        </p:spPr>
        <p:txBody>
          <a:bodyPr wrap="square">
            <a:spAutoFit/>
          </a:bodyPr>
          <a:lstStyle/>
          <a:p>
            <a:pPr algn="ctr">
              <a:defRPr sz="2200" b="1">
                <a:solidFill>
                  <a:srgbClr val="FFFFFF"/>
                </a:solidFill>
                <a:latin typeface="Calibri"/>
              </a:defRPr>
            </a:pPr>
            <a:r>
              <a:t>FUNCTIONAL REQUIREMENTS</a:t>
            </a:r>
          </a:p>
        </p:txBody>
      </p:sp>
      <p:sp>
        <p:nvSpPr>
          <p:cNvPr id="7" name="TextBox 6"/>
          <p:cNvSpPr txBox="1"/>
          <p:nvPr/>
        </p:nvSpPr>
        <p:spPr>
          <a:xfrm>
            <a:off x="1188720" y="2286000"/>
            <a:ext cx="4114800" cy="365760"/>
          </a:xfrm>
          <a:prstGeom prst="rect">
            <a:avLst/>
          </a:prstGeom>
          <a:noFill/>
        </p:spPr>
        <p:txBody>
          <a:bodyPr wrap="square">
            <a:spAutoFit/>
          </a:bodyPr>
          <a:lstStyle/>
          <a:p>
            <a:pPr algn="l">
              <a:defRPr sz="1300" b="0">
                <a:solidFill>
                  <a:srgbClr val="FFFFFF"/>
                </a:solidFill>
                <a:latin typeface="Calibri"/>
              </a:defRPr>
            </a:pPr>
            <a:r>
              <a:t>• Student can ask questions</a:t>
            </a:r>
          </a:p>
        </p:txBody>
      </p:sp>
      <p:sp>
        <p:nvSpPr>
          <p:cNvPr id="8" name="TextBox 7"/>
          <p:cNvSpPr txBox="1"/>
          <p:nvPr/>
        </p:nvSpPr>
        <p:spPr>
          <a:xfrm>
            <a:off x="1188720" y="2926080"/>
            <a:ext cx="4114800" cy="365760"/>
          </a:xfrm>
          <a:prstGeom prst="rect">
            <a:avLst/>
          </a:prstGeom>
          <a:noFill/>
        </p:spPr>
        <p:txBody>
          <a:bodyPr wrap="square">
            <a:spAutoFit/>
          </a:bodyPr>
          <a:lstStyle/>
          <a:p>
            <a:pPr algn="l">
              <a:defRPr sz="1300" b="0">
                <a:solidFill>
                  <a:srgbClr val="FFFFFF"/>
                </a:solidFill>
                <a:latin typeface="Calibri"/>
              </a:defRPr>
            </a:pPr>
            <a:r>
              <a:t>• System retrieves relevant information</a:t>
            </a:r>
          </a:p>
        </p:txBody>
      </p:sp>
      <p:sp>
        <p:nvSpPr>
          <p:cNvPr id="9" name="TextBox 8"/>
          <p:cNvSpPr txBox="1"/>
          <p:nvPr/>
        </p:nvSpPr>
        <p:spPr>
          <a:xfrm>
            <a:off x="1188720" y="3566160"/>
            <a:ext cx="4114800" cy="365760"/>
          </a:xfrm>
          <a:prstGeom prst="rect">
            <a:avLst/>
          </a:prstGeom>
          <a:noFill/>
        </p:spPr>
        <p:txBody>
          <a:bodyPr wrap="square">
            <a:spAutoFit/>
          </a:bodyPr>
          <a:lstStyle/>
          <a:p>
            <a:pPr algn="l">
              <a:defRPr sz="1300" b="0">
                <a:solidFill>
                  <a:srgbClr val="FFFFFF"/>
                </a:solidFill>
                <a:latin typeface="Calibri"/>
              </a:defRPr>
            </a:pPr>
            <a:r>
              <a:t>• AI generates an answer</a:t>
            </a:r>
          </a:p>
        </p:txBody>
      </p:sp>
      <p:sp>
        <p:nvSpPr>
          <p:cNvPr id="10" name="TextBox 9"/>
          <p:cNvSpPr txBox="1"/>
          <p:nvPr/>
        </p:nvSpPr>
        <p:spPr>
          <a:xfrm>
            <a:off x="1188720" y="4206240"/>
            <a:ext cx="4114800" cy="365760"/>
          </a:xfrm>
          <a:prstGeom prst="rect">
            <a:avLst/>
          </a:prstGeom>
          <a:noFill/>
        </p:spPr>
        <p:txBody>
          <a:bodyPr wrap="square">
            <a:spAutoFit/>
          </a:bodyPr>
          <a:lstStyle/>
          <a:p>
            <a:pPr algn="l">
              <a:defRPr sz="1300" b="0">
                <a:solidFill>
                  <a:srgbClr val="FFFFFF"/>
                </a:solidFill>
                <a:latin typeface="Calibri"/>
              </a:defRPr>
            </a:pPr>
            <a:r>
              <a:t>• Student can view conversation history</a:t>
            </a:r>
          </a:p>
        </p:txBody>
      </p:sp>
      <p:sp>
        <p:nvSpPr>
          <p:cNvPr id="11" name="TextBox 10"/>
          <p:cNvSpPr txBox="1"/>
          <p:nvPr/>
        </p:nvSpPr>
        <p:spPr>
          <a:xfrm>
            <a:off x="1188720" y="4846320"/>
            <a:ext cx="4114800" cy="365760"/>
          </a:xfrm>
          <a:prstGeom prst="rect">
            <a:avLst/>
          </a:prstGeom>
          <a:noFill/>
        </p:spPr>
        <p:txBody>
          <a:bodyPr wrap="square">
            <a:spAutoFit/>
          </a:bodyPr>
          <a:lstStyle/>
          <a:p>
            <a:pPr algn="l">
              <a:defRPr sz="1300" b="0">
                <a:solidFill>
                  <a:srgbClr val="FFFFFF"/>
                </a:solidFill>
                <a:latin typeface="Calibri"/>
              </a:defRPr>
            </a:pPr>
            <a:r>
              <a:t>• System records feedback</a:t>
            </a:r>
          </a:p>
        </p:txBody>
      </p:sp>
      <p:sp>
        <p:nvSpPr>
          <p:cNvPr id="12" name="Rounded Rectangle 11"/>
          <p:cNvSpPr/>
          <p:nvPr/>
        </p:nvSpPr>
        <p:spPr>
          <a:xfrm>
            <a:off x="6400800" y="1463040"/>
            <a:ext cx="5029200" cy="47548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554480"/>
            <a:ext cx="5029200" cy="457200"/>
          </a:xfrm>
          <a:prstGeom prst="rect">
            <a:avLst/>
          </a:prstGeom>
          <a:noFill/>
        </p:spPr>
        <p:txBody>
          <a:bodyPr wrap="square">
            <a:spAutoFit/>
          </a:bodyPr>
          <a:lstStyle/>
          <a:p>
            <a:pPr algn="ctr">
              <a:defRPr sz="2000" b="1">
                <a:solidFill>
                  <a:srgbClr val="FFFFFF"/>
                </a:solidFill>
                <a:latin typeface="Calibri"/>
              </a:defRPr>
            </a:pPr>
            <a:r>
              <a:t>NON-FUNCTIONAL REQUIREMENTS</a:t>
            </a:r>
          </a:p>
        </p:txBody>
      </p:sp>
      <p:sp>
        <p:nvSpPr>
          <p:cNvPr id="14" name="TextBox 13"/>
          <p:cNvSpPr txBox="1"/>
          <p:nvPr/>
        </p:nvSpPr>
        <p:spPr>
          <a:xfrm>
            <a:off x="6858000" y="2286000"/>
            <a:ext cx="4114800" cy="365760"/>
          </a:xfrm>
          <a:prstGeom prst="rect">
            <a:avLst/>
          </a:prstGeom>
          <a:noFill/>
        </p:spPr>
        <p:txBody>
          <a:bodyPr wrap="square">
            <a:spAutoFit/>
          </a:bodyPr>
          <a:lstStyle/>
          <a:p>
            <a:pPr algn="l">
              <a:defRPr sz="1800" b="0">
                <a:solidFill>
                  <a:srgbClr val="FFFFFF"/>
                </a:solidFill>
                <a:latin typeface="Calibri"/>
              </a:defRPr>
            </a:pPr>
            <a:r>
              <a:t>• Secure</a:t>
            </a:r>
          </a:p>
        </p:txBody>
      </p:sp>
      <p:sp>
        <p:nvSpPr>
          <p:cNvPr id="15" name="TextBox 14"/>
          <p:cNvSpPr txBox="1"/>
          <p:nvPr/>
        </p:nvSpPr>
        <p:spPr>
          <a:xfrm>
            <a:off x="6858000" y="2926080"/>
            <a:ext cx="4114800" cy="365760"/>
          </a:xfrm>
          <a:prstGeom prst="rect">
            <a:avLst/>
          </a:prstGeom>
          <a:noFill/>
        </p:spPr>
        <p:txBody>
          <a:bodyPr wrap="square">
            <a:spAutoFit/>
          </a:bodyPr>
          <a:lstStyle/>
          <a:p>
            <a:pPr algn="l">
              <a:defRPr sz="1800" b="0">
                <a:solidFill>
                  <a:srgbClr val="FFFFFF"/>
                </a:solidFill>
                <a:latin typeface="Calibri"/>
              </a:defRPr>
            </a:pPr>
            <a:r>
              <a:t>• Reliable</a:t>
            </a:r>
          </a:p>
        </p:txBody>
      </p:sp>
      <p:sp>
        <p:nvSpPr>
          <p:cNvPr id="16" name="TextBox 15"/>
          <p:cNvSpPr txBox="1"/>
          <p:nvPr/>
        </p:nvSpPr>
        <p:spPr>
          <a:xfrm>
            <a:off x="6858000" y="3566160"/>
            <a:ext cx="4114800" cy="365760"/>
          </a:xfrm>
          <a:prstGeom prst="rect">
            <a:avLst/>
          </a:prstGeom>
          <a:noFill/>
        </p:spPr>
        <p:txBody>
          <a:bodyPr wrap="square">
            <a:spAutoFit/>
          </a:bodyPr>
          <a:lstStyle/>
          <a:p>
            <a:pPr algn="l">
              <a:defRPr sz="1800" b="0">
                <a:solidFill>
                  <a:srgbClr val="FFFFFF"/>
                </a:solidFill>
                <a:latin typeface="Calibri"/>
              </a:defRPr>
            </a:pPr>
            <a:r>
              <a:t>• Scalable</a:t>
            </a:r>
          </a:p>
        </p:txBody>
      </p:sp>
      <p:sp>
        <p:nvSpPr>
          <p:cNvPr id="17" name="TextBox 16"/>
          <p:cNvSpPr txBox="1"/>
          <p:nvPr/>
        </p:nvSpPr>
        <p:spPr>
          <a:xfrm>
            <a:off x="6858000" y="4206240"/>
            <a:ext cx="4114800" cy="365760"/>
          </a:xfrm>
          <a:prstGeom prst="rect">
            <a:avLst/>
          </a:prstGeom>
          <a:noFill/>
        </p:spPr>
        <p:txBody>
          <a:bodyPr wrap="square">
            <a:spAutoFit/>
          </a:bodyPr>
          <a:lstStyle/>
          <a:p>
            <a:pPr algn="l">
              <a:defRPr sz="1800" b="0">
                <a:solidFill>
                  <a:srgbClr val="FFFFFF"/>
                </a:solidFill>
                <a:latin typeface="Calibri"/>
              </a:defRPr>
            </a:pPr>
            <a:r>
              <a:t>• Maintainable</a:t>
            </a:r>
          </a:p>
        </p:txBody>
      </p:sp>
      <p:sp>
        <p:nvSpPr>
          <p:cNvPr id="18" name="TextBox 17"/>
          <p:cNvSpPr txBox="1"/>
          <p:nvPr/>
        </p:nvSpPr>
        <p:spPr>
          <a:xfrm>
            <a:off x="6858000" y="4846320"/>
            <a:ext cx="4114800" cy="365760"/>
          </a:xfrm>
          <a:prstGeom prst="rect">
            <a:avLst/>
          </a:prstGeom>
          <a:noFill/>
        </p:spPr>
        <p:txBody>
          <a:bodyPr wrap="square">
            <a:spAutoFit/>
          </a:bodyPr>
          <a:lstStyle/>
          <a:p>
            <a:pPr algn="l">
              <a:defRPr sz="1800" b="0">
                <a:solidFill>
                  <a:srgbClr val="FFFFFF"/>
                </a:solidFill>
                <a:latin typeface="Calibri"/>
              </a:defRPr>
            </a:pPr>
            <a:r>
              <a:t>• Fast</a:t>
            </a:r>
          </a:p>
        </p:txBody>
      </p:sp>
      <p:sp>
        <p:nvSpPr>
          <p:cNvPr id="19" name="Rectangle 18"/>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84</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84"/>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Final Challenge</a:t>
            </a:r>
          </a:p>
        </p:txBody>
      </p:sp>
      <p:sp>
        <p:nvSpPr>
          <p:cNvPr id="5" name="TextBox 4"/>
          <p:cNvSpPr txBox="1"/>
          <p:nvPr/>
        </p:nvSpPr>
        <p:spPr>
          <a:xfrm>
            <a:off x="914400" y="1371600"/>
            <a:ext cx="10058400" cy="457200"/>
          </a:xfrm>
          <a:prstGeom prst="rect">
            <a:avLst/>
          </a:prstGeom>
          <a:noFill/>
        </p:spPr>
        <p:txBody>
          <a:bodyPr wrap="square">
            <a:spAutoFit/>
          </a:bodyPr>
          <a:lstStyle/>
          <a:p>
            <a:pPr algn="ctr">
              <a:defRPr sz="2400" b="1">
                <a:solidFill>
                  <a:srgbClr val="1A3A5C"/>
                </a:solidFill>
                <a:latin typeface="Calibri"/>
              </a:defRPr>
            </a:pPr>
            <a:r>
              <a:t>"You have one semester to build this system. What will you do first?"</a:t>
            </a:r>
          </a:p>
        </p:txBody>
      </p:sp>
      <p:sp>
        <p:nvSpPr>
          <p:cNvPr id="6" name="Rounded Rectangle 5"/>
          <p:cNvSpPr/>
          <p:nvPr/>
        </p:nvSpPr>
        <p:spPr>
          <a:xfrm>
            <a:off x="4434840" y="2011680"/>
            <a:ext cx="3200400" cy="438912"/>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34840" y="2011680"/>
            <a:ext cx="3200400" cy="438912"/>
          </a:xfrm>
          <a:prstGeom prst="rect">
            <a:avLst/>
          </a:prstGeom>
          <a:noFill/>
        </p:spPr>
        <p:txBody>
          <a:bodyPr wrap="square">
            <a:spAutoFit/>
          </a:bodyPr>
          <a:lstStyle/>
          <a:p>
            <a:pPr algn="ctr">
              <a:defRPr sz="1700" b="1">
                <a:solidFill>
                  <a:srgbClr val="FFFFFF"/>
                </a:solidFill>
                <a:latin typeface="Calibri"/>
              </a:defRPr>
            </a:pPr>
            <a:r>
              <a:t>Problem</a:t>
            </a:r>
          </a:p>
        </p:txBody>
      </p:sp>
      <p:sp>
        <p:nvSpPr>
          <p:cNvPr id="8" name="Down Arrow 7"/>
          <p:cNvSpPr/>
          <p:nvPr/>
        </p:nvSpPr>
        <p:spPr>
          <a:xfrm>
            <a:off x="5897880" y="2450592"/>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434840" y="2505456"/>
            <a:ext cx="3200400" cy="438912"/>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34840" y="2505456"/>
            <a:ext cx="3200400" cy="438912"/>
          </a:xfrm>
          <a:prstGeom prst="rect">
            <a:avLst/>
          </a:prstGeom>
          <a:noFill/>
        </p:spPr>
        <p:txBody>
          <a:bodyPr wrap="square">
            <a:spAutoFit/>
          </a:bodyPr>
          <a:lstStyle/>
          <a:p>
            <a:pPr algn="ctr">
              <a:defRPr sz="1700" b="1">
                <a:solidFill>
                  <a:srgbClr val="FFFFFF"/>
                </a:solidFill>
                <a:latin typeface="Calibri"/>
              </a:defRPr>
            </a:pPr>
            <a:r>
              <a:t>Stakeholders</a:t>
            </a:r>
          </a:p>
        </p:txBody>
      </p:sp>
      <p:sp>
        <p:nvSpPr>
          <p:cNvPr id="11" name="Down Arrow 10"/>
          <p:cNvSpPr/>
          <p:nvPr/>
        </p:nvSpPr>
        <p:spPr>
          <a:xfrm>
            <a:off x="5897880" y="2944368"/>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434840" y="2999232"/>
            <a:ext cx="3200400" cy="438912"/>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4840" y="2999232"/>
            <a:ext cx="3200400" cy="438912"/>
          </a:xfrm>
          <a:prstGeom prst="rect">
            <a:avLst/>
          </a:prstGeom>
          <a:noFill/>
        </p:spPr>
        <p:txBody>
          <a:bodyPr wrap="square">
            <a:spAutoFit/>
          </a:bodyPr>
          <a:lstStyle/>
          <a:p>
            <a:pPr algn="ctr">
              <a:defRPr sz="1700" b="1">
                <a:solidFill>
                  <a:srgbClr val="FFFFFF"/>
                </a:solidFill>
                <a:latin typeface="Calibri"/>
              </a:defRPr>
            </a:pPr>
            <a:r>
              <a:t>Requirements</a:t>
            </a:r>
          </a:p>
        </p:txBody>
      </p:sp>
      <p:sp>
        <p:nvSpPr>
          <p:cNvPr id="14" name="Down Arrow 13"/>
          <p:cNvSpPr/>
          <p:nvPr/>
        </p:nvSpPr>
        <p:spPr>
          <a:xfrm>
            <a:off x="5897880" y="3438144"/>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34840" y="3493008"/>
            <a:ext cx="3200400" cy="438912"/>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3493008"/>
            <a:ext cx="3200400" cy="438912"/>
          </a:xfrm>
          <a:prstGeom prst="rect">
            <a:avLst/>
          </a:prstGeom>
          <a:noFill/>
        </p:spPr>
        <p:txBody>
          <a:bodyPr wrap="square">
            <a:spAutoFit/>
          </a:bodyPr>
          <a:lstStyle/>
          <a:p>
            <a:pPr algn="ctr">
              <a:defRPr sz="1700" b="1">
                <a:solidFill>
                  <a:srgbClr val="FFFFFF"/>
                </a:solidFill>
                <a:latin typeface="Calibri"/>
              </a:defRPr>
            </a:pPr>
            <a:r>
              <a:t>Architecture</a:t>
            </a:r>
          </a:p>
        </p:txBody>
      </p:sp>
      <p:sp>
        <p:nvSpPr>
          <p:cNvPr id="17" name="Down Arrow 16"/>
          <p:cNvSpPr/>
          <p:nvPr/>
        </p:nvSpPr>
        <p:spPr>
          <a:xfrm>
            <a:off x="5897880" y="393192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434840" y="3986784"/>
            <a:ext cx="3200400" cy="438912"/>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34840" y="3986784"/>
            <a:ext cx="3200400" cy="438912"/>
          </a:xfrm>
          <a:prstGeom prst="rect">
            <a:avLst/>
          </a:prstGeom>
          <a:noFill/>
        </p:spPr>
        <p:txBody>
          <a:bodyPr wrap="square">
            <a:spAutoFit/>
          </a:bodyPr>
          <a:lstStyle/>
          <a:p>
            <a:pPr algn="ctr">
              <a:defRPr sz="1700" b="1">
                <a:solidFill>
                  <a:srgbClr val="FFFFFF"/>
                </a:solidFill>
                <a:latin typeface="Calibri"/>
              </a:defRPr>
            </a:pPr>
            <a:r>
              <a:rPr dirty="0"/>
              <a:t>Technology Selection</a:t>
            </a:r>
          </a:p>
        </p:txBody>
      </p:sp>
      <p:sp>
        <p:nvSpPr>
          <p:cNvPr id="20" name="Down Arrow 19"/>
          <p:cNvSpPr/>
          <p:nvPr/>
        </p:nvSpPr>
        <p:spPr>
          <a:xfrm>
            <a:off x="5897880" y="4425696"/>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434840" y="4480560"/>
            <a:ext cx="3200400" cy="438912"/>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34840" y="4480560"/>
            <a:ext cx="3200400" cy="438912"/>
          </a:xfrm>
          <a:prstGeom prst="rect">
            <a:avLst/>
          </a:prstGeom>
          <a:noFill/>
        </p:spPr>
        <p:txBody>
          <a:bodyPr wrap="square">
            <a:spAutoFit/>
          </a:bodyPr>
          <a:lstStyle/>
          <a:p>
            <a:pPr algn="ctr">
              <a:defRPr sz="1700" b="1">
                <a:solidFill>
                  <a:srgbClr val="FFFFFF"/>
                </a:solidFill>
                <a:latin typeface="Calibri"/>
              </a:defRPr>
            </a:pPr>
            <a:r>
              <a:t>Implementation</a:t>
            </a:r>
          </a:p>
        </p:txBody>
      </p:sp>
      <p:sp>
        <p:nvSpPr>
          <p:cNvPr id="23" name="Down Arrow 22"/>
          <p:cNvSpPr/>
          <p:nvPr/>
        </p:nvSpPr>
        <p:spPr>
          <a:xfrm>
            <a:off x="5897880" y="4919472"/>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434840" y="4974336"/>
            <a:ext cx="3200400" cy="438912"/>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4974336"/>
            <a:ext cx="3200400" cy="438912"/>
          </a:xfrm>
          <a:prstGeom prst="rect">
            <a:avLst/>
          </a:prstGeom>
          <a:noFill/>
        </p:spPr>
        <p:txBody>
          <a:bodyPr wrap="square">
            <a:spAutoFit/>
          </a:bodyPr>
          <a:lstStyle/>
          <a:p>
            <a:pPr algn="ctr">
              <a:defRPr sz="1700" b="1">
                <a:solidFill>
                  <a:srgbClr val="FFFFFF"/>
                </a:solidFill>
                <a:latin typeface="Calibri"/>
              </a:defRPr>
            </a:pPr>
            <a:r>
              <a:t>Testing</a:t>
            </a:r>
          </a:p>
        </p:txBody>
      </p:sp>
      <p:sp>
        <p:nvSpPr>
          <p:cNvPr id="26" name="Down Arrow 25"/>
          <p:cNvSpPr/>
          <p:nvPr/>
        </p:nvSpPr>
        <p:spPr>
          <a:xfrm>
            <a:off x="5897880" y="5413248"/>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434840" y="5468112"/>
            <a:ext cx="3200400" cy="438912"/>
          </a:xfrm>
          <a:prstGeom prst="roundRect">
            <a:avLst>
              <a:gd name="adj" fmla="val 10000"/>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34840" y="5468112"/>
            <a:ext cx="3200400" cy="438912"/>
          </a:xfrm>
          <a:prstGeom prst="rect">
            <a:avLst/>
          </a:prstGeom>
          <a:noFill/>
        </p:spPr>
        <p:txBody>
          <a:bodyPr wrap="square">
            <a:spAutoFit/>
          </a:bodyPr>
          <a:lstStyle/>
          <a:p>
            <a:pPr algn="ctr">
              <a:defRPr sz="1700" b="1">
                <a:solidFill>
                  <a:srgbClr val="FFFFFF"/>
                </a:solidFill>
                <a:latin typeface="Calibri"/>
              </a:defRPr>
            </a:pPr>
            <a:r>
              <a:t>Deployment</a:t>
            </a:r>
          </a:p>
        </p:txBody>
      </p:sp>
      <p:sp>
        <p:nvSpPr>
          <p:cNvPr id="29" name="Down Arrow 28"/>
          <p:cNvSpPr/>
          <p:nvPr/>
        </p:nvSpPr>
        <p:spPr>
          <a:xfrm>
            <a:off x="5897880" y="5907024"/>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434840" y="5961888"/>
            <a:ext cx="3200400" cy="438912"/>
          </a:xfrm>
          <a:prstGeom prst="roundRect">
            <a:avLst>
              <a:gd name="adj" fmla="val 10000"/>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34840" y="5961888"/>
            <a:ext cx="3200400" cy="438912"/>
          </a:xfrm>
          <a:prstGeom prst="rect">
            <a:avLst/>
          </a:prstGeom>
          <a:noFill/>
        </p:spPr>
        <p:txBody>
          <a:bodyPr wrap="square">
            <a:spAutoFit/>
          </a:bodyPr>
          <a:lstStyle/>
          <a:p>
            <a:pPr algn="ctr">
              <a:defRPr sz="1700" b="1">
                <a:solidFill>
                  <a:srgbClr val="FFFFFF"/>
                </a:solidFill>
                <a:latin typeface="Calibri"/>
              </a:defRPr>
            </a:pPr>
            <a:r>
              <a:t>Monitoring</a:t>
            </a:r>
          </a:p>
        </p:txBody>
      </p:sp>
      <p:sp>
        <p:nvSpPr>
          <p:cNvPr id="32" name="Down Arrow 31"/>
          <p:cNvSpPr/>
          <p:nvPr/>
        </p:nvSpPr>
        <p:spPr>
          <a:xfrm>
            <a:off x="5897880" y="640080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4434840" y="6455664"/>
            <a:ext cx="3200400" cy="438912"/>
          </a:xfrm>
          <a:prstGeom prst="roundRect">
            <a:avLst>
              <a:gd name="adj" fmla="val 10000"/>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34840" y="6455664"/>
            <a:ext cx="3200400" cy="438912"/>
          </a:xfrm>
          <a:prstGeom prst="rect">
            <a:avLst/>
          </a:prstGeom>
          <a:noFill/>
        </p:spPr>
        <p:txBody>
          <a:bodyPr wrap="square">
            <a:spAutoFit/>
          </a:bodyPr>
          <a:lstStyle/>
          <a:p>
            <a:pPr algn="ctr">
              <a:defRPr sz="1700" b="1">
                <a:solidFill>
                  <a:srgbClr val="FFFFFF"/>
                </a:solidFill>
                <a:latin typeface="Calibri"/>
              </a:defRPr>
            </a:pPr>
            <a:r>
              <a:t>Maintenance</a:t>
            </a:r>
          </a:p>
        </p:txBody>
      </p:sp>
      <p:sp>
        <p:nvSpPr>
          <p:cNvPr id="35" name="Rounded Rectangle 34"/>
          <p:cNvSpPr/>
          <p:nvPr/>
        </p:nvSpPr>
        <p:spPr>
          <a:xfrm>
            <a:off x="914400" y="5486400"/>
            <a:ext cx="4114800" cy="9144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97280" y="5577840"/>
            <a:ext cx="3749039" cy="731520"/>
          </a:xfrm>
          <a:prstGeom prst="rect">
            <a:avLst/>
          </a:prstGeom>
          <a:noFill/>
        </p:spPr>
        <p:txBody>
          <a:bodyPr wrap="square">
            <a:spAutoFit/>
          </a:bodyPr>
          <a:lstStyle/>
          <a:p>
            <a:pPr algn="l">
              <a:defRPr sz="1800" b="1">
                <a:solidFill>
                  <a:srgbClr val="FFFFFF"/>
                </a:solidFill>
                <a:latin typeface="Calibri"/>
              </a:defRPr>
            </a:pPr>
            <a:r>
              <a:t>Wrong: Open VS Code → Start Coding</a:t>
            </a:r>
          </a:p>
        </p:txBody>
      </p:sp>
      <p:sp>
        <p:nvSpPr>
          <p:cNvPr id="37" name="Rectangle 36"/>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85</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FINAL SECTION — THE MAIN IDEA</a:t>
            </a:r>
          </a:p>
        </p:txBody>
      </p:sp>
      <p:sp>
        <p:nvSpPr>
          <p:cNvPr id="5" name="Rounded Rectangle 4"/>
          <p:cNvSpPr/>
          <p:nvPr/>
        </p:nvSpPr>
        <p:spPr>
          <a:xfrm>
            <a:off x="731520" y="1645920"/>
            <a:ext cx="5029200" cy="41148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737360"/>
            <a:ext cx="5029200" cy="457200"/>
          </a:xfrm>
          <a:prstGeom prst="rect">
            <a:avLst/>
          </a:prstGeom>
          <a:noFill/>
        </p:spPr>
        <p:txBody>
          <a:bodyPr wrap="square">
            <a:spAutoFit/>
          </a:bodyPr>
          <a:lstStyle/>
          <a:p>
            <a:pPr algn="ctr">
              <a:defRPr sz="2800" b="1">
                <a:solidFill>
                  <a:srgbClr val="FFFFFF"/>
                </a:solidFill>
                <a:latin typeface="Calibri"/>
              </a:defRPr>
            </a:pPr>
            <a:r>
              <a:t>CODING</a:t>
            </a:r>
          </a:p>
        </p:txBody>
      </p:sp>
      <p:sp>
        <p:nvSpPr>
          <p:cNvPr id="7" name="TextBox 6"/>
          <p:cNvSpPr txBox="1"/>
          <p:nvPr/>
        </p:nvSpPr>
        <p:spPr>
          <a:xfrm>
            <a:off x="1188720" y="2560320"/>
            <a:ext cx="4114800" cy="1828800"/>
          </a:xfrm>
          <a:prstGeom prst="rect">
            <a:avLst/>
          </a:prstGeom>
          <a:noFill/>
        </p:spPr>
        <p:txBody>
          <a:bodyPr wrap="square">
            <a:spAutoFit/>
          </a:bodyPr>
          <a:lstStyle/>
          <a:p>
            <a:pPr algn="ctr">
              <a:defRPr sz="2200" b="0">
                <a:solidFill>
                  <a:srgbClr val="FFFFFF"/>
                </a:solidFill>
                <a:latin typeface="Calibri"/>
              </a:defRPr>
            </a:pPr>
            <a:r>
              <a:t>"How do I implement this?"</a:t>
            </a:r>
          </a:p>
        </p:txBody>
      </p:sp>
      <p:sp>
        <p:nvSpPr>
          <p:cNvPr id="8" name="Rounded Rectangle 7"/>
          <p:cNvSpPr/>
          <p:nvPr/>
        </p:nvSpPr>
        <p:spPr>
          <a:xfrm>
            <a:off x="6400800" y="1645920"/>
            <a:ext cx="5029200" cy="41148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5029200" cy="457200"/>
          </a:xfrm>
          <a:prstGeom prst="rect">
            <a:avLst/>
          </a:prstGeom>
          <a:noFill/>
        </p:spPr>
        <p:txBody>
          <a:bodyPr wrap="square">
            <a:spAutoFit/>
          </a:bodyPr>
          <a:lstStyle/>
          <a:p>
            <a:pPr algn="ctr">
              <a:defRPr sz="2200" b="1">
                <a:solidFill>
                  <a:srgbClr val="FFFFFF"/>
                </a:solidFill>
                <a:latin typeface="Calibri"/>
              </a:defRPr>
            </a:pPr>
            <a:r>
              <a:t>SOFTWARE ENGINEERING</a:t>
            </a:r>
          </a:p>
        </p:txBody>
      </p:sp>
      <p:sp>
        <p:nvSpPr>
          <p:cNvPr id="10" name="TextBox 9"/>
          <p:cNvSpPr txBox="1"/>
          <p:nvPr/>
        </p:nvSpPr>
        <p:spPr>
          <a:xfrm>
            <a:off x="6858000" y="2560320"/>
            <a:ext cx="4114800" cy="2286000"/>
          </a:xfrm>
          <a:prstGeom prst="rect">
            <a:avLst/>
          </a:prstGeom>
          <a:noFill/>
        </p:spPr>
        <p:txBody>
          <a:bodyPr wrap="square">
            <a:spAutoFit/>
          </a:bodyPr>
          <a:lstStyle/>
          <a:p>
            <a:pPr algn="ctr">
              <a:defRPr sz="2000" b="0">
                <a:solidFill>
                  <a:srgbClr val="FFFFFF"/>
                </a:solidFill>
                <a:latin typeface="Calibri"/>
              </a:defRPr>
            </a:pPr>
            <a:r>
              <a:t>"What should we build, why should we build it, how should we build it, how do we verify it, and how do we maintain it?"</a:t>
            </a:r>
          </a:p>
        </p:txBody>
      </p:sp>
      <p:sp>
        <p:nvSpPr>
          <p:cNvPr id="11" name="Rectangle 10"/>
          <p:cNvSpPr/>
          <p:nvPr/>
        </p:nvSpPr>
        <p:spPr>
          <a:xfrm>
            <a:off x="0" y="6675120"/>
            <a:ext cx="12191695" cy="18288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86</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Modern Software Engineering + AI</a:t>
            </a:r>
          </a:p>
        </p:txBody>
      </p:sp>
      <p:sp>
        <p:nvSpPr>
          <p:cNvPr id="5" name="Rounded Rectangle 4"/>
          <p:cNvSpPr/>
          <p:nvPr/>
        </p:nvSpPr>
        <p:spPr>
          <a:xfrm>
            <a:off x="4206240" y="1280160"/>
            <a:ext cx="3657600" cy="4572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06240" y="1280160"/>
            <a:ext cx="3657600" cy="457200"/>
          </a:xfrm>
          <a:prstGeom prst="rect">
            <a:avLst/>
          </a:prstGeom>
          <a:noFill/>
        </p:spPr>
        <p:txBody>
          <a:bodyPr wrap="square">
            <a:spAutoFit/>
          </a:bodyPr>
          <a:lstStyle/>
          <a:p>
            <a:pPr algn="ctr">
              <a:defRPr sz="1700" b="1">
                <a:solidFill>
                  <a:srgbClr val="FFFFFF"/>
                </a:solidFill>
                <a:latin typeface="Calibri"/>
              </a:defRPr>
            </a:pPr>
            <a:r>
              <a:t>Human Problem Understanding</a:t>
            </a:r>
          </a:p>
        </p:txBody>
      </p:sp>
      <p:sp>
        <p:nvSpPr>
          <p:cNvPr id="7" name="Down Arrow 6"/>
          <p:cNvSpPr/>
          <p:nvPr/>
        </p:nvSpPr>
        <p:spPr>
          <a:xfrm>
            <a:off x="5897880" y="173736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06240" y="1810512"/>
            <a:ext cx="3657600" cy="4572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06240" y="1810512"/>
            <a:ext cx="3657600" cy="457200"/>
          </a:xfrm>
          <a:prstGeom prst="rect">
            <a:avLst/>
          </a:prstGeom>
          <a:noFill/>
        </p:spPr>
        <p:txBody>
          <a:bodyPr wrap="square">
            <a:spAutoFit/>
          </a:bodyPr>
          <a:lstStyle/>
          <a:p>
            <a:pPr algn="ctr">
              <a:defRPr sz="1700" b="1">
                <a:solidFill>
                  <a:srgbClr val="FFFFFF"/>
                </a:solidFill>
                <a:latin typeface="Calibri"/>
              </a:defRPr>
            </a:pPr>
            <a:r>
              <a:t>Requirements</a:t>
            </a:r>
          </a:p>
        </p:txBody>
      </p:sp>
      <p:sp>
        <p:nvSpPr>
          <p:cNvPr id="10" name="Down Arrow 9"/>
          <p:cNvSpPr/>
          <p:nvPr/>
        </p:nvSpPr>
        <p:spPr>
          <a:xfrm>
            <a:off x="5897880" y="2267712"/>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06240" y="2340864"/>
            <a:ext cx="3657600" cy="4572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06240" y="2340864"/>
            <a:ext cx="3657600" cy="457200"/>
          </a:xfrm>
          <a:prstGeom prst="rect">
            <a:avLst/>
          </a:prstGeom>
          <a:noFill/>
        </p:spPr>
        <p:txBody>
          <a:bodyPr wrap="square">
            <a:spAutoFit/>
          </a:bodyPr>
          <a:lstStyle/>
          <a:p>
            <a:pPr algn="ctr">
              <a:defRPr sz="1700" b="1">
                <a:solidFill>
                  <a:srgbClr val="FFFFFF"/>
                </a:solidFill>
                <a:latin typeface="Calibri"/>
              </a:defRPr>
            </a:pPr>
            <a:r>
              <a:t>Architecture</a:t>
            </a:r>
          </a:p>
        </p:txBody>
      </p:sp>
      <p:sp>
        <p:nvSpPr>
          <p:cNvPr id="13" name="Down Arrow 12"/>
          <p:cNvSpPr/>
          <p:nvPr/>
        </p:nvSpPr>
        <p:spPr>
          <a:xfrm>
            <a:off x="5897880" y="2798064"/>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206240" y="2871216"/>
            <a:ext cx="3657600" cy="4572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06240" y="2871216"/>
            <a:ext cx="3657600" cy="457200"/>
          </a:xfrm>
          <a:prstGeom prst="rect">
            <a:avLst/>
          </a:prstGeom>
          <a:noFill/>
        </p:spPr>
        <p:txBody>
          <a:bodyPr wrap="square">
            <a:spAutoFit/>
          </a:bodyPr>
          <a:lstStyle/>
          <a:p>
            <a:pPr algn="ctr">
              <a:defRPr sz="1700" b="1">
                <a:solidFill>
                  <a:srgbClr val="FFFFFF"/>
                </a:solidFill>
                <a:latin typeface="Calibri"/>
              </a:defRPr>
            </a:pPr>
            <a:r>
              <a:t>AI-Assisted Development</a:t>
            </a:r>
          </a:p>
        </p:txBody>
      </p:sp>
      <p:sp>
        <p:nvSpPr>
          <p:cNvPr id="16" name="Down Arrow 15"/>
          <p:cNvSpPr/>
          <p:nvPr/>
        </p:nvSpPr>
        <p:spPr>
          <a:xfrm>
            <a:off x="5897880" y="3328416"/>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06240" y="3401568"/>
            <a:ext cx="3657600" cy="45720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06240" y="3401568"/>
            <a:ext cx="3657600" cy="457200"/>
          </a:xfrm>
          <a:prstGeom prst="rect">
            <a:avLst/>
          </a:prstGeom>
          <a:noFill/>
        </p:spPr>
        <p:txBody>
          <a:bodyPr wrap="square">
            <a:spAutoFit/>
          </a:bodyPr>
          <a:lstStyle/>
          <a:p>
            <a:pPr algn="ctr">
              <a:defRPr sz="1700" b="1">
                <a:solidFill>
                  <a:srgbClr val="FFFFFF"/>
                </a:solidFill>
                <a:latin typeface="Calibri"/>
              </a:defRPr>
            </a:pPr>
            <a:r>
              <a:t>Automated Testing</a:t>
            </a:r>
          </a:p>
        </p:txBody>
      </p:sp>
      <p:sp>
        <p:nvSpPr>
          <p:cNvPr id="19" name="Down Arrow 18"/>
          <p:cNvSpPr/>
          <p:nvPr/>
        </p:nvSpPr>
        <p:spPr>
          <a:xfrm>
            <a:off x="5897880" y="3858768"/>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206240" y="3931920"/>
            <a:ext cx="3657600" cy="45720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06240" y="3931920"/>
            <a:ext cx="3657600" cy="457200"/>
          </a:xfrm>
          <a:prstGeom prst="rect">
            <a:avLst/>
          </a:prstGeom>
          <a:noFill/>
        </p:spPr>
        <p:txBody>
          <a:bodyPr wrap="square">
            <a:spAutoFit/>
          </a:bodyPr>
          <a:lstStyle/>
          <a:p>
            <a:pPr algn="ctr">
              <a:defRPr sz="1700" b="1">
                <a:solidFill>
                  <a:srgbClr val="FFFFFF"/>
                </a:solidFill>
                <a:latin typeface="Calibri"/>
              </a:defRPr>
            </a:pPr>
            <a:r>
              <a:t>Human Review</a:t>
            </a:r>
          </a:p>
        </p:txBody>
      </p:sp>
      <p:sp>
        <p:nvSpPr>
          <p:cNvPr id="22" name="Down Arrow 21"/>
          <p:cNvSpPr/>
          <p:nvPr/>
        </p:nvSpPr>
        <p:spPr>
          <a:xfrm>
            <a:off x="5897880" y="4389120"/>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206240" y="4462272"/>
            <a:ext cx="3657600" cy="45720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06240" y="4462272"/>
            <a:ext cx="3657600" cy="457200"/>
          </a:xfrm>
          <a:prstGeom prst="rect">
            <a:avLst/>
          </a:prstGeom>
          <a:noFill/>
        </p:spPr>
        <p:txBody>
          <a:bodyPr wrap="square">
            <a:spAutoFit/>
          </a:bodyPr>
          <a:lstStyle/>
          <a:p>
            <a:pPr algn="ctr">
              <a:defRPr sz="1700" b="1">
                <a:solidFill>
                  <a:srgbClr val="FFFFFF"/>
                </a:solidFill>
                <a:latin typeface="Calibri"/>
              </a:defRPr>
            </a:pPr>
            <a:r>
              <a:t>CI/CD</a:t>
            </a:r>
          </a:p>
        </p:txBody>
      </p:sp>
      <p:sp>
        <p:nvSpPr>
          <p:cNvPr id="25" name="Down Arrow 24"/>
          <p:cNvSpPr/>
          <p:nvPr/>
        </p:nvSpPr>
        <p:spPr>
          <a:xfrm>
            <a:off x="5897880" y="4919472"/>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206240" y="4992624"/>
            <a:ext cx="3657600" cy="457200"/>
          </a:xfrm>
          <a:prstGeom prst="roundRect">
            <a:avLst>
              <a:gd name="adj" fmla="val 10000"/>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06240" y="4992624"/>
            <a:ext cx="3657600" cy="457200"/>
          </a:xfrm>
          <a:prstGeom prst="rect">
            <a:avLst/>
          </a:prstGeom>
          <a:noFill/>
        </p:spPr>
        <p:txBody>
          <a:bodyPr wrap="square">
            <a:spAutoFit/>
          </a:bodyPr>
          <a:lstStyle/>
          <a:p>
            <a:pPr algn="ctr">
              <a:defRPr sz="1700" b="1">
                <a:solidFill>
                  <a:srgbClr val="FFFFFF"/>
                </a:solidFill>
                <a:latin typeface="Calibri"/>
              </a:defRPr>
            </a:pPr>
            <a:r>
              <a:t>Deployment</a:t>
            </a:r>
          </a:p>
        </p:txBody>
      </p:sp>
      <p:sp>
        <p:nvSpPr>
          <p:cNvPr id="28" name="Down Arrow 27"/>
          <p:cNvSpPr/>
          <p:nvPr/>
        </p:nvSpPr>
        <p:spPr>
          <a:xfrm>
            <a:off x="5897880" y="5449824"/>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206240" y="5522976"/>
            <a:ext cx="3657600" cy="457200"/>
          </a:xfrm>
          <a:prstGeom prst="roundRect">
            <a:avLst>
              <a:gd name="adj" fmla="val 10000"/>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06240" y="5522976"/>
            <a:ext cx="3657600" cy="457200"/>
          </a:xfrm>
          <a:prstGeom prst="rect">
            <a:avLst/>
          </a:prstGeom>
          <a:noFill/>
        </p:spPr>
        <p:txBody>
          <a:bodyPr wrap="square">
            <a:spAutoFit/>
          </a:bodyPr>
          <a:lstStyle/>
          <a:p>
            <a:pPr algn="ctr">
              <a:defRPr sz="1700" b="1">
                <a:solidFill>
                  <a:srgbClr val="FFFFFF"/>
                </a:solidFill>
                <a:latin typeface="Calibri"/>
              </a:defRPr>
            </a:pPr>
            <a:r>
              <a:t>Monitoring</a:t>
            </a:r>
          </a:p>
        </p:txBody>
      </p:sp>
      <p:sp>
        <p:nvSpPr>
          <p:cNvPr id="31" name="Down Arrow 30"/>
          <p:cNvSpPr/>
          <p:nvPr/>
        </p:nvSpPr>
        <p:spPr>
          <a:xfrm>
            <a:off x="5897880" y="5980176"/>
            <a:ext cx="274320" cy="365760"/>
          </a:xfrm>
          <a:prstGeom prst="down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206240" y="6053328"/>
            <a:ext cx="3657600" cy="457200"/>
          </a:xfrm>
          <a:prstGeom prst="roundRect">
            <a:avLst>
              <a:gd name="adj" fmla="val 10000"/>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06240" y="6053328"/>
            <a:ext cx="3657600" cy="457200"/>
          </a:xfrm>
          <a:prstGeom prst="rect">
            <a:avLst/>
          </a:prstGeom>
          <a:noFill/>
        </p:spPr>
        <p:txBody>
          <a:bodyPr wrap="square">
            <a:spAutoFit/>
          </a:bodyPr>
          <a:lstStyle/>
          <a:p>
            <a:pPr algn="ctr">
              <a:defRPr sz="1700" b="1">
                <a:solidFill>
                  <a:srgbClr val="FFFFFF"/>
                </a:solidFill>
                <a:latin typeface="Calibri"/>
              </a:defRPr>
            </a:pPr>
            <a:r>
              <a:t>Continuous Improvement</a:t>
            </a:r>
          </a:p>
        </p:txBody>
      </p:sp>
      <p:sp>
        <p:nvSpPr>
          <p:cNvPr id="34" name="Rectangle 33"/>
          <p:cNvSpPr/>
          <p:nvPr/>
        </p:nvSpPr>
        <p:spPr>
          <a:xfrm>
            <a:off x="0" y="6675120"/>
            <a:ext cx="12191695" cy="18288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87</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058400" cy="1097280"/>
          </a:xfrm>
          <a:prstGeom prst="rect">
            <a:avLst/>
          </a:prstGeom>
          <a:noFill/>
        </p:spPr>
        <p:txBody>
          <a:bodyPr wrap="square">
            <a:spAutoFit/>
          </a:bodyPr>
          <a:lstStyle/>
          <a:p>
            <a:pPr algn="ctr">
              <a:defRPr sz="4000" b="1">
                <a:solidFill>
                  <a:srgbClr val="FFFFFF"/>
                </a:solidFill>
                <a:latin typeface="Calibri"/>
              </a:defRPr>
            </a:pPr>
            <a:r>
              <a:t>AI can generate code.</a:t>
            </a:r>
            <a:br/>
            <a:r>
              <a:t>Engineers must build systems.</a:t>
            </a:r>
          </a:p>
        </p:txBody>
      </p:sp>
      <p:sp>
        <p:nvSpPr>
          <p:cNvPr id="4" name="TextBox 3"/>
          <p:cNvSpPr txBox="1"/>
          <p:nvPr/>
        </p:nvSpPr>
        <p:spPr>
          <a:xfrm>
            <a:off x="1828800" y="3657600"/>
            <a:ext cx="8229600" cy="2286000"/>
          </a:xfrm>
          <a:prstGeom prst="rect">
            <a:avLst/>
          </a:prstGeom>
          <a:noFill/>
        </p:spPr>
        <p:txBody>
          <a:bodyPr wrap="square">
            <a:spAutoFit/>
          </a:bodyPr>
          <a:lstStyle/>
          <a:p>
            <a:pPr algn="ctr">
              <a:defRPr sz="1800" b="0">
                <a:solidFill>
                  <a:srgbClr val="00B4D8"/>
                </a:solidFill>
                <a:latin typeface="Calibri"/>
              </a:defRPr>
            </a:pPr>
            <a:r>
              <a:t>The ability to generate code is becoming increasingly accessible.</a:t>
            </a:r>
            <a:br/>
            <a:r>
              <a:t>The valuable engineering skills are understanding problems, designing systems,</a:t>
            </a:r>
            <a:br/>
            <a:r>
              <a:t>evaluating solutions, managing risks, validating AI output, and taking</a:t>
            </a:r>
            <a:br/>
            <a:r>
              <a:t>responsibility for the final system.</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88</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ectangle 2"/>
          <p:cNvSpPr/>
          <p:nvPr/>
        </p:nvSpPr>
        <p:spPr>
          <a:xfrm>
            <a:off x="0" y="0"/>
            <a:ext cx="12191695" cy="12801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457200" y="182880"/>
            <a:ext cx="10972800" cy="523220"/>
          </a:xfrm>
          <a:prstGeom prst="rect">
            <a:avLst/>
          </a:prstGeom>
          <a:noFill/>
        </p:spPr>
        <p:txBody>
          <a:bodyPr wrap="square">
            <a:spAutoFit/>
          </a:bodyPr>
          <a:lstStyle/>
          <a:p>
            <a:pPr algn="l">
              <a:defRPr sz="3400" b="1">
                <a:solidFill>
                  <a:srgbClr val="FFFFFF"/>
                </a:solidFill>
                <a:latin typeface="Calibri"/>
              </a:defRPr>
            </a:pPr>
            <a:r>
              <a:rPr sz="2800" dirty="0"/>
              <a:t>What You Should Remember</a:t>
            </a:r>
          </a:p>
        </p:txBody>
      </p:sp>
      <p:sp>
        <p:nvSpPr>
          <p:cNvPr id="5" name="Rounded Rectangle 4"/>
          <p:cNvSpPr/>
          <p:nvPr/>
        </p:nvSpPr>
        <p:spPr>
          <a:xfrm>
            <a:off x="457200" y="1463040"/>
            <a:ext cx="5486400" cy="82296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548640" y="1645920"/>
            <a:ext cx="5303520" cy="400110"/>
          </a:xfrm>
          <a:prstGeom prst="rect">
            <a:avLst/>
          </a:prstGeom>
          <a:noFill/>
        </p:spPr>
        <p:txBody>
          <a:bodyPr wrap="square">
            <a:spAutoFit/>
          </a:bodyPr>
          <a:lstStyle/>
          <a:p>
            <a:pPr algn="l">
              <a:defRPr sz="1200" b="1">
                <a:solidFill>
                  <a:srgbClr val="FFFFFF"/>
                </a:solidFill>
                <a:latin typeface="Calibri"/>
              </a:defRPr>
            </a:pPr>
            <a:r>
              <a:rPr sz="2000"/>
              <a:t>1. </a:t>
            </a:r>
            <a:r>
              <a:rPr sz="2000" dirty="0"/>
              <a:t>Software is more than source code.</a:t>
            </a:r>
          </a:p>
        </p:txBody>
      </p:sp>
      <p:sp>
        <p:nvSpPr>
          <p:cNvPr id="7" name="Rounded Rectangle 6"/>
          <p:cNvSpPr/>
          <p:nvPr/>
        </p:nvSpPr>
        <p:spPr>
          <a:xfrm>
            <a:off x="6217920" y="1463040"/>
            <a:ext cx="5486400" cy="82296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6309360" y="1645920"/>
            <a:ext cx="5303520" cy="707886"/>
          </a:xfrm>
          <a:prstGeom prst="rect">
            <a:avLst/>
          </a:prstGeom>
          <a:noFill/>
        </p:spPr>
        <p:txBody>
          <a:bodyPr wrap="square">
            <a:spAutoFit/>
          </a:bodyPr>
          <a:lstStyle/>
          <a:p>
            <a:pPr algn="l">
              <a:defRPr sz="1200" b="1">
                <a:solidFill>
                  <a:srgbClr val="FFFFFF"/>
                </a:solidFill>
                <a:latin typeface="Calibri"/>
              </a:defRPr>
            </a:pPr>
            <a:r>
              <a:rPr sz="2000"/>
              <a:t>2. Software evolved from small programs to complex systems.</a:t>
            </a:r>
          </a:p>
        </p:txBody>
      </p:sp>
      <p:sp>
        <p:nvSpPr>
          <p:cNvPr id="9" name="Rounded Rectangle 8"/>
          <p:cNvSpPr/>
          <p:nvPr/>
        </p:nvSpPr>
        <p:spPr>
          <a:xfrm>
            <a:off x="457200" y="2468880"/>
            <a:ext cx="5486400" cy="82296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548640" y="2651760"/>
            <a:ext cx="5303520" cy="707886"/>
          </a:xfrm>
          <a:prstGeom prst="rect">
            <a:avLst/>
          </a:prstGeom>
          <a:noFill/>
        </p:spPr>
        <p:txBody>
          <a:bodyPr wrap="square">
            <a:spAutoFit/>
          </a:bodyPr>
          <a:lstStyle/>
          <a:p>
            <a:pPr algn="l">
              <a:defRPr sz="1200" b="1">
                <a:solidFill>
                  <a:srgbClr val="FFFFFF"/>
                </a:solidFill>
                <a:latin typeface="Calibri"/>
              </a:defRPr>
            </a:pPr>
            <a:r>
              <a:rPr sz="2000"/>
              <a:t>3. Software complexity created the Software Crisis.</a:t>
            </a:r>
          </a:p>
        </p:txBody>
      </p:sp>
      <p:sp>
        <p:nvSpPr>
          <p:cNvPr id="11" name="Rounded Rectangle 10"/>
          <p:cNvSpPr/>
          <p:nvPr/>
        </p:nvSpPr>
        <p:spPr>
          <a:xfrm>
            <a:off x="6217920" y="2468880"/>
            <a:ext cx="5486400" cy="82296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6309360" y="2651760"/>
            <a:ext cx="5303520" cy="707886"/>
          </a:xfrm>
          <a:prstGeom prst="rect">
            <a:avLst/>
          </a:prstGeom>
          <a:noFill/>
        </p:spPr>
        <p:txBody>
          <a:bodyPr wrap="square">
            <a:spAutoFit/>
          </a:bodyPr>
          <a:lstStyle/>
          <a:p>
            <a:pPr algn="l">
              <a:defRPr sz="1200" b="1">
                <a:solidFill>
                  <a:srgbClr val="FFFFFF"/>
                </a:solidFill>
                <a:latin typeface="Calibri"/>
              </a:defRPr>
            </a:pPr>
            <a:r>
              <a:rPr sz="2000"/>
              <a:t>4. Software Engineering emerged as a disciplined approach.</a:t>
            </a:r>
          </a:p>
        </p:txBody>
      </p:sp>
      <p:sp>
        <p:nvSpPr>
          <p:cNvPr id="13" name="Rounded Rectangle 12"/>
          <p:cNvSpPr/>
          <p:nvPr/>
        </p:nvSpPr>
        <p:spPr>
          <a:xfrm>
            <a:off x="457200" y="3474720"/>
            <a:ext cx="5486400" cy="82296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548640" y="3657600"/>
            <a:ext cx="5303520" cy="707886"/>
          </a:xfrm>
          <a:prstGeom prst="rect">
            <a:avLst/>
          </a:prstGeom>
          <a:noFill/>
        </p:spPr>
        <p:txBody>
          <a:bodyPr wrap="square">
            <a:spAutoFit/>
          </a:bodyPr>
          <a:lstStyle/>
          <a:p>
            <a:pPr algn="l">
              <a:defRPr sz="1200" b="1">
                <a:solidFill>
                  <a:srgbClr val="FFFFFF"/>
                </a:solidFill>
                <a:latin typeface="Calibri"/>
              </a:defRPr>
            </a:pPr>
            <a:r>
              <a:rPr sz="2000"/>
              <a:t>5. Programming is only one part of Software Engineering.</a:t>
            </a:r>
          </a:p>
        </p:txBody>
      </p:sp>
      <p:sp>
        <p:nvSpPr>
          <p:cNvPr id="15" name="Rounded Rectangle 14"/>
          <p:cNvSpPr/>
          <p:nvPr/>
        </p:nvSpPr>
        <p:spPr>
          <a:xfrm>
            <a:off x="6217920" y="3474720"/>
            <a:ext cx="5486400" cy="82296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6309360" y="3657600"/>
            <a:ext cx="5303520" cy="707886"/>
          </a:xfrm>
          <a:prstGeom prst="rect">
            <a:avLst/>
          </a:prstGeom>
          <a:noFill/>
        </p:spPr>
        <p:txBody>
          <a:bodyPr wrap="square">
            <a:spAutoFit/>
          </a:bodyPr>
          <a:lstStyle/>
          <a:p>
            <a:pPr algn="l">
              <a:defRPr sz="1200" b="1">
                <a:solidFill>
                  <a:srgbClr val="FFFFFF"/>
                </a:solidFill>
                <a:latin typeface="Calibri"/>
              </a:defRPr>
            </a:pPr>
            <a:r>
              <a:rPr sz="2000"/>
              <a:t>6. Software requires requirements, design, testing and maintenance.</a:t>
            </a:r>
          </a:p>
        </p:txBody>
      </p:sp>
      <p:sp>
        <p:nvSpPr>
          <p:cNvPr id="17" name="Rounded Rectangle 16"/>
          <p:cNvSpPr/>
          <p:nvPr/>
        </p:nvSpPr>
        <p:spPr>
          <a:xfrm>
            <a:off x="457200" y="4480560"/>
            <a:ext cx="5486400" cy="82296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TextBox 17"/>
          <p:cNvSpPr txBox="1"/>
          <p:nvPr/>
        </p:nvSpPr>
        <p:spPr>
          <a:xfrm>
            <a:off x="548640" y="4663440"/>
            <a:ext cx="5303520" cy="707886"/>
          </a:xfrm>
          <a:prstGeom prst="rect">
            <a:avLst/>
          </a:prstGeom>
          <a:noFill/>
        </p:spPr>
        <p:txBody>
          <a:bodyPr wrap="square">
            <a:spAutoFit/>
          </a:bodyPr>
          <a:lstStyle/>
          <a:p>
            <a:pPr algn="l">
              <a:defRPr sz="1200" b="1">
                <a:solidFill>
                  <a:srgbClr val="FFFFFF"/>
                </a:solidFill>
                <a:latin typeface="Calibri"/>
              </a:defRPr>
            </a:pPr>
            <a:r>
              <a:rPr sz="2000"/>
              <a:t>7. Modern software uses cloud, DevOps and distributed systems.</a:t>
            </a:r>
          </a:p>
        </p:txBody>
      </p:sp>
      <p:sp>
        <p:nvSpPr>
          <p:cNvPr id="19" name="Rounded Rectangle 18"/>
          <p:cNvSpPr/>
          <p:nvPr/>
        </p:nvSpPr>
        <p:spPr>
          <a:xfrm>
            <a:off x="6217920" y="4480560"/>
            <a:ext cx="5486400" cy="822960"/>
          </a:xfrm>
          <a:prstGeom prst="roundRect">
            <a:avLst>
              <a:gd name="adj" fmla="val 10000"/>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6309360" y="4663440"/>
            <a:ext cx="5303520" cy="707886"/>
          </a:xfrm>
          <a:prstGeom prst="rect">
            <a:avLst/>
          </a:prstGeom>
          <a:noFill/>
        </p:spPr>
        <p:txBody>
          <a:bodyPr wrap="square">
            <a:spAutoFit/>
          </a:bodyPr>
          <a:lstStyle/>
          <a:p>
            <a:pPr algn="l">
              <a:defRPr sz="1200" b="1">
                <a:solidFill>
                  <a:srgbClr val="FFFFFF"/>
                </a:solidFill>
                <a:latin typeface="Calibri"/>
              </a:defRPr>
            </a:pPr>
            <a:r>
              <a:rPr sz="2000"/>
              <a:t>8. AI is becoming part of modern software systems.</a:t>
            </a:r>
          </a:p>
        </p:txBody>
      </p:sp>
      <p:sp>
        <p:nvSpPr>
          <p:cNvPr id="21" name="Rounded Rectangle 20"/>
          <p:cNvSpPr/>
          <p:nvPr/>
        </p:nvSpPr>
        <p:spPr>
          <a:xfrm>
            <a:off x="457200" y="5486400"/>
            <a:ext cx="5486400" cy="822960"/>
          </a:xfrm>
          <a:prstGeom prst="roundRect">
            <a:avLst>
              <a:gd name="adj" fmla="val 10000"/>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TextBox 21"/>
          <p:cNvSpPr txBox="1"/>
          <p:nvPr/>
        </p:nvSpPr>
        <p:spPr>
          <a:xfrm>
            <a:off x="548640" y="5669280"/>
            <a:ext cx="5303520" cy="707886"/>
          </a:xfrm>
          <a:prstGeom prst="rect">
            <a:avLst/>
          </a:prstGeom>
          <a:noFill/>
        </p:spPr>
        <p:txBody>
          <a:bodyPr wrap="square">
            <a:spAutoFit/>
          </a:bodyPr>
          <a:lstStyle/>
          <a:p>
            <a:pPr algn="l">
              <a:defRPr sz="1200" b="1">
                <a:solidFill>
                  <a:srgbClr val="FFFFFF"/>
                </a:solidFill>
                <a:latin typeface="Calibri"/>
              </a:defRPr>
            </a:pPr>
            <a:r>
              <a:rPr sz="2000"/>
              <a:t>9. AI is also changing how software is developed.</a:t>
            </a:r>
          </a:p>
        </p:txBody>
      </p:sp>
      <p:sp>
        <p:nvSpPr>
          <p:cNvPr id="23" name="Rounded Rectangle 22"/>
          <p:cNvSpPr/>
          <p:nvPr/>
        </p:nvSpPr>
        <p:spPr>
          <a:xfrm>
            <a:off x="6217920" y="5486400"/>
            <a:ext cx="5486400" cy="822960"/>
          </a:xfrm>
          <a:prstGeom prst="roundRect">
            <a:avLst>
              <a:gd name="adj" fmla="val 10000"/>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6309360" y="5669280"/>
            <a:ext cx="5303520" cy="707886"/>
          </a:xfrm>
          <a:prstGeom prst="rect">
            <a:avLst/>
          </a:prstGeom>
          <a:noFill/>
        </p:spPr>
        <p:txBody>
          <a:bodyPr wrap="square">
            <a:spAutoFit/>
          </a:bodyPr>
          <a:lstStyle/>
          <a:p>
            <a:pPr algn="l">
              <a:defRPr sz="1200" b="1">
                <a:solidFill>
                  <a:srgbClr val="FFFFFF"/>
                </a:solidFill>
                <a:latin typeface="Calibri"/>
              </a:defRPr>
            </a:pPr>
            <a:r>
              <a:rPr sz="2000"/>
              <a:t>10. Engineering discipline becomes even more important when AI becomes more autonomous.</a:t>
            </a:r>
          </a:p>
        </p:txBody>
      </p:sp>
      <p:sp>
        <p:nvSpPr>
          <p:cNvPr id="25" name="Rectangle 24"/>
          <p:cNvSpPr/>
          <p:nvPr/>
        </p:nvSpPr>
        <p:spPr>
          <a:xfrm>
            <a:off x="0" y="6675120"/>
            <a:ext cx="12191695" cy="182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p:cNvSpPr txBox="1"/>
          <p:nvPr/>
        </p:nvSpPr>
        <p:spPr>
          <a:xfrm>
            <a:off x="11247120" y="6400800"/>
            <a:ext cx="731520" cy="400110"/>
          </a:xfrm>
          <a:prstGeom prst="rect">
            <a:avLst/>
          </a:prstGeom>
          <a:noFill/>
        </p:spPr>
        <p:txBody>
          <a:bodyPr wrap="square">
            <a:spAutoFit/>
          </a:bodyPr>
          <a:lstStyle/>
          <a:p>
            <a:pPr algn="r">
              <a:defRPr sz="1400" b="0">
                <a:solidFill>
                  <a:srgbClr val="6B7280"/>
                </a:solidFill>
                <a:latin typeface="Calibri"/>
              </a:defRPr>
            </a:pPr>
            <a:r>
              <a:rPr sz="2000"/>
              <a:t>89</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ectangle 2"/>
          <p:cNvSpPr/>
          <p:nvPr/>
        </p:nvSpPr>
        <p:spPr>
          <a:xfrm>
            <a:off x="0" y="0"/>
            <a:ext cx="12191695" cy="12801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Exit Quiz</a:t>
            </a:r>
          </a:p>
        </p:txBody>
      </p:sp>
      <p:sp>
        <p:nvSpPr>
          <p:cNvPr id="5" name="Rounded Rectangle 4"/>
          <p:cNvSpPr/>
          <p:nvPr/>
        </p:nvSpPr>
        <p:spPr>
          <a:xfrm>
            <a:off x="457200" y="146304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Oval 5"/>
          <p:cNvSpPr/>
          <p:nvPr/>
        </p:nvSpPr>
        <p:spPr>
          <a:xfrm>
            <a:off x="548640" y="160020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TextBox 6"/>
          <p:cNvSpPr txBox="1"/>
          <p:nvPr/>
        </p:nvSpPr>
        <p:spPr>
          <a:xfrm>
            <a:off x="642845" y="1725930"/>
            <a:ext cx="314510" cy="400110"/>
          </a:xfrm>
          <a:prstGeom prst="rect">
            <a:avLst/>
          </a:prstGeom>
          <a:noFill/>
        </p:spPr>
        <p:txBody>
          <a:bodyPr wrap="none">
            <a:spAutoFit/>
          </a:bodyPr>
          <a:lstStyle/>
          <a:p>
            <a:pPr algn="ctr">
              <a:defRPr sz="1400" b="1">
                <a:solidFill>
                  <a:srgbClr val="FFFFFF"/>
                </a:solidFill>
              </a:defRPr>
            </a:pPr>
            <a:r>
              <a:rPr sz="2000"/>
              <a:t>1</a:t>
            </a:r>
          </a:p>
        </p:txBody>
      </p:sp>
      <p:sp>
        <p:nvSpPr>
          <p:cNvPr id="8" name="TextBox 7"/>
          <p:cNvSpPr txBox="1"/>
          <p:nvPr/>
        </p:nvSpPr>
        <p:spPr>
          <a:xfrm>
            <a:off x="1188720" y="1645920"/>
            <a:ext cx="4572000" cy="400110"/>
          </a:xfrm>
          <a:prstGeom prst="rect">
            <a:avLst/>
          </a:prstGeom>
          <a:noFill/>
        </p:spPr>
        <p:txBody>
          <a:bodyPr wrap="square">
            <a:spAutoFit/>
          </a:bodyPr>
          <a:lstStyle/>
          <a:p>
            <a:pPr algn="l">
              <a:defRPr sz="1200" b="0">
                <a:solidFill>
                  <a:srgbClr val="1A1A2E"/>
                </a:solidFill>
                <a:latin typeface="Calibri"/>
              </a:defRPr>
            </a:pPr>
            <a:r>
              <a:rPr sz="2000"/>
              <a:t>What is Software Engineering?</a:t>
            </a:r>
          </a:p>
        </p:txBody>
      </p:sp>
      <p:sp>
        <p:nvSpPr>
          <p:cNvPr id="9" name="Rounded Rectangle 8"/>
          <p:cNvSpPr/>
          <p:nvPr/>
        </p:nvSpPr>
        <p:spPr>
          <a:xfrm>
            <a:off x="6217920" y="146304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Oval 9"/>
          <p:cNvSpPr/>
          <p:nvPr/>
        </p:nvSpPr>
        <p:spPr>
          <a:xfrm>
            <a:off x="6309360" y="160020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6403565" y="1725930"/>
            <a:ext cx="314510" cy="400110"/>
          </a:xfrm>
          <a:prstGeom prst="rect">
            <a:avLst/>
          </a:prstGeom>
          <a:noFill/>
        </p:spPr>
        <p:txBody>
          <a:bodyPr wrap="none">
            <a:spAutoFit/>
          </a:bodyPr>
          <a:lstStyle/>
          <a:p>
            <a:pPr algn="ctr">
              <a:defRPr sz="1400" b="1">
                <a:solidFill>
                  <a:srgbClr val="FFFFFF"/>
                </a:solidFill>
              </a:defRPr>
            </a:pPr>
            <a:r>
              <a:rPr sz="2000"/>
              <a:t>2</a:t>
            </a:r>
          </a:p>
        </p:txBody>
      </p:sp>
      <p:sp>
        <p:nvSpPr>
          <p:cNvPr id="12" name="TextBox 11"/>
          <p:cNvSpPr txBox="1"/>
          <p:nvPr/>
        </p:nvSpPr>
        <p:spPr>
          <a:xfrm>
            <a:off x="6949440" y="1645920"/>
            <a:ext cx="4572000" cy="400110"/>
          </a:xfrm>
          <a:prstGeom prst="rect">
            <a:avLst/>
          </a:prstGeom>
          <a:noFill/>
        </p:spPr>
        <p:txBody>
          <a:bodyPr wrap="square">
            <a:spAutoFit/>
          </a:bodyPr>
          <a:lstStyle/>
          <a:p>
            <a:pPr algn="l">
              <a:defRPr sz="1200" b="0">
                <a:solidFill>
                  <a:srgbClr val="1A1A2E"/>
                </a:solidFill>
                <a:latin typeface="Calibri"/>
              </a:defRPr>
            </a:pPr>
            <a:r>
              <a:rPr sz="2000"/>
              <a:t>Why did the Software Crisis occur?</a:t>
            </a:r>
          </a:p>
        </p:txBody>
      </p:sp>
      <p:sp>
        <p:nvSpPr>
          <p:cNvPr id="13" name="Rounded Rectangle 12"/>
          <p:cNvSpPr/>
          <p:nvPr/>
        </p:nvSpPr>
        <p:spPr>
          <a:xfrm>
            <a:off x="457200" y="246888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Oval 13"/>
          <p:cNvSpPr/>
          <p:nvPr/>
        </p:nvSpPr>
        <p:spPr>
          <a:xfrm>
            <a:off x="548640" y="260604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642845" y="2731770"/>
            <a:ext cx="314510" cy="400110"/>
          </a:xfrm>
          <a:prstGeom prst="rect">
            <a:avLst/>
          </a:prstGeom>
          <a:noFill/>
        </p:spPr>
        <p:txBody>
          <a:bodyPr wrap="none">
            <a:spAutoFit/>
          </a:bodyPr>
          <a:lstStyle/>
          <a:p>
            <a:pPr algn="ctr">
              <a:defRPr sz="1400" b="1">
                <a:solidFill>
                  <a:srgbClr val="FFFFFF"/>
                </a:solidFill>
              </a:defRPr>
            </a:pPr>
            <a:r>
              <a:rPr sz="2000"/>
              <a:t>3</a:t>
            </a:r>
          </a:p>
        </p:txBody>
      </p:sp>
      <p:sp>
        <p:nvSpPr>
          <p:cNvPr id="16" name="TextBox 15"/>
          <p:cNvSpPr txBox="1"/>
          <p:nvPr/>
        </p:nvSpPr>
        <p:spPr>
          <a:xfrm>
            <a:off x="1188720" y="2651760"/>
            <a:ext cx="4572000" cy="707886"/>
          </a:xfrm>
          <a:prstGeom prst="rect">
            <a:avLst/>
          </a:prstGeom>
          <a:noFill/>
        </p:spPr>
        <p:txBody>
          <a:bodyPr wrap="square">
            <a:spAutoFit/>
          </a:bodyPr>
          <a:lstStyle/>
          <a:p>
            <a:pPr algn="l">
              <a:defRPr sz="1200" b="0">
                <a:solidFill>
                  <a:srgbClr val="1A1A2E"/>
                </a:solidFill>
                <a:latin typeface="Calibri"/>
              </a:defRPr>
            </a:pPr>
            <a:r>
              <a:rPr sz="2000"/>
              <a:t>How is software different from a program?</a:t>
            </a:r>
          </a:p>
        </p:txBody>
      </p:sp>
      <p:sp>
        <p:nvSpPr>
          <p:cNvPr id="17" name="Rounded Rectangle 16"/>
          <p:cNvSpPr/>
          <p:nvPr/>
        </p:nvSpPr>
        <p:spPr>
          <a:xfrm>
            <a:off x="6217920" y="246888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Oval 17"/>
          <p:cNvSpPr/>
          <p:nvPr/>
        </p:nvSpPr>
        <p:spPr>
          <a:xfrm>
            <a:off x="6309360" y="260604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6403565" y="2731770"/>
            <a:ext cx="314510" cy="400110"/>
          </a:xfrm>
          <a:prstGeom prst="rect">
            <a:avLst/>
          </a:prstGeom>
          <a:noFill/>
        </p:spPr>
        <p:txBody>
          <a:bodyPr wrap="none">
            <a:spAutoFit/>
          </a:bodyPr>
          <a:lstStyle/>
          <a:p>
            <a:pPr algn="ctr">
              <a:defRPr sz="1400" b="1">
                <a:solidFill>
                  <a:srgbClr val="FFFFFF"/>
                </a:solidFill>
              </a:defRPr>
            </a:pPr>
            <a:r>
              <a:rPr sz="2000"/>
              <a:t>4</a:t>
            </a:r>
          </a:p>
        </p:txBody>
      </p:sp>
      <p:sp>
        <p:nvSpPr>
          <p:cNvPr id="20" name="TextBox 19"/>
          <p:cNvSpPr txBox="1"/>
          <p:nvPr/>
        </p:nvSpPr>
        <p:spPr>
          <a:xfrm>
            <a:off x="6949440" y="2651760"/>
            <a:ext cx="4572000" cy="400110"/>
          </a:xfrm>
          <a:prstGeom prst="rect">
            <a:avLst/>
          </a:prstGeom>
          <a:noFill/>
        </p:spPr>
        <p:txBody>
          <a:bodyPr wrap="square">
            <a:spAutoFit/>
          </a:bodyPr>
          <a:lstStyle/>
          <a:p>
            <a:pPr algn="l">
              <a:defRPr sz="1200" b="0">
                <a:solidFill>
                  <a:srgbClr val="1A1A2E"/>
                </a:solidFill>
                <a:latin typeface="Calibri"/>
              </a:defRPr>
            </a:pPr>
            <a:r>
              <a:rPr sz="2000"/>
              <a:t>Why is testing necessary?</a:t>
            </a:r>
          </a:p>
        </p:txBody>
      </p:sp>
      <p:sp>
        <p:nvSpPr>
          <p:cNvPr id="21" name="Rounded Rectangle 20"/>
          <p:cNvSpPr/>
          <p:nvPr/>
        </p:nvSpPr>
        <p:spPr>
          <a:xfrm>
            <a:off x="457200" y="347472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Oval 21"/>
          <p:cNvSpPr/>
          <p:nvPr/>
        </p:nvSpPr>
        <p:spPr>
          <a:xfrm>
            <a:off x="548640" y="361188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642845" y="3737610"/>
            <a:ext cx="314510" cy="400110"/>
          </a:xfrm>
          <a:prstGeom prst="rect">
            <a:avLst/>
          </a:prstGeom>
          <a:noFill/>
        </p:spPr>
        <p:txBody>
          <a:bodyPr wrap="none">
            <a:spAutoFit/>
          </a:bodyPr>
          <a:lstStyle/>
          <a:p>
            <a:pPr algn="ctr">
              <a:defRPr sz="1400" b="1">
                <a:solidFill>
                  <a:srgbClr val="FFFFFF"/>
                </a:solidFill>
              </a:defRPr>
            </a:pPr>
            <a:r>
              <a:rPr sz="2000"/>
              <a:t>5</a:t>
            </a:r>
          </a:p>
        </p:txBody>
      </p:sp>
      <p:sp>
        <p:nvSpPr>
          <p:cNvPr id="24" name="TextBox 23"/>
          <p:cNvSpPr txBox="1"/>
          <p:nvPr/>
        </p:nvSpPr>
        <p:spPr>
          <a:xfrm>
            <a:off x="1188720" y="3657600"/>
            <a:ext cx="4572000" cy="400110"/>
          </a:xfrm>
          <a:prstGeom prst="rect">
            <a:avLst/>
          </a:prstGeom>
          <a:noFill/>
        </p:spPr>
        <p:txBody>
          <a:bodyPr wrap="square">
            <a:spAutoFit/>
          </a:bodyPr>
          <a:lstStyle/>
          <a:p>
            <a:pPr algn="l">
              <a:defRPr sz="1200" b="0">
                <a:solidFill>
                  <a:srgbClr val="1A1A2E"/>
                </a:solidFill>
                <a:latin typeface="Calibri"/>
              </a:defRPr>
            </a:pPr>
            <a:r>
              <a:rPr sz="2000" dirty="0"/>
              <a:t>What is a stakeholder?</a:t>
            </a:r>
          </a:p>
        </p:txBody>
      </p:sp>
      <p:sp>
        <p:nvSpPr>
          <p:cNvPr id="25" name="Rounded Rectangle 24"/>
          <p:cNvSpPr/>
          <p:nvPr/>
        </p:nvSpPr>
        <p:spPr>
          <a:xfrm>
            <a:off x="6217920" y="347472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Oval 25"/>
          <p:cNvSpPr/>
          <p:nvPr/>
        </p:nvSpPr>
        <p:spPr>
          <a:xfrm>
            <a:off x="6309360" y="361188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6403565" y="3737610"/>
            <a:ext cx="314510" cy="400110"/>
          </a:xfrm>
          <a:prstGeom prst="rect">
            <a:avLst/>
          </a:prstGeom>
          <a:noFill/>
        </p:spPr>
        <p:txBody>
          <a:bodyPr wrap="none">
            <a:spAutoFit/>
          </a:bodyPr>
          <a:lstStyle/>
          <a:p>
            <a:pPr algn="ctr">
              <a:defRPr sz="1400" b="1">
                <a:solidFill>
                  <a:srgbClr val="FFFFFF"/>
                </a:solidFill>
              </a:defRPr>
            </a:pPr>
            <a:r>
              <a:rPr sz="2000"/>
              <a:t>6</a:t>
            </a:r>
          </a:p>
        </p:txBody>
      </p:sp>
      <p:sp>
        <p:nvSpPr>
          <p:cNvPr id="28" name="TextBox 27"/>
          <p:cNvSpPr txBox="1"/>
          <p:nvPr/>
        </p:nvSpPr>
        <p:spPr>
          <a:xfrm>
            <a:off x="6949440" y="3657600"/>
            <a:ext cx="4572000" cy="400110"/>
          </a:xfrm>
          <a:prstGeom prst="rect">
            <a:avLst/>
          </a:prstGeom>
          <a:noFill/>
        </p:spPr>
        <p:txBody>
          <a:bodyPr wrap="square">
            <a:spAutoFit/>
          </a:bodyPr>
          <a:lstStyle/>
          <a:p>
            <a:pPr algn="l">
              <a:defRPr sz="1200" b="0">
                <a:solidFill>
                  <a:srgbClr val="1A1A2E"/>
                </a:solidFill>
                <a:latin typeface="Calibri"/>
              </a:defRPr>
            </a:pPr>
            <a:r>
              <a:rPr sz="2000"/>
              <a:t>What is scalability?</a:t>
            </a:r>
          </a:p>
        </p:txBody>
      </p:sp>
      <p:sp>
        <p:nvSpPr>
          <p:cNvPr id="29" name="Rounded Rectangle 28"/>
          <p:cNvSpPr/>
          <p:nvPr/>
        </p:nvSpPr>
        <p:spPr>
          <a:xfrm>
            <a:off x="457200" y="448056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0" name="Oval 29"/>
          <p:cNvSpPr/>
          <p:nvPr/>
        </p:nvSpPr>
        <p:spPr>
          <a:xfrm>
            <a:off x="548640" y="461772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TextBox 30"/>
          <p:cNvSpPr txBox="1"/>
          <p:nvPr/>
        </p:nvSpPr>
        <p:spPr>
          <a:xfrm>
            <a:off x="642845" y="4743450"/>
            <a:ext cx="314510" cy="400110"/>
          </a:xfrm>
          <a:prstGeom prst="rect">
            <a:avLst/>
          </a:prstGeom>
          <a:noFill/>
        </p:spPr>
        <p:txBody>
          <a:bodyPr wrap="none">
            <a:spAutoFit/>
          </a:bodyPr>
          <a:lstStyle/>
          <a:p>
            <a:pPr algn="ctr">
              <a:defRPr sz="1400" b="1">
                <a:solidFill>
                  <a:srgbClr val="FFFFFF"/>
                </a:solidFill>
              </a:defRPr>
            </a:pPr>
            <a:r>
              <a:rPr sz="2000"/>
              <a:t>7</a:t>
            </a:r>
          </a:p>
        </p:txBody>
      </p:sp>
      <p:sp>
        <p:nvSpPr>
          <p:cNvPr id="32" name="TextBox 31"/>
          <p:cNvSpPr txBox="1"/>
          <p:nvPr/>
        </p:nvSpPr>
        <p:spPr>
          <a:xfrm>
            <a:off x="1188720" y="4663440"/>
            <a:ext cx="4572000" cy="400110"/>
          </a:xfrm>
          <a:prstGeom prst="rect">
            <a:avLst/>
          </a:prstGeom>
          <a:noFill/>
        </p:spPr>
        <p:txBody>
          <a:bodyPr wrap="square">
            <a:spAutoFit/>
          </a:bodyPr>
          <a:lstStyle/>
          <a:p>
            <a:pPr algn="l">
              <a:defRPr sz="1200" b="0">
                <a:solidFill>
                  <a:srgbClr val="1A1A2E"/>
                </a:solidFill>
                <a:latin typeface="Calibri"/>
              </a:defRPr>
            </a:pPr>
            <a:r>
              <a:rPr sz="2000"/>
              <a:t>What is RAG?</a:t>
            </a:r>
          </a:p>
        </p:txBody>
      </p:sp>
      <p:sp>
        <p:nvSpPr>
          <p:cNvPr id="33" name="Rounded Rectangle 32"/>
          <p:cNvSpPr/>
          <p:nvPr/>
        </p:nvSpPr>
        <p:spPr>
          <a:xfrm>
            <a:off x="6217920" y="448056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Oval 33"/>
          <p:cNvSpPr/>
          <p:nvPr/>
        </p:nvSpPr>
        <p:spPr>
          <a:xfrm>
            <a:off x="6309360" y="461772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5" name="TextBox 34"/>
          <p:cNvSpPr txBox="1"/>
          <p:nvPr/>
        </p:nvSpPr>
        <p:spPr>
          <a:xfrm>
            <a:off x="6403565" y="4743450"/>
            <a:ext cx="314510" cy="400110"/>
          </a:xfrm>
          <a:prstGeom prst="rect">
            <a:avLst/>
          </a:prstGeom>
          <a:noFill/>
        </p:spPr>
        <p:txBody>
          <a:bodyPr wrap="none">
            <a:spAutoFit/>
          </a:bodyPr>
          <a:lstStyle/>
          <a:p>
            <a:pPr algn="ctr">
              <a:defRPr sz="1400" b="1">
                <a:solidFill>
                  <a:srgbClr val="FFFFFF"/>
                </a:solidFill>
              </a:defRPr>
            </a:pPr>
            <a:r>
              <a:rPr sz="2000"/>
              <a:t>8</a:t>
            </a:r>
          </a:p>
        </p:txBody>
      </p:sp>
      <p:sp>
        <p:nvSpPr>
          <p:cNvPr id="36" name="TextBox 35"/>
          <p:cNvSpPr txBox="1"/>
          <p:nvPr/>
        </p:nvSpPr>
        <p:spPr>
          <a:xfrm>
            <a:off x="6949440" y="4663440"/>
            <a:ext cx="4572000" cy="400110"/>
          </a:xfrm>
          <a:prstGeom prst="rect">
            <a:avLst/>
          </a:prstGeom>
          <a:noFill/>
        </p:spPr>
        <p:txBody>
          <a:bodyPr wrap="square">
            <a:spAutoFit/>
          </a:bodyPr>
          <a:lstStyle/>
          <a:p>
            <a:pPr algn="l">
              <a:defRPr sz="1200" b="0">
                <a:solidFill>
                  <a:srgbClr val="1A1A2E"/>
                </a:solidFill>
                <a:latin typeface="Calibri"/>
              </a:defRPr>
            </a:pPr>
            <a:r>
              <a:rPr sz="2000"/>
              <a:t>What is an AI coding agent?</a:t>
            </a:r>
          </a:p>
        </p:txBody>
      </p:sp>
      <p:sp>
        <p:nvSpPr>
          <p:cNvPr id="37" name="Rounded Rectangle 36"/>
          <p:cNvSpPr/>
          <p:nvPr/>
        </p:nvSpPr>
        <p:spPr>
          <a:xfrm>
            <a:off x="457200" y="548640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8" name="Oval 37"/>
          <p:cNvSpPr/>
          <p:nvPr/>
        </p:nvSpPr>
        <p:spPr>
          <a:xfrm>
            <a:off x="548640" y="562356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9" name="TextBox 38"/>
          <p:cNvSpPr txBox="1"/>
          <p:nvPr/>
        </p:nvSpPr>
        <p:spPr>
          <a:xfrm>
            <a:off x="642845" y="5749290"/>
            <a:ext cx="314510" cy="400110"/>
          </a:xfrm>
          <a:prstGeom prst="rect">
            <a:avLst/>
          </a:prstGeom>
          <a:noFill/>
        </p:spPr>
        <p:txBody>
          <a:bodyPr wrap="none">
            <a:spAutoFit/>
          </a:bodyPr>
          <a:lstStyle/>
          <a:p>
            <a:pPr algn="ctr">
              <a:defRPr sz="1400" b="1">
                <a:solidFill>
                  <a:srgbClr val="FFFFFF"/>
                </a:solidFill>
              </a:defRPr>
            </a:pPr>
            <a:r>
              <a:rPr sz="2000"/>
              <a:t>9</a:t>
            </a:r>
          </a:p>
        </p:txBody>
      </p:sp>
      <p:sp>
        <p:nvSpPr>
          <p:cNvPr id="40" name="TextBox 39"/>
          <p:cNvSpPr txBox="1"/>
          <p:nvPr/>
        </p:nvSpPr>
        <p:spPr>
          <a:xfrm>
            <a:off x="1188720" y="5669280"/>
            <a:ext cx="4572000" cy="707886"/>
          </a:xfrm>
          <a:prstGeom prst="rect">
            <a:avLst/>
          </a:prstGeom>
          <a:noFill/>
        </p:spPr>
        <p:txBody>
          <a:bodyPr wrap="square">
            <a:spAutoFit/>
          </a:bodyPr>
          <a:lstStyle/>
          <a:p>
            <a:pPr algn="l">
              <a:defRPr sz="1200" b="0">
                <a:solidFill>
                  <a:srgbClr val="1A1A2E"/>
                </a:solidFill>
                <a:latin typeface="Calibri"/>
              </a:defRPr>
            </a:pPr>
            <a:r>
              <a:rPr sz="2000"/>
              <a:t>Can AI-generated code be deployed without testing?</a:t>
            </a:r>
          </a:p>
        </p:txBody>
      </p:sp>
      <p:sp>
        <p:nvSpPr>
          <p:cNvPr id="41" name="Rounded Rectangle 40"/>
          <p:cNvSpPr/>
          <p:nvPr/>
        </p:nvSpPr>
        <p:spPr>
          <a:xfrm>
            <a:off x="6217920" y="5486400"/>
            <a:ext cx="5486400" cy="822960"/>
          </a:xfrm>
          <a:prstGeom prst="roundRect">
            <a:avLst>
              <a:gd name="adj" fmla="val 10000"/>
            </a:avLst>
          </a:prstGeom>
          <a:solidFill>
            <a:srgbClr val="FFFFFF"/>
          </a:solidFill>
          <a:ln>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2" name="Oval 41"/>
          <p:cNvSpPr/>
          <p:nvPr/>
        </p:nvSpPr>
        <p:spPr>
          <a:xfrm>
            <a:off x="6309360" y="5623560"/>
            <a:ext cx="502920" cy="502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3" name="TextBox 42"/>
          <p:cNvSpPr txBox="1"/>
          <p:nvPr/>
        </p:nvSpPr>
        <p:spPr>
          <a:xfrm>
            <a:off x="6338644" y="5749290"/>
            <a:ext cx="444352" cy="400110"/>
          </a:xfrm>
          <a:prstGeom prst="rect">
            <a:avLst/>
          </a:prstGeom>
          <a:noFill/>
        </p:spPr>
        <p:txBody>
          <a:bodyPr wrap="none">
            <a:spAutoFit/>
          </a:bodyPr>
          <a:lstStyle/>
          <a:p>
            <a:pPr algn="ctr">
              <a:defRPr sz="1400" b="1">
                <a:solidFill>
                  <a:srgbClr val="FFFFFF"/>
                </a:solidFill>
              </a:defRPr>
            </a:pPr>
            <a:r>
              <a:rPr sz="2000"/>
              <a:t>10</a:t>
            </a:r>
          </a:p>
        </p:txBody>
      </p:sp>
      <p:sp>
        <p:nvSpPr>
          <p:cNvPr id="44" name="TextBox 43"/>
          <p:cNvSpPr txBox="1"/>
          <p:nvPr/>
        </p:nvSpPr>
        <p:spPr>
          <a:xfrm>
            <a:off x="6949440" y="5669280"/>
            <a:ext cx="4572000" cy="707886"/>
          </a:xfrm>
          <a:prstGeom prst="rect">
            <a:avLst/>
          </a:prstGeom>
          <a:noFill/>
        </p:spPr>
        <p:txBody>
          <a:bodyPr wrap="square">
            <a:spAutoFit/>
          </a:bodyPr>
          <a:lstStyle/>
          <a:p>
            <a:pPr algn="l">
              <a:defRPr sz="1200" b="0">
                <a:solidFill>
                  <a:srgbClr val="1A1A2E"/>
                </a:solidFill>
                <a:latin typeface="Calibri"/>
              </a:defRPr>
            </a:pPr>
            <a:r>
              <a:rPr sz="2000"/>
              <a:t>Does AI make SE less or more important? Why?</a:t>
            </a:r>
          </a:p>
        </p:txBody>
      </p:sp>
      <p:sp>
        <p:nvSpPr>
          <p:cNvPr id="45" name="Rectangle 44"/>
          <p:cNvSpPr/>
          <p:nvPr/>
        </p:nvSpPr>
        <p:spPr>
          <a:xfrm>
            <a:off x="0" y="6675120"/>
            <a:ext cx="12191695" cy="1828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6" name="TextBox 45"/>
          <p:cNvSpPr txBox="1"/>
          <p:nvPr/>
        </p:nvSpPr>
        <p:spPr>
          <a:xfrm>
            <a:off x="11247120" y="6400800"/>
            <a:ext cx="731520" cy="400110"/>
          </a:xfrm>
          <a:prstGeom prst="rect">
            <a:avLst/>
          </a:prstGeom>
          <a:noFill/>
        </p:spPr>
        <p:txBody>
          <a:bodyPr wrap="square">
            <a:spAutoFit/>
          </a:bodyPr>
          <a:lstStyle/>
          <a:p>
            <a:pPr algn="r">
              <a:defRPr sz="1400" b="0">
                <a:solidFill>
                  <a:srgbClr val="6B7280"/>
                </a:solidFill>
                <a:latin typeface="Calibri"/>
              </a:defRPr>
            </a:pPr>
            <a:r>
              <a:rPr sz="2000"/>
              <a:t>90</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One-Minute Paper</a:t>
            </a:r>
          </a:p>
        </p:txBody>
      </p:sp>
      <p:sp>
        <p:nvSpPr>
          <p:cNvPr id="5" name="TextBox 4"/>
          <p:cNvSpPr txBox="1"/>
          <p:nvPr/>
        </p:nvSpPr>
        <p:spPr>
          <a:xfrm>
            <a:off x="914400" y="1371600"/>
            <a:ext cx="10058400" cy="457200"/>
          </a:xfrm>
          <a:prstGeom prst="rect">
            <a:avLst/>
          </a:prstGeom>
          <a:noFill/>
        </p:spPr>
        <p:txBody>
          <a:bodyPr wrap="square">
            <a:spAutoFit/>
          </a:bodyPr>
          <a:lstStyle/>
          <a:p>
            <a:pPr algn="ctr">
              <a:defRPr sz="2600" b="1">
                <a:solidFill>
                  <a:srgbClr val="1A3A5C"/>
                </a:solidFill>
                <a:latin typeface="Calibri"/>
              </a:defRPr>
            </a:pPr>
            <a:r>
              <a:t>Before leaving, write:</a:t>
            </a:r>
          </a:p>
        </p:txBody>
      </p:sp>
      <p:sp>
        <p:nvSpPr>
          <p:cNvPr id="6" name="Rounded Rectangle 5"/>
          <p:cNvSpPr/>
          <p:nvPr/>
        </p:nvSpPr>
        <p:spPr>
          <a:xfrm>
            <a:off x="1828800" y="2286000"/>
            <a:ext cx="8229600" cy="109728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103120" y="2468880"/>
            <a:ext cx="640080" cy="6400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03120" y="2628900"/>
            <a:ext cx="640080" cy="320040"/>
          </a:xfrm>
          <a:prstGeom prst="rect">
            <a:avLst/>
          </a:prstGeom>
          <a:noFill/>
        </p:spPr>
        <p:txBody>
          <a:bodyPr wrap="none">
            <a:spAutoFit/>
          </a:bodyPr>
          <a:lstStyle/>
          <a:p>
            <a:pPr algn="ctr">
              <a:defRPr sz="1800" b="1">
                <a:solidFill>
                  <a:srgbClr val="FFFFFF"/>
                </a:solidFill>
              </a:defRPr>
            </a:pPr>
            <a:r>
              <a:t>1</a:t>
            </a:r>
          </a:p>
        </p:txBody>
      </p:sp>
      <p:sp>
        <p:nvSpPr>
          <p:cNvPr id="9" name="TextBox 8"/>
          <p:cNvSpPr txBox="1"/>
          <p:nvPr/>
        </p:nvSpPr>
        <p:spPr>
          <a:xfrm>
            <a:off x="2926080" y="2560320"/>
            <a:ext cx="6858000" cy="731520"/>
          </a:xfrm>
          <a:prstGeom prst="rect">
            <a:avLst/>
          </a:prstGeom>
          <a:noFill/>
        </p:spPr>
        <p:txBody>
          <a:bodyPr wrap="square">
            <a:spAutoFit/>
          </a:bodyPr>
          <a:lstStyle/>
          <a:p>
            <a:pPr algn="l">
              <a:defRPr sz="2200" b="0">
                <a:solidFill>
                  <a:srgbClr val="FFFFFF"/>
                </a:solidFill>
                <a:latin typeface="Calibri"/>
              </a:defRPr>
            </a:pPr>
            <a:r>
              <a:t>The most important thing I learned today was...</a:t>
            </a:r>
          </a:p>
        </p:txBody>
      </p:sp>
      <p:sp>
        <p:nvSpPr>
          <p:cNvPr id="10" name="Rounded Rectangle 9"/>
          <p:cNvSpPr/>
          <p:nvPr/>
        </p:nvSpPr>
        <p:spPr>
          <a:xfrm>
            <a:off x="1828800" y="3657600"/>
            <a:ext cx="8229600" cy="109728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103120" y="3840480"/>
            <a:ext cx="640080" cy="6400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03120" y="4000500"/>
            <a:ext cx="640080" cy="320040"/>
          </a:xfrm>
          <a:prstGeom prst="rect">
            <a:avLst/>
          </a:prstGeom>
          <a:noFill/>
        </p:spPr>
        <p:txBody>
          <a:bodyPr wrap="none">
            <a:spAutoFit/>
          </a:bodyPr>
          <a:lstStyle/>
          <a:p>
            <a:pPr algn="ctr">
              <a:defRPr sz="1800" b="1">
                <a:solidFill>
                  <a:srgbClr val="FFFFFF"/>
                </a:solidFill>
              </a:defRPr>
            </a:pPr>
            <a:r>
              <a:t>2</a:t>
            </a:r>
          </a:p>
        </p:txBody>
      </p:sp>
      <p:sp>
        <p:nvSpPr>
          <p:cNvPr id="13" name="TextBox 12"/>
          <p:cNvSpPr txBox="1"/>
          <p:nvPr/>
        </p:nvSpPr>
        <p:spPr>
          <a:xfrm>
            <a:off x="2926080" y="3931920"/>
            <a:ext cx="6858000" cy="731520"/>
          </a:xfrm>
          <a:prstGeom prst="rect">
            <a:avLst/>
          </a:prstGeom>
          <a:noFill/>
        </p:spPr>
        <p:txBody>
          <a:bodyPr wrap="square">
            <a:spAutoFit/>
          </a:bodyPr>
          <a:lstStyle/>
          <a:p>
            <a:pPr algn="l">
              <a:defRPr sz="2200" b="0">
                <a:solidFill>
                  <a:srgbClr val="FFFFFF"/>
                </a:solidFill>
                <a:latin typeface="Calibri"/>
              </a:defRPr>
            </a:pPr>
            <a:r>
              <a:t>The most interesting AI/software example was...</a:t>
            </a:r>
          </a:p>
        </p:txBody>
      </p:sp>
      <p:sp>
        <p:nvSpPr>
          <p:cNvPr id="14" name="Rounded Rectangle 13"/>
          <p:cNvSpPr/>
          <p:nvPr/>
        </p:nvSpPr>
        <p:spPr>
          <a:xfrm>
            <a:off x="1828800" y="5029200"/>
            <a:ext cx="8229600" cy="109728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103120" y="5212080"/>
            <a:ext cx="640080" cy="6400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03120" y="5372100"/>
            <a:ext cx="640080" cy="320040"/>
          </a:xfrm>
          <a:prstGeom prst="rect">
            <a:avLst/>
          </a:prstGeom>
          <a:noFill/>
        </p:spPr>
        <p:txBody>
          <a:bodyPr wrap="none">
            <a:spAutoFit/>
          </a:bodyPr>
          <a:lstStyle/>
          <a:p>
            <a:pPr algn="ctr">
              <a:defRPr sz="1800" b="1">
                <a:solidFill>
                  <a:srgbClr val="FFFFFF"/>
                </a:solidFill>
              </a:defRPr>
            </a:pPr>
            <a:r>
              <a:t>3</a:t>
            </a:r>
          </a:p>
        </p:txBody>
      </p:sp>
      <p:sp>
        <p:nvSpPr>
          <p:cNvPr id="17" name="TextBox 16"/>
          <p:cNvSpPr txBox="1"/>
          <p:nvPr/>
        </p:nvSpPr>
        <p:spPr>
          <a:xfrm>
            <a:off x="2926080" y="5303520"/>
            <a:ext cx="6858000" cy="731520"/>
          </a:xfrm>
          <a:prstGeom prst="rect">
            <a:avLst/>
          </a:prstGeom>
          <a:noFill/>
        </p:spPr>
        <p:txBody>
          <a:bodyPr wrap="square">
            <a:spAutoFit/>
          </a:bodyPr>
          <a:lstStyle/>
          <a:p>
            <a:pPr algn="l">
              <a:defRPr sz="2200" b="0">
                <a:solidFill>
                  <a:srgbClr val="FFFFFF"/>
                </a:solidFill>
                <a:latin typeface="Calibri"/>
              </a:defRPr>
            </a:pPr>
            <a:r>
              <a:t>One question I still have is...</a:t>
            </a:r>
          </a:p>
        </p:txBody>
      </p:sp>
      <p:sp>
        <p:nvSpPr>
          <p:cNvPr id="18" name="Rectangle 17"/>
          <p:cNvSpPr/>
          <p:nvPr/>
        </p:nvSpPr>
        <p:spPr>
          <a:xfrm>
            <a:off x="0" y="6675120"/>
            <a:ext cx="12191695" cy="18288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91</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ectangle 2"/>
          <p:cNvSpPr/>
          <p:nvPr/>
        </p:nvSpPr>
        <p:spPr>
          <a:xfrm>
            <a:off x="0" y="0"/>
            <a:ext cx="12191695"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457200" y="182880"/>
            <a:ext cx="10972800" cy="914400"/>
          </a:xfrm>
          <a:prstGeom prst="rect">
            <a:avLst/>
          </a:prstGeom>
          <a:noFill/>
        </p:spPr>
        <p:txBody>
          <a:bodyPr wrap="square">
            <a:spAutoFit/>
          </a:bodyPr>
          <a:lstStyle/>
          <a:p>
            <a:pPr algn="l">
              <a:defRPr sz="3400" b="1">
                <a:solidFill>
                  <a:srgbClr val="FFFFFF"/>
                </a:solidFill>
                <a:latin typeface="Calibri"/>
              </a:defRPr>
            </a:pPr>
            <a:r>
              <a:t>Homework — Assignment 01</a:t>
            </a:r>
          </a:p>
        </p:txBody>
      </p:sp>
      <p:sp>
        <p:nvSpPr>
          <p:cNvPr id="5" name="TextBox 4"/>
          <p:cNvSpPr txBox="1"/>
          <p:nvPr/>
        </p:nvSpPr>
        <p:spPr>
          <a:xfrm>
            <a:off x="914400" y="1371600"/>
            <a:ext cx="10058400" cy="400110"/>
          </a:xfrm>
          <a:prstGeom prst="rect">
            <a:avLst/>
          </a:prstGeom>
          <a:noFill/>
        </p:spPr>
        <p:txBody>
          <a:bodyPr wrap="square">
            <a:spAutoFit/>
          </a:bodyPr>
          <a:lstStyle/>
          <a:p>
            <a:pPr algn="ctr">
              <a:defRPr sz="2400" b="1">
                <a:solidFill>
                  <a:srgbClr val="1A3A5C"/>
                </a:solidFill>
                <a:latin typeface="Calibri"/>
              </a:defRPr>
            </a:pPr>
            <a:r>
              <a:rPr sz="2000"/>
              <a:t>Select one real-world software system and analyze:</a:t>
            </a:r>
          </a:p>
        </p:txBody>
      </p:sp>
      <p:sp>
        <p:nvSpPr>
          <p:cNvPr id="6" name="Rounded Rectangle 5"/>
          <p:cNvSpPr/>
          <p:nvPr/>
        </p:nvSpPr>
        <p:spPr>
          <a:xfrm>
            <a:off x="731520" y="2011680"/>
            <a:ext cx="2560320" cy="50292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TextBox 6"/>
          <p:cNvSpPr txBox="1"/>
          <p:nvPr/>
        </p:nvSpPr>
        <p:spPr>
          <a:xfrm>
            <a:off x="731520" y="2103120"/>
            <a:ext cx="2560320" cy="400110"/>
          </a:xfrm>
          <a:prstGeom prst="rect">
            <a:avLst/>
          </a:prstGeom>
          <a:noFill/>
        </p:spPr>
        <p:txBody>
          <a:bodyPr wrap="square">
            <a:spAutoFit/>
          </a:bodyPr>
          <a:lstStyle/>
          <a:p>
            <a:pPr algn="ctr">
              <a:defRPr sz="1200" b="1">
                <a:solidFill>
                  <a:srgbClr val="FFFFFF"/>
                </a:solidFill>
                <a:latin typeface="Calibri"/>
              </a:defRPr>
            </a:pPr>
            <a:r>
              <a:rPr sz="2000"/>
              <a:t>Banking System</a:t>
            </a:r>
          </a:p>
        </p:txBody>
      </p:sp>
      <p:sp>
        <p:nvSpPr>
          <p:cNvPr id="8" name="Rounded Rectangle 7"/>
          <p:cNvSpPr/>
          <p:nvPr/>
        </p:nvSpPr>
        <p:spPr>
          <a:xfrm>
            <a:off x="3566160" y="2011680"/>
            <a:ext cx="2560320" cy="50292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3566160" y="2103120"/>
            <a:ext cx="2560320" cy="400110"/>
          </a:xfrm>
          <a:prstGeom prst="rect">
            <a:avLst/>
          </a:prstGeom>
          <a:noFill/>
        </p:spPr>
        <p:txBody>
          <a:bodyPr wrap="square">
            <a:spAutoFit/>
          </a:bodyPr>
          <a:lstStyle/>
          <a:p>
            <a:pPr algn="ctr">
              <a:defRPr sz="1200" b="1">
                <a:solidFill>
                  <a:srgbClr val="FFFFFF"/>
                </a:solidFill>
                <a:latin typeface="Calibri"/>
              </a:defRPr>
            </a:pPr>
            <a:r>
              <a:rPr sz="2000"/>
              <a:t>University LMS</a:t>
            </a:r>
          </a:p>
        </p:txBody>
      </p:sp>
      <p:sp>
        <p:nvSpPr>
          <p:cNvPr id="10" name="Rounded Rectangle 9"/>
          <p:cNvSpPr/>
          <p:nvPr/>
        </p:nvSpPr>
        <p:spPr>
          <a:xfrm>
            <a:off x="6400800" y="2011680"/>
            <a:ext cx="2560320" cy="50292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6400800" y="2103120"/>
            <a:ext cx="2560320" cy="400110"/>
          </a:xfrm>
          <a:prstGeom prst="rect">
            <a:avLst/>
          </a:prstGeom>
          <a:noFill/>
        </p:spPr>
        <p:txBody>
          <a:bodyPr wrap="square">
            <a:spAutoFit/>
          </a:bodyPr>
          <a:lstStyle/>
          <a:p>
            <a:pPr algn="ctr">
              <a:defRPr sz="1200" b="1">
                <a:solidFill>
                  <a:srgbClr val="FFFFFF"/>
                </a:solidFill>
                <a:latin typeface="Calibri"/>
              </a:defRPr>
            </a:pPr>
            <a:r>
              <a:rPr sz="2000"/>
              <a:t>E-commerce</a:t>
            </a:r>
          </a:p>
        </p:txBody>
      </p:sp>
      <p:sp>
        <p:nvSpPr>
          <p:cNvPr id="12" name="Rounded Rectangle 11"/>
          <p:cNvSpPr/>
          <p:nvPr/>
        </p:nvSpPr>
        <p:spPr>
          <a:xfrm>
            <a:off x="9235440" y="2011680"/>
            <a:ext cx="2560320" cy="50292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9235440" y="2103120"/>
            <a:ext cx="2560320" cy="400110"/>
          </a:xfrm>
          <a:prstGeom prst="rect">
            <a:avLst/>
          </a:prstGeom>
          <a:noFill/>
        </p:spPr>
        <p:txBody>
          <a:bodyPr wrap="square">
            <a:spAutoFit/>
          </a:bodyPr>
          <a:lstStyle/>
          <a:p>
            <a:pPr algn="ctr">
              <a:defRPr sz="1200" b="1">
                <a:solidFill>
                  <a:srgbClr val="FFFFFF"/>
                </a:solidFill>
                <a:latin typeface="Calibri"/>
              </a:defRPr>
            </a:pPr>
            <a:r>
              <a:rPr sz="2000"/>
              <a:t>Food Delivery</a:t>
            </a:r>
          </a:p>
        </p:txBody>
      </p:sp>
      <p:sp>
        <p:nvSpPr>
          <p:cNvPr id="14" name="Rounded Rectangle 13"/>
          <p:cNvSpPr/>
          <p:nvPr/>
        </p:nvSpPr>
        <p:spPr>
          <a:xfrm>
            <a:off x="731520" y="2651760"/>
            <a:ext cx="2560320" cy="502920"/>
          </a:xfrm>
          <a:prstGeom prst="roundRect">
            <a:avLst>
              <a:gd name="adj" fmla="val 10000"/>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731520" y="2743200"/>
            <a:ext cx="2560320" cy="400110"/>
          </a:xfrm>
          <a:prstGeom prst="rect">
            <a:avLst/>
          </a:prstGeom>
          <a:noFill/>
        </p:spPr>
        <p:txBody>
          <a:bodyPr wrap="square">
            <a:spAutoFit/>
          </a:bodyPr>
          <a:lstStyle/>
          <a:p>
            <a:pPr algn="ctr">
              <a:defRPr sz="1200" b="1">
                <a:solidFill>
                  <a:srgbClr val="FFFFFF"/>
                </a:solidFill>
                <a:latin typeface="Calibri"/>
              </a:defRPr>
            </a:pPr>
            <a:r>
              <a:rPr sz="2000"/>
              <a:t>Hospital Management</a:t>
            </a:r>
          </a:p>
        </p:txBody>
      </p:sp>
      <p:sp>
        <p:nvSpPr>
          <p:cNvPr id="16" name="Rounded Rectangle 15"/>
          <p:cNvSpPr/>
          <p:nvPr/>
        </p:nvSpPr>
        <p:spPr>
          <a:xfrm>
            <a:off x="3566160" y="2651760"/>
            <a:ext cx="2560320" cy="502920"/>
          </a:xfrm>
          <a:prstGeom prst="roundRect">
            <a:avLst>
              <a:gd name="adj" fmla="val 10000"/>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6"/>
          <p:cNvSpPr txBox="1"/>
          <p:nvPr/>
        </p:nvSpPr>
        <p:spPr>
          <a:xfrm>
            <a:off x="3566160" y="2743200"/>
            <a:ext cx="2560320" cy="400110"/>
          </a:xfrm>
          <a:prstGeom prst="rect">
            <a:avLst/>
          </a:prstGeom>
          <a:noFill/>
        </p:spPr>
        <p:txBody>
          <a:bodyPr wrap="square">
            <a:spAutoFit/>
          </a:bodyPr>
          <a:lstStyle/>
          <a:p>
            <a:pPr algn="ctr">
              <a:defRPr sz="1200" b="1">
                <a:solidFill>
                  <a:srgbClr val="FFFFFF"/>
                </a:solidFill>
                <a:latin typeface="Calibri"/>
              </a:defRPr>
            </a:pPr>
            <a:r>
              <a:rPr sz="2000"/>
              <a:t>Ride Sharing</a:t>
            </a:r>
          </a:p>
        </p:txBody>
      </p:sp>
      <p:sp>
        <p:nvSpPr>
          <p:cNvPr id="18" name="Rounded Rectangle 17"/>
          <p:cNvSpPr/>
          <p:nvPr/>
        </p:nvSpPr>
        <p:spPr>
          <a:xfrm>
            <a:off x="6400800" y="2651760"/>
            <a:ext cx="2560320" cy="502920"/>
          </a:xfrm>
          <a:prstGeom prst="roundRect">
            <a:avLst>
              <a:gd name="adj" fmla="val 10000"/>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6400800" y="2743200"/>
            <a:ext cx="2560320" cy="400110"/>
          </a:xfrm>
          <a:prstGeom prst="rect">
            <a:avLst/>
          </a:prstGeom>
          <a:noFill/>
        </p:spPr>
        <p:txBody>
          <a:bodyPr wrap="square">
            <a:spAutoFit/>
          </a:bodyPr>
          <a:lstStyle/>
          <a:p>
            <a:pPr algn="ctr">
              <a:defRPr sz="1200" b="1">
                <a:solidFill>
                  <a:srgbClr val="FFFFFF"/>
                </a:solidFill>
                <a:latin typeface="Calibri"/>
              </a:defRPr>
            </a:pPr>
            <a:r>
              <a:rPr sz="2000"/>
              <a:t>AI Chatbot</a:t>
            </a:r>
          </a:p>
        </p:txBody>
      </p:sp>
      <p:sp>
        <p:nvSpPr>
          <p:cNvPr id="20" name="Rounded Rectangle 19"/>
          <p:cNvSpPr/>
          <p:nvPr/>
        </p:nvSpPr>
        <p:spPr>
          <a:xfrm>
            <a:off x="9235440" y="2651760"/>
            <a:ext cx="2560320" cy="502920"/>
          </a:xfrm>
          <a:prstGeom prst="roundRect">
            <a:avLst>
              <a:gd name="adj" fmla="val 10000"/>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TextBox 20"/>
          <p:cNvSpPr txBox="1"/>
          <p:nvPr/>
        </p:nvSpPr>
        <p:spPr>
          <a:xfrm>
            <a:off x="9235440" y="2743200"/>
            <a:ext cx="2560320" cy="400110"/>
          </a:xfrm>
          <a:prstGeom prst="rect">
            <a:avLst/>
          </a:prstGeom>
          <a:noFill/>
        </p:spPr>
        <p:txBody>
          <a:bodyPr wrap="square">
            <a:spAutoFit/>
          </a:bodyPr>
          <a:lstStyle/>
          <a:p>
            <a:pPr algn="ctr">
              <a:defRPr sz="1200" b="1">
                <a:solidFill>
                  <a:srgbClr val="FFFFFF"/>
                </a:solidFill>
                <a:latin typeface="Calibri"/>
              </a:defRPr>
            </a:pPr>
            <a:r>
              <a:rPr sz="2000"/>
              <a:t>AI Recommendation</a:t>
            </a:r>
          </a:p>
        </p:txBody>
      </p:sp>
      <p:sp>
        <p:nvSpPr>
          <p:cNvPr id="22" name="TextBox 21"/>
          <p:cNvSpPr txBox="1"/>
          <p:nvPr/>
        </p:nvSpPr>
        <p:spPr>
          <a:xfrm>
            <a:off x="731520" y="3657600"/>
            <a:ext cx="3474720" cy="400110"/>
          </a:xfrm>
          <a:prstGeom prst="rect">
            <a:avLst/>
          </a:prstGeom>
          <a:noFill/>
        </p:spPr>
        <p:txBody>
          <a:bodyPr wrap="square">
            <a:spAutoFit/>
          </a:bodyPr>
          <a:lstStyle/>
          <a:p>
            <a:pPr algn="l">
              <a:defRPr sz="1200" b="0">
                <a:solidFill>
                  <a:srgbClr val="1A1A2E"/>
                </a:solidFill>
                <a:latin typeface="Calibri"/>
              </a:defRPr>
            </a:pPr>
            <a:r>
              <a:rPr sz="2000"/>
              <a:t>A. Purpose</a:t>
            </a:r>
          </a:p>
        </p:txBody>
      </p:sp>
      <p:sp>
        <p:nvSpPr>
          <p:cNvPr id="23" name="TextBox 22"/>
          <p:cNvSpPr txBox="1"/>
          <p:nvPr/>
        </p:nvSpPr>
        <p:spPr>
          <a:xfrm>
            <a:off x="4480559" y="3657600"/>
            <a:ext cx="3474720" cy="400110"/>
          </a:xfrm>
          <a:prstGeom prst="rect">
            <a:avLst/>
          </a:prstGeom>
          <a:noFill/>
        </p:spPr>
        <p:txBody>
          <a:bodyPr wrap="square">
            <a:spAutoFit/>
          </a:bodyPr>
          <a:lstStyle/>
          <a:p>
            <a:pPr algn="l">
              <a:defRPr sz="1200" b="0">
                <a:solidFill>
                  <a:srgbClr val="1A1A2E"/>
                </a:solidFill>
                <a:latin typeface="Calibri"/>
              </a:defRPr>
            </a:pPr>
            <a:r>
              <a:rPr sz="2000"/>
              <a:t>B. Users</a:t>
            </a:r>
          </a:p>
        </p:txBody>
      </p:sp>
      <p:sp>
        <p:nvSpPr>
          <p:cNvPr id="24" name="TextBox 23"/>
          <p:cNvSpPr txBox="1"/>
          <p:nvPr/>
        </p:nvSpPr>
        <p:spPr>
          <a:xfrm>
            <a:off x="8229600" y="3657600"/>
            <a:ext cx="3474720" cy="400110"/>
          </a:xfrm>
          <a:prstGeom prst="rect">
            <a:avLst/>
          </a:prstGeom>
          <a:noFill/>
        </p:spPr>
        <p:txBody>
          <a:bodyPr wrap="square">
            <a:spAutoFit/>
          </a:bodyPr>
          <a:lstStyle/>
          <a:p>
            <a:pPr algn="l">
              <a:defRPr sz="1200" b="0">
                <a:solidFill>
                  <a:srgbClr val="1A1A2E"/>
                </a:solidFill>
                <a:latin typeface="Calibri"/>
              </a:defRPr>
            </a:pPr>
            <a:r>
              <a:rPr sz="2000"/>
              <a:t>C. Stakeholders</a:t>
            </a:r>
          </a:p>
        </p:txBody>
      </p:sp>
      <p:sp>
        <p:nvSpPr>
          <p:cNvPr id="25" name="TextBox 24"/>
          <p:cNvSpPr txBox="1"/>
          <p:nvPr/>
        </p:nvSpPr>
        <p:spPr>
          <a:xfrm>
            <a:off x="731520" y="4572000"/>
            <a:ext cx="3474720" cy="400110"/>
          </a:xfrm>
          <a:prstGeom prst="rect">
            <a:avLst/>
          </a:prstGeom>
          <a:noFill/>
        </p:spPr>
        <p:txBody>
          <a:bodyPr wrap="square">
            <a:spAutoFit/>
          </a:bodyPr>
          <a:lstStyle/>
          <a:p>
            <a:pPr algn="l">
              <a:defRPr sz="1200" b="0">
                <a:solidFill>
                  <a:srgbClr val="1A1A2E"/>
                </a:solidFill>
                <a:latin typeface="Calibri"/>
              </a:defRPr>
            </a:pPr>
            <a:r>
              <a:rPr sz="2000"/>
              <a:t>D. 5 Functional Requirements</a:t>
            </a:r>
          </a:p>
        </p:txBody>
      </p:sp>
      <p:sp>
        <p:nvSpPr>
          <p:cNvPr id="26" name="TextBox 25"/>
          <p:cNvSpPr txBox="1"/>
          <p:nvPr/>
        </p:nvSpPr>
        <p:spPr>
          <a:xfrm>
            <a:off x="4480559" y="4572000"/>
            <a:ext cx="3474720" cy="731520"/>
          </a:xfrm>
          <a:prstGeom prst="rect">
            <a:avLst/>
          </a:prstGeom>
          <a:noFill/>
        </p:spPr>
        <p:txBody>
          <a:bodyPr wrap="square">
            <a:spAutoFit/>
          </a:bodyPr>
          <a:lstStyle/>
          <a:p>
            <a:pPr algn="l">
              <a:defRPr sz="1200" b="0">
                <a:solidFill>
                  <a:srgbClr val="1A1A2E"/>
                </a:solidFill>
                <a:latin typeface="Calibri"/>
              </a:defRPr>
            </a:pPr>
            <a:r>
              <a:rPr sz="2000"/>
              <a:t>E. 5 Non-Functional Requirements</a:t>
            </a:r>
          </a:p>
        </p:txBody>
      </p:sp>
      <p:sp>
        <p:nvSpPr>
          <p:cNvPr id="27" name="TextBox 26"/>
          <p:cNvSpPr txBox="1"/>
          <p:nvPr/>
        </p:nvSpPr>
        <p:spPr>
          <a:xfrm>
            <a:off x="8229600" y="4572000"/>
            <a:ext cx="3474720" cy="400110"/>
          </a:xfrm>
          <a:prstGeom prst="rect">
            <a:avLst/>
          </a:prstGeom>
          <a:noFill/>
        </p:spPr>
        <p:txBody>
          <a:bodyPr wrap="square">
            <a:spAutoFit/>
          </a:bodyPr>
          <a:lstStyle/>
          <a:p>
            <a:pPr algn="l">
              <a:defRPr sz="1200" b="0">
                <a:solidFill>
                  <a:srgbClr val="1A1A2E"/>
                </a:solidFill>
                <a:latin typeface="Calibri"/>
              </a:defRPr>
            </a:pPr>
            <a:r>
              <a:rPr sz="2000"/>
              <a:t>F. 3 Risks</a:t>
            </a:r>
          </a:p>
        </p:txBody>
      </p:sp>
      <p:sp>
        <p:nvSpPr>
          <p:cNvPr id="28" name="TextBox 27"/>
          <p:cNvSpPr txBox="1"/>
          <p:nvPr/>
        </p:nvSpPr>
        <p:spPr>
          <a:xfrm>
            <a:off x="731520" y="5486400"/>
            <a:ext cx="3474720" cy="400110"/>
          </a:xfrm>
          <a:prstGeom prst="rect">
            <a:avLst/>
          </a:prstGeom>
          <a:noFill/>
        </p:spPr>
        <p:txBody>
          <a:bodyPr wrap="square">
            <a:spAutoFit/>
          </a:bodyPr>
          <a:lstStyle/>
          <a:p>
            <a:pPr algn="l">
              <a:defRPr sz="1200" b="0">
                <a:solidFill>
                  <a:srgbClr val="1A1A2E"/>
                </a:solidFill>
                <a:latin typeface="Calibri"/>
              </a:defRPr>
            </a:pPr>
            <a:r>
              <a:rPr sz="2000"/>
              <a:t>G. 3 Quality Attributes</a:t>
            </a:r>
          </a:p>
        </p:txBody>
      </p:sp>
      <p:sp>
        <p:nvSpPr>
          <p:cNvPr id="29" name="TextBox 28"/>
          <p:cNvSpPr txBox="1"/>
          <p:nvPr/>
        </p:nvSpPr>
        <p:spPr>
          <a:xfrm>
            <a:off x="4480559" y="5486400"/>
            <a:ext cx="3474720" cy="400110"/>
          </a:xfrm>
          <a:prstGeom prst="rect">
            <a:avLst/>
          </a:prstGeom>
          <a:noFill/>
        </p:spPr>
        <p:txBody>
          <a:bodyPr wrap="square">
            <a:spAutoFit/>
          </a:bodyPr>
          <a:lstStyle/>
          <a:p>
            <a:pPr algn="l">
              <a:defRPr sz="1200" b="0">
                <a:solidFill>
                  <a:srgbClr val="1A1A2E"/>
                </a:solidFill>
                <a:latin typeface="Calibri"/>
              </a:defRPr>
            </a:pPr>
            <a:r>
              <a:rPr sz="2000"/>
              <a:t>H. Where AI could be used</a:t>
            </a:r>
          </a:p>
        </p:txBody>
      </p:sp>
      <p:sp>
        <p:nvSpPr>
          <p:cNvPr id="30" name="TextBox 29"/>
          <p:cNvSpPr txBox="1"/>
          <p:nvPr/>
        </p:nvSpPr>
        <p:spPr>
          <a:xfrm>
            <a:off x="8229600" y="5486400"/>
            <a:ext cx="3474720" cy="731520"/>
          </a:xfrm>
          <a:prstGeom prst="rect">
            <a:avLst/>
          </a:prstGeom>
          <a:noFill/>
        </p:spPr>
        <p:txBody>
          <a:bodyPr wrap="square">
            <a:spAutoFit/>
          </a:bodyPr>
          <a:lstStyle/>
          <a:p>
            <a:pPr algn="l">
              <a:defRPr sz="1200" b="0">
                <a:solidFill>
                  <a:srgbClr val="1A1A2E"/>
                </a:solidFill>
                <a:latin typeface="Calibri"/>
              </a:defRPr>
            </a:pPr>
            <a:r>
              <a:rPr sz="2000"/>
              <a:t>I. What could go wrong if AI is used incorrectly?</a:t>
            </a:r>
          </a:p>
        </p:txBody>
      </p:sp>
      <p:sp>
        <p:nvSpPr>
          <p:cNvPr id="31" name="Rectangle 30"/>
          <p:cNvSpPr/>
          <p:nvPr/>
        </p:nvSpPr>
        <p:spPr>
          <a:xfrm>
            <a:off x="0" y="6675120"/>
            <a:ext cx="12191695" cy="1828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2" name="TextBox 31"/>
          <p:cNvSpPr txBox="1"/>
          <p:nvPr/>
        </p:nvSpPr>
        <p:spPr>
          <a:xfrm>
            <a:off x="11247120" y="6400800"/>
            <a:ext cx="731520" cy="400110"/>
          </a:xfrm>
          <a:prstGeom prst="rect">
            <a:avLst/>
          </a:prstGeom>
          <a:noFill/>
        </p:spPr>
        <p:txBody>
          <a:bodyPr wrap="square">
            <a:spAutoFit/>
          </a:bodyPr>
          <a:lstStyle/>
          <a:p>
            <a:pPr algn="r">
              <a:defRPr sz="1400" b="0">
                <a:solidFill>
                  <a:srgbClr val="6B7280"/>
                </a:solidFill>
                <a:latin typeface="Calibri"/>
              </a:defRPr>
            </a:pPr>
            <a:r>
              <a:rPr sz="2000"/>
              <a:t>92</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058400" cy="548640"/>
          </a:xfrm>
          <a:prstGeom prst="rect">
            <a:avLst/>
          </a:prstGeom>
          <a:noFill/>
        </p:spPr>
        <p:txBody>
          <a:bodyPr wrap="square">
            <a:spAutoFit/>
          </a:bodyPr>
          <a:lstStyle/>
          <a:p>
            <a:pPr algn="ctr">
              <a:defRPr sz="3600" b="1">
                <a:solidFill>
                  <a:srgbClr val="00B4D8"/>
                </a:solidFill>
                <a:latin typeface="Calibri"/>
              </a:defRPr>
            </a:pPr>
            <a:r>
              <a:t>Next Lecture</a:t>
            </a:r>
          </a:p>
        </p:txBody>
      </p:sp>
      <p:sp>
        <p:nvSpPr>
          <p:cNvPr id="4" name="TextBox 3"/>
          <p:cNvSpPr txBox="1"/>
          <p:nvPr/>
        </p:nvSpPr>
        <p:spPr>
          <a:xfrm>
            <a:off x="914400" y="2286000"/>
            <a:ext cx="10058400" cy="731520"/>
          </a:xfrm>
          <a:prstGeom prst="rect">
            <a:avLst/>
          </a:prstGeom>
          <a:noFill/>
        </p:spPr>
        <p:txBody>
          <a:bodyPr wrap="square">
            <a:spAutoFit/>
          </a:bodyPr>
          <a:lstStyle/>
          <a:p>
            <a:pPr algn="ctr">
              <a:defRPr sz="3200" b="1">
                <a:solidFill>
                  <a:srgbClr val="FFFFFF"/>
                </a:solidFill>
                <a:latin typeface="Calibri"/>
              </a:defRPr>
            </a:pPr>
            <a:r>
              <a:t>Software Process Models</a:t>
            </a:r>
          </a:p>
        </p:txBody>
      </p:sp>
      <p:sp>
        <p:nvSpPr>
          <p:cNvPr id="5" name="Rounded Rectangle 4"/>
          <p:cNvSpPr/>
          <p:nvPr/>
        </p:nvSpPr>
        <p:spPr>
          <a:xfrm>
            <a:off x="1371600" y="3474720"/>
            <a:ext cx="2286000" cy="1371600"/>
          </a:xfrm>
          <a:prstGeom prst="roundRect">
            <a:avLst>
              <a:gd name="adj" fmla="val 10000"/>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931920"/>
            <a:ext cx="2286000" cy="457200"/>
          </a:xfrm>
          <a:prstGeom prst="rect">
            <a:avLst/>
          </a:prstGeom>
          <a:noFill/>
        </p:spPr>
        <p:txBody>
          <a:bodyPr wrap="square">
            <a:spAutoFit/>
          </a:bodyPr>
          <a:lstStyle/>
          <a:p>
            <a:pPr algn="ctr">
              <a:defRPr sz="2000" b="1">
                <a:solidFill>
                  <a:srgbClr val="FFFFFF"/>
                </a:solidFill>
                <a:latin typeface="Calibri"/>
              </a:defRPr>
            </a:pPr>
            <a:r>
              <a:t>Waterfall Model</a:t>
            </a:r>
          </a:p>
        </p:txBody>
      </p:sp>
      <p:sp>
        <p:nvSpPr>
          <p:cNvPr id="7" name="Rounded Rectangle 6"/>
          <p:cNvSpPr/>
          <p:nvPr/>
        </p:nvSpPr>
        <p:spPr>
          <a:xfrm>
            <a:off x="3931920" y="3474720"/>
            <a:ext cx="2286000" cy="1371600"/>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931920" y="3931920"/>
            <a:ext cx="2286000" cy="457200"/>
          </a:xfrm>
          <a:prstGeom prst="rect">
            <a:avLst/>
          </a:prstGeom>
          <a:noFill/>
        </p:spPr>
        <p:txBody>
          <a:bodyPr wrap="square">
            <a:spAutoFit/>
          </a:bodyPr>
          <a:lstStyle/>
          <a:p>
            <a:pPr algn="ctr">
              <a:defRPr sz="2000" b="1">
                <a:solidFill>
                  <a:srgbClr val="FFFFFF"/>
                </a:solidFill>
                <a:latin typeface="Calibri"/>
              </a:defRPr>
            </a:pPr>
            <a:r>
              <a:t>Incremental Model</a:t>
            </a:r>
          </a:p>
        </p:txBody>
      </p:sp>
      <p:sp>
        <p:nvSpPr>
          <p:cNvPr id="9" name="Rounded Rectangle 8"/>
          <p:cNvSpPr/>
          <p:nvPr/>
        </p:nvSpPr>
        <p:spPr>
          <a:xfrm>
            <a:off x="6492240" y="3474720"/>
            <a:ext cx="2286000" cy="1371600"/>
          </a:xfrm>
          <a:prstGeom prst="roundRect">
            <a:avLst>
              <a:gd name="adj" fmla="val 10000"/>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3931920"/>
            <a:ext cx="2286000" cy="457200"/>
          </a:xfrm>
          <a:prstGeom prst="rect">
            <a:avLst/>
          </a:prstGeom>
          <a:noFill/>
        </p:spPr>
        <p:txBody>
          <a:bodyPr wrap="square">
            <a:spAutoFit/>
          </a:bodyPr>
          <a:lstStyle/>
          <a:p>
            <a:pPr algn="ctr">
              <a:defRPr sz="2000" b="1">
                <a:solidFill>
                  <a:srgbClr val="FFFFFF"/>
                </a:solidFill>
                <a:latin typeface="Calibri"/>
              </a:defRPr>
            </a:pPr>
            <a:r>
              <a:t>Evolutionary Model</a:t>
            </a:r>
          </a:p>
        </p:txBody>
      </p:sp>
      <p:sp>
        <p:nvSpPr>
          <p:cNvPr id="11" name="Rounded Rectangle 10"/>
          <p:cNvSpPr/>
          <p:nvPr/>
        </p:nvSpPr>
        <p:spPr>
          <a:xfrm>
            <a:off x="9052559" y="3474720"/>
            <a:ext cx="2286000" cy="137160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59" y="3931920"/>
            <a:ext cx="2286000" cy="457200"/>
          </a:xfrm>
          <a:prstGeom prst="rect">
            <a:avLst/>
          </a:prstGeom>
          <a:noFill/>
        </p:spPr>
        <p:txBody>
          <a:bodyPr wrap="square">
            <a:spAutoFit/>
          </a:bodyPr>
          <a:lstStyle/>
          <a:p>
            <a:pPr algn="ctr">
              <a:defRPr sz="2000" b="1">
                <a:solidFill>
                  <a:srgbClr val="FFFFFF"/>
                </a:solidFill>
                <a:latin typeface="Calibri"/>
              </a:defRPr>
            </a:pPr>
            <a:r>
              <a:t>Spiral Model</a:t>
            </a:r>
          </a:p>
        </p:txBody>
      </p:sp>
      <p:sp>
        <p:nvSpPr>
          <p:cNvPr id="13" name="Rounded Rectangle 12"/>
          <p:cNvSpPr/>
          <p:nvPr/>
        </p:nvSpPr>
        <p:spPr>
          <a:xfrm>
            <a:off x="1828800" y="5303520"/>
            <a:ext cx="8229600" cy="109728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11680" y="5394960"/>
            <a:ext cx="7863840" cy="914400"/>
          </a:xfrm>
          <a:prstGeom prst="rect">
            <a:avLst/>
          </a:prstGeom>
          <a:noFill/>
        </p:spPr>
        <p:txBody>
          <a:bodyPr wrap="square">
            <a:spAutoFit/>
          </a:bodyPr>
          <a:lstStyle/>
          <a:p>
            <a:pPr algn="ctr">
              <a:defRPr sz="2200" b="1">
                <a:solidFill>
                  <a:srgbClr val="FFFFFF"/>
                </a:solidFill>
                <a:latin typeface="Calibri"/>
              </a:defRPr>
            </a:pPr>
            <a:r>
              <a:t>Pre-Class Question:</a:t>
            </a:r>
            <a:br/>
            <a:r>
              <a:t>Should every software project follow the same development process?</a:t>
            </a:r>
          </a:p>
        </p:txBody>
      </p:sp>
      <p:sp>
        <p:nvSpPr>
          <p:cNvPr id="15" name="TextBox 14"/>
          <p:cNvSpPr txBox="1"/>
          <p:nvPr/>
        </p:nvSpPr>
        <p:spPr>
          <a:xfrm>
            <a:off x="11247120" y="6400800"/>
            <a:ext cx="731520" cy="365760"/>
          </a:xfrm>
          <a:prstGeom prst="rect">
            <a:avLst/>
          </a:prstGeom>
          <a:noFill/>
        </p:spPr>
        <p:txBody>
          <a:bodyPr wrap="square">
            <a:spAutoFit/>
          </a:bodyPr>
          <a:lstStyle/>
          <a:p>
            <a:pPr algn="r">
              <a:defRPr sz="1400" b="0">
                <a:solidFill>
                  <a:srgbClr val="6B7280"/>
                </a:solidFill>
                <a:latin typeface="Calibri"/>
              </a:defRPr>
            </a:pPr>
            <a:r>
              <a:t>93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1630</TotalTime>
  <Words>6704</Words>
  <Application>Microsoft Office PowerPoint</Application>
  <PresentationFormat>Widescreen</PresentationFormat>
  <Paragraphs>1042</Paragraphs>
  <Slides>93</Slides>
  <Notes>93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93</vt:i4>
      </vt:variant>
    </vt:vector>
  </HeadingPairs>
  <TitlesOfParts>
    <vt:vector size="97" baseType="lpstr">
      <vt:lpstr>Arial</vt:lpstr>
      <vt:lpstr>Calibri</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Moaz Ahmad Khalid</cp:lastModifiedBy>
  <cp:revision>45</cp:revision>
  <dcterms:created xsi:type="dcterms:W3CDTF">2013-01-27T09:14:16Z</dcterms:created>
  <dcterms:modified xsi:type="dcterms:W3CDTF">2026-09-15T09:13:26Z</dcterms:modified>
  <cp:category/>
</cp:coreProperties>
</file>